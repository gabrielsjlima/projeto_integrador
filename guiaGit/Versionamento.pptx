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48"/>
  </p:notesMasterIdLst>
  <p:handoutMasterIdLst>
    <p:handoutMasterId r:id="rId49"/>
  </p:handoutMasterIdLst>
  <p:sldIdLst>
    <p:sldId id="268" r:id="rId2"/>
    <p:sldId id="358" r:id="rId3"/>
    <p:sldId id="426" r:id="rId4"/>
    <p:sldId id="421" r:id="rId5"/>
    <p:sldId id="434" r:id="rId6"/>
    <p:sldId id="427" r:id="rId7"/>
    <p:sldId id="435" r:id="rId8"/>
    <p:sldId id="429" r:id="rId9"/>
    <p:sldId id="436" r:id="rId10"/>
    <p:sldId id="430" r:id="rId11"/>
    <p:sldId id="437" r:id="rId12"/>
    <p:sldId id="431" r:id="rId13"/>
    <p:sldId id="438" r:id="rId14"/>
    <p:sldId id="439" r:id="rId15"/>
    <p:sldId id="441" r:id="rId16"/>
    <p:sldId id="442" r:id="rId17"/>
    <p:sldId id="440" r:id="rId18"/>
    <p:sldId id="443" r:id="rId19"/>
    <p:sldId id="444" r:id="rId20"/>
    <p:sldId id="446" r:id="rId21"/>
    <p:sldId id="447" r:id="rId22"/>
    <p:sldId id="448" r:id="rId23"/>
    <p:sldId id="449" r:id="rId24"/>
    <p:sldId id="451" r:id="rId25"/>
    <p:sldId id="450" r:id="rId26"/>
    <p:sldId id="457" r:id="rId27"/>
    <p:sldId id="452" r:id="rId28"/>
    <p:sldId id="454" r:id="rId29"/>
    <p:sldId id="455" r:id="rId30"/>
    <p:sldId id="456" r:id="rId31"/>
    <p:sldId id="453" r:id="rId32"/>
    <p:sldId id="458" r:id="rId33"/>
    <p:sldId id="460" r:id="rId34"/>
    <p:sldId id="472" r:id="rId35"/>
    <p:sldId id="459" r:id="rId36"/>
    <p:sldId id="471" r:id="rId37"/>
    <p:sldId id="461" r:id="rId38"/>
    <p:sldId id="462" r:id="rId39"/>
    <p:sldId id="463" r:id="rId40"/>
    <p:sldId id="467" r:id="rId41"/>
    <p:sldId id="468" r:id="rId42"/>
    <p:sldId id="469" r:id="rId43"/>
    <p:sldId id="470" r:id="rId44"/>
    <p:sldId id="464" r:id="rId45"/>
    <p:sldId id="466" r:id="rId46"/>
    <p:sldId id="278" r:id="rId47"/>
  </p:sldIdLst>
  <p:sldSz cx="12192000" cy="6858000"/>
  <p:notesSz cx="9388475" cy="7102475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663300"/>
    <a:srgbClr val="FFCCCC"/>
    <a:srgbClr val="FD8F15"/>
    <a:srgbClr val="FF66CC"/>
    <a:srgbClr val="D9D9D9"/>
    <a:srgbClr val="FFFFFF"/>
    <a:srgbClr val="004568"/>
    <a:srgbClr val="00B0F0"/>
    <a:srgbClr val="FCCD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39EDEC-2816-CC78-0EEC-E29309151637}" v="170" dt="2026-03-03T16:58:37.2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Estilo Claro 3 - Ênfase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46F890A9-2807-4EBB-B81D-B2AA78EC7F39}" styleName="Estilo Escuro 2 - Ênfase 5/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034E78-7F5D-4C2E-B375-FC64B27BC917}" styleName="Estilo E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Estilo E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Estilo Médio 3 - Ênfase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FD4443E-F989-4FC4-A0C8-D5A2AF1F390B}" styleName="Estilo Escuro 1 - Ênfase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5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suário Convidado" providerId="Windows Live" clId="Web-{7639EDEC-2816-CC78-0EEC-E29309151637}"/>
    <pc:docChg chg="modSld">
      <pc:chgData name="Usuário Convidado" userId="" providerId="Windows Live" clId="Web-{7639EDEC-2816-CC78-0EEC-E29309151637}" dt="2026-03-03T16:58:36.672" v="148" actId="20577"/>
      <pc:docMkLst>
        <pc:docMk/>
      </pc:docMkLst>
      <pc:sldChg chg="modSp">
        <pc:chgData name="Usuário Convidado" userId="" providerId="Windows Live" clId="Web-{7639EDEC-2816-CC78-0EEC-E29309151637}" dt="2026-03-03T16:54:08.172" v="41" actId="14100"/>
        <pc:sldMkLst>
          <pc:docMk/>
          <pc:sldMk cId="2259050436" sldId="435"/>
        </pc:sldMkLst>
        <pc:spChg chg="mod">
          <ac:chgData name="Usuário Convidado" userId="" providerId="Windows Live" clId="Web-{7639EDEC-2816-CC78-0EEC-E29309151637}" dt="2026-03-03T16:54:08.172" v="41" actId="14100"/>
          <ac:spMkLst>
            <pc:docMk/>
            <pc:sldMk cId="2259050436" sldId="435"/>
            <ac:spMk id="8" creationId="{487AC074-B04E-5B5A-7E5E-2134C9BF373A}"/>
          </ac:spMkLst>
        </pc:spChg>
      </pc:sldChg>
      <pc:sldChg chg="modSp">
        <pc:chgData name="Usuário Convidado" userId="" providerId="Windows Live" clId="Web-{7639EDEC-2816-CC78-0EEC-E29309151637}" dt="2026-03-03T16:58:20.563" v="141" actId="20577"/>
        <pc:sldMkLst>
          <pc:docMk/>
          <pc:sldMk cId="2196348063" sldId="440"/>
        </pc:sldMkLst>
        <pc:spChg chg="mod">
          <ac:chgData name="Usuário Convidado" userId="" providerId="Windows Live" clId="Web-{7639EDEC-2816-CC78-0EEC-E29309151637}" dt="2026-03-03T16:58:11.626" v="133" actId="20577"/>
          <ac:spMkLst>
            <pc:docMk/>
            <pc:sldMk cId="2196348063" sldId="440"/>
            <ac:spMk id="10" creationId="{8540201C-04A0-9723-6751-D63C11BFBC27}"/>
          </ac:spMkLst>
        </pc:spChg>
        <pc:spChg chg="mod">
          <ac:chgData name="Usuário Convidado" userId="" providerId="Windows Live" clId="Web-{7639EDEC-2816-CC78-0EEC-E29309151637}" dt="2026-03-03T16:58:20.563" v="141" actId="20577"/>
          <ac:spMkLst>
            <pc:docMk/>
            <pc:sldMk cId="2196348063" sldId="440"/>
            <ac:spMk id="11" creationId="{E0076E0B-6A33-F23E-29D5-F27EF1922594}"/>
          </ac:spMkLst>
        </pc:spChg>
        <pc:spChg chg="mod">
          <ac:chgData name="Usuário Convidado" userId="" providerId="Windows Live" clId="Web-{7639EDEC-2816-CC78-0EEC-E29309151637}" dt="2026-03-03T16:58:15.235" v="137" actId="20577"/>
          <ac:spMkLst>
            <pc:docMk/>
            <pc:sldMk cId="2196348063" sldId="440"/>
            <ac:spMk id="12" creationId="{83F97262-0C0E-E915-D16E-1BFCC826FAC8}"/>
          </ac:spMkLst>
        </pc:spChg>
      </pc:sldChg>
      <pc:sldChg chg="modSp">
        <pc:chgData name="Usuário Convidado" userId="" providerId="Windows Live" clId="Web-{7639EDEC-2816-CC78-0EEC-E29309151637}" dt="2026-03-03T16:53:24.032" v="34" actId="20577"/>
        <pc:sldMkLst>
          <pc:docMk/>
          <pc:sldMk cId="2401927000" sldId="442"/>
        </pc:sldMkLst>
        <pc:spChg chg="mod">
          <ac:chgData name="Usuário Convidado" userId="" providerId="Windows Live" clId="Web-{7639EDEC-2816-CC78-0EEC-E29309151637}" dt="2026-03-03T16:53:24.032" v="34" actId="20577"/>
          <ac:spMkLst>
            <pc:docMk/>
            <pc:sldMk cId="2401927000" sldId="442"/>
            <ac:spMk id="6" creationId="{018CA305-6C95-9B6E-1680-55D2CE8E9CAF}"/>
          </ac:spMkLst>
        </pc:spChg>
      </pc:sldChg>
      <pc:sldChg chg="modSp">
        <pc:chgData name="Usuário Convidado" userId="" providerId="Windows Live" clId="Web-{7639EDEC-2816-CC78-0EEC-E29309151637}" dt="2026-03-03T16:58:06.938" v="129" actId="20577"/>
        <pc:sldMkLst>
          <pc:docMk/>
          <pc:sldMk cId="3482793111" sldId="443"/>
        </pc:sldMkLst>
        <pc:spChg chg="mod">
          <ac:chgData name="Usuário Convidado" userId="" providerId="Windows Live" clId="Web-{7639EDEC-2816-CC78-0EEC-E29309151637}" dt="2026-03-03T16:58:06.938" v="129" actId="20577"/>
          <ac:spMkLst>
            <pc:docMk/>
            <pc:sldMk cId="3482793111" sldId="443"/>
            <ac:spMk id="11" creationId="{5FB3EF12-7E54-A6BB-DC6F-E71B72176401}"/>
          </ac:spMkLst>
        </pc:spChg>
      </pc:sldChg>
      <pc:sldChg chg="modSp">
        <pc:chgData name="Usuário Convidado" userId="" providerId="Windows Live" clId="Web-{7639EDEC-2816-CC78-0EEC-E29309151637}" dt="2026-03-03T16:58:04.751" v="127" actId="20577"/>
        <pc:sldMkLst>
          <pc:docMk/>
          <pc:sldMk cId="3971520323" sldId="444"/>
        </pc:sldMkLst>
        <pc:spChg chg="mod">
          <ac:chgData name="Usuário Convidado" userId="" providerId="Windows Live" clId="Web-{7639EDEC-2816-CC78-0EEC-E29309151637}" dt="2026-03-03T16:58:01.641" v="123" actId="20577"/>
          <ac:spMkLst>
            <pc:docMk/>
            <pc:sldMk cId="3971520323" sldId="444"/>
            <ac:spMk id="2" creationId="{3779A7DD-CF80-10ED-C9A8-EDC2AB0FE008}"/>
          </ac:spMkLst>
        </pc:spChg>
        <pc:spChg chg="mod">
          <ac:chgData name="Usuário Convidado" userId="" providerId="Windows Live" clId="Web-{7639EDEC-2816-CC78-0EEC-E29309151637}" dt="2026-03-03T16:57:58.813" v="121" actId="20577"/>
          <ac:spMkLst>
            <pc:docMk/>
            <pc:sldMk cId="3971520323" sldId="444"/>
            <ac:spMk id="6" creationId="{66A6D233-82D0-9064-145E-85923E33474D}"/>
          </ac:spMkLst>
        </pc:spChg>
        <pc:spChg chg="mod">
          <ac:chgData name="Usuário Convidado" userId="" providerId="Windows Live" clId="Web-{7639EDEC-2816-CC78-0EEC-E29309151637}" dt="2026-03-03T16:58:04.751" v="127" actId="20577"/>
          <ac:spMkLst>
            <pc:docMk/>
            <pc:sldMk cId="3971520323" sldId="444"/>
            <ac:spMk id="10" creationId="{1D26DF74-35E8-7D14-B4FA-4C5F60327177}"/>
          </ac:spMkLst>
        </pc:spChg>
      </pc:sldChg>
      <pc:sldChg chg="modSp">
        <pc:chgData name="Usuário Convidado" userId="" providerId="Windows Live" clId="Web-{7639EDEC-2816-CC78-0EEC-E29309151637}" dt="2026-03-03T16:57:53.344" v="118" actId="20577"/>
        <pc:sldMkLst>
          <pc:docMk/>
          <pc:sldMk cId="1870975609" sldId="446"/>
        </pc:sldMkLst>
        <pc:spChg chg="mod">
          <ac:chgData name="Usuário Convidado" userId="" providerId="Windows Live" clId="Web-{7639EDEC-2816-CC78-0EEC-E29309151637}" dt="2026-03-03T16:57:53.344" v="118" actId="20577"/>
          <ac:spMkLst>
            <pc:docMk/>
            <pc:sldMk cId="1870975609" sldId="446"/>
            <ac:spMk id="10" creationId="{549FA19E-800F-A6B9-A5FB-763B0B8AFB6A}"/>
          </ac:spMkLst>
        </pc:spChg>
      </pc:sldChg>
      <pc:sldChg chg="modSp">
        <pc:chgData name="Usuário Convidado" userId="" providerId="Windows Live" clId="Web-{7639EDEC-2816-CC78-0EEC-E29309151637}" dt="2026-03-03T16:57:50.516" v="117" actId="20577"/>
        <pc:sldMkLst>
          <pc:docMk/>
          <pc:sldMk cId="2381538335" sldId="448"/>
        </pc:sldMkLst>
        <pc:spChg chg="mod">
          <ac:chgData name="Usuário Convidado" userId="" providerId="Windows Live" clId="Web-{7639EDEC-2816-CC78-0EEC-E29309151637}" dt="2026-03-03T16:57:47.938" v="114" actId="20577"/>
          <ac:spMkLst>
            <pc:docMk/>
            <pc:sldMk cId="2381538335" sldId="448"/>
            <ac:spMk id="2" creationId="{7F4063F9-BEB5-5F01-0644-0CB4A96B805D}"/>
          </ac:spMkLst>
        </pc:spChg>
        <pc:spChg chg="mod">
          <ac:chgData name="Usuário Convidado" userId="" providerId="Windows Live" clId="Web-{7639EDEC-2816-CC78-0EEC-E29309151637}" dt="2026-03-03T16:57:50.516" v="117" actId="20577"/>
          <ac:spMkLst>
            <pc:docMk/>
            <pc:sldMk cId="2381538335" sldId="448"/>
            <ac:spMk id="10" creationId="{EE553205-356D-0C45-77A7-B40413BDC685}"/>
          </ac:spMkLst>
        </pc:spChg>
      </pc:sldChg>
      <pc:sldChg chg="modSp">
        <pc:chgData name="Usuário Convidado" userId="" providerId="Windows Live" clId="Web-{7639EDEC-2816-CC78-0EEC-E29309151637}" dt="2026-03-03T16:57:42.094" v="111" actId="20577"/>
        <pc:sldMkLst>
          <pc:docMk/>
          <pc:sldMk cId="4290865436" sldId="449"/>
        </pc:sldMkLst>
        <pc:spChg chg="mod">
          <ac:chgData name="Usuário Convidado" userId="" providerId="Windows Live" clId="Web-{7639EDEC-2816-CC78-0EEC-E29309151637}" dt="2026-03-03T16:57:42.094" v="111" actId="20577"/>
          <ac:spMkLst>
            <pc:docMk/>
            <pc:sldMk cId="4290865436" sldId="449"/>
            <ac:spMk id="10" creationId="{64ACBEEF-CAC1-C848-506D-75A41C52999D}"/>
          </ac:spMkLst>
        </pc:spChg>
      </pc:sldChg>
      <pc:sldChg chg="modSp">
        <pc:chgData name="Usuário Convidado" userId="" providerId="Windows Live" clId="Web-{7639EDEC-2816-CC78-0EEC-E29309151637}" dt="2026-03-03T16:57:38.001" v="108" actId="20577"/>
        <pc:sldMkLst>
          <pc:docMk/>
          <pc:sldMk cId="4031971803" sldId="451"/>
        </pc:sldMkLst>
        <pc:spChg chg="mod">
          <ac:chgData name="Usuário Convidado" userId="" providerId="Windows Live" clId="Web-{7639EDEC-2816-CC78-0EEC-E29309151637}" dt="2026-03-03T16:57:33.704" v="106" actId="20577"/>
          <ac:spMkLst>
            <pc:docMk/>
            <pc:sldMk cId="4031971803" sldId="451"/>
            <ac:spMk id="2" creationId="{047624FA-1F1C-CC48-380A-0F50A54DB1DE}"/>
          </ac:spMkLst>
        </pc:spChg>
        <pc:spChg chg="mod">
          <ac:chgData name="Usuário Convidado" userId="" providerId="Windows Live" clId="Web-{7639EDEC-2816-CC78-0EEC-E29309151637}" dt="2026-03-03T16:57:32.422" v="105" actId="20577"/>
          <ac:spMkLst>
            <pc:docMk/>
            <pc:sldMk cId="4031971803" sldId="451"/>
            <ac:spMk id="6" creationId="{76976BC0-A9B5-7B2A-AC5B-CD3F47E17977}"/>
          </ac:spMkLst>
        </pc:spChg>
        <pc:spChg chg="mod">
          <ac:chgData name="Usuário Convidado" userId="" providerId="Windows Live" clId="Web-{7639EDEC-2816-CC78-0EEC-E29309151637}" dt="2026-03-03T16:57:38.001" v="108" actId="20577"/>
          <ac:spMkLst>
            <pc:docMk/>
            <pc:sldMk cId="4031971803" sldId="451"/>
            <ac:spMk id="10" creationId="{4903E6ED-BB14-8631-910F-CB7577901C50}"/>
          </ac:spMkLst>
        </pc:spChg>
      </pc:sldChg>
      <pc:sldChg chg="modSp">
        <pc:chgData name="Usuário Convidado" userId="" providerId="Windows Live" clId="Web-{7639EDEC-2816-CC78-0EEC-E29309151637}" dt="2026-03-03T16:57:28.532" v="103" actId="20577"/>
        <pc:sldMkLst>
          <pc:docMk/>
          <pc:sldMk cId="2619297206" sldId="455"/>
        </pc:sldMkLst>
        <pc:spChg chg="mod">
          <ac:chgData name="Usuário Convidado" userId="" providerId="Windows Live" clId="Web-{7639EDEC-2816-CC78-0EEC-E29309151637}" dt="2026-03-03T16:57:18.516" v="96" actId="20577"/>
          <ac:spMkLst>
            <pc:docMk/>
            <pc:sldMk cId="2619297206" sldId="455"/>
            <ac:spMk id="2" creationId="{BE7A015E-F3AE-8C45-2C2E-9B6069F5C05E}"/>
          </ac:spMkLst>
        </pc:spChg>
        <pc:spChg chg="mod">
          <ac:chgData name="Usuário Convidado" userId="" providerId="Windows Live" clId="Web-{7639EDEC-2816-CC78-0EEC-E29309151637}" dt="2026-03-03T16:57:19.860" v="98" actId="20577"/>
          <ac:spMkLst>
            <pc:docMk/>
            <pc:sldMk cId="2619297206" sldId="455"/>
            <ac:spMk id="6" creationId="{86F75F3F-613F-ADFE-BE7D-30A3E0D7EA22}"/>
          </ac:spMkLst>
        </pc:spChg>
        <pc:spChg chg="mod">
          <ac:chgData name="Usuário Convidado" userId="" providerId="Windows Live" clId="Web-{7639EDEC-2816-CC78-0EEC-E29309151637}" dt="2026-03-03T16:57:28.532" v="103" actId="20577"/>
          <ac:spMkLst>
            <pc:docMk/>
            <pc:sldMk cId="2619297206" sldId="455"/>
            <ac:spMk id="8" creationId="{9D10FAD1-320F-4D25-1395-6EF774E59199}"/>
          </ac:spMkLst>
        </pc:spChg>
        <pc:spChg chg="mod">
          <ac:chgData name="Usuário Convidado" userId="" providerId="Windows Live" clId="Web-{7639EDEC-2816-CC78-0EEC-E29309151637}" dt="2026-03-03T16:57:25.485" v="100" actId="20577"/>
          <ac:spMkLst>
            <pc:docMk/>
            <pc:sldMk cId="2619297206" sldId="455"/>
            <ac:spMk id="10" creationId="{F79E2EEC-C8D4-E13B-A5EB-55273E758A2F}"/>
          </ac:spMkLst>
        </pc:spChg>
        <pc:spChg chg="mod">
          <ac:chgData name="Usuário Convidado" userId="" providerId="Windows Live" clId="Web-{7639EDEC-2816-CC78-0EEC-E29309151637}" dt="2026-03-03T16:57:03.657" v="86" actId="20577"/>
          <ac:spMkLst>
            <pc:docMk/>
            <pc:sldMk cId="2619297206" sldId="455"/>
            <ac:spMk id="11" creationId="{A1F21B05-BDAE-1E2A-4ABE-A986610F18BE}"/>
          </ac:spMkLst>
        </pc:spChg>
        <pc:spChg chg="mod">
          <ac:chgData name="Usuário Convidado" userId="" providerId="Windows Live" clId="Web-{7639EDEC-2816-CC78-0EEC-E29309151637}" dt="2026-03-03T16:57:15.610" v="93" actId="20577"/>
          <ac:spMkLst>
            <pc:docMk/>
            <pc:sldMk cId="2619297206" sldId="455"/>
            <ac:spMk id="15" creationId="{B7B031A5-45EB-3B41-DE6F-A9E81F1EED29}"/>
          </ac:spMkLst>
        </pc:spChg>
      </pc:sldChg>
      <pc:sldChg chg="modSp">
        <pc:chgData name="Usuário Convidado" userId="" providerId="Windows Live" clId="Web-{7639EDEC-2816-CC78-0EEC-E29309151637}" dt="2026-03-03T16:55:56.454" v="61" actId="20577"/>
        <pc:sldMkLst>
          <pc:docMk/>
          <pc:sldMk cId="2231684256" sldId="456"/>
        </pc:sldMkLst>
        <pc:spChg chg="mod">
          <ac:chgData name="Usuário Convidado" userId="" providerId="Windows Live" clId="Web-{7639EDEC-2816-CC78-0EEC-E29309151637}" dt="2026-03-03T16:55:56.454" v="61" actId="20577"/>
          <ac:spMkLst>
            <pc:docMk/>
            <pc:sldMk cId="2231684256" sldId="456"/>
            <ac:spMk id="9" creationId="{A2B966FF-E56A-DE0C-BBFF-C9BD32573D77}"/>
          </ac:spMkLst>
        </pc:spChg>
      </pc:sldChg>
      <pc:sldChg chg="modSp">
        <pc:chgData name="Usuário Convidado" userId="" providerId="Windows Live" clId="Web-{7639EDEC-2816-CC78-0EEC-E29309151637}" dt="2026-03-03T16:56:48.188" v="78" actId="20577"/>
        <pc:sldMkLst>
          <pc:docMk/>
          <pc:sldMk cId="2779454575" sldId="459"/>
        </pc:sldMkLst>
        <pc:spChg chg="mod">
          <ac:chgData name="Usuário Convidado" userId="" providerId="Windows Live" clId="Web-{7639EDEC-2816-CC78-0EEC-E29309151637}" dt="2026-03-03T16:56:45.688" v="77" actId="20577"/>
          <ac:spMkLst>
            <pc:docMk/>
            <pc:sldMk cId="2779454575" sldId="459"/>
            <ac:spMk id="2" creationId="{D369BF42-C91C-2C17-08B3-809127ED867A}"/>
          </ac:spMkLst>
        </pc:spChg>
        <pc:spChg chg="mod">
          <ac:chgData name="Usuário Convidado" userId="" providerId="Windows Live" clId="Web-{7639EDEC-2816-CC78-0EEC-E29309151637}" dt="2026-03-03T16:56:48.188" v="78" actId="20577"/>
          <ac:spMkLst>
            <pc:docMk/>
            <pc:sldMk cId="2779454575" sldId="459"/>
            <ac:spMk id="7" creationId="{A1F058D4-404C-781D-4516-2E1C20BFD6BD}"/>
          </ac:spMkLst>
        </pc:spChg>
        <pc:spChg chg="mod">
          <ac:chgData name="Usuário Convidado" userId="" providerId="Windows Live" clId="Web-{7639EDEC-2816-CC78-0EEC-E29309151637}" dt="2026-03-03T16:56:32.485" v="68" actId="20577"/>
          <ac:spMkLst>
            <pc:docMk/>
            <pc:sldMk cId="2779454575" sldId="459"/>
            <ac:spMk id="8" creationId="{8C374A64-9487-6E78-B2E2-2B9586F79D9B}"/>
          </ac:spMkLst>
        </pc:spChg>
      </pc:sldChg>
      <pc:sldChg chg="modSp">
        <pc:chgData name="Usuário Convidado" userId="" providerId="Windows Live" clId="Web-{7639EDEC-2816-CC78-0EEC-E29309151637}" dt="2026-03-03T16:58:36.672" v="148" actId="20577"/>
        <pc:sldMkLst>
          <pc:docMk/>
          <pc:sldMk cId="2510353496" sldId="462"/>
        </pc:sldMkLst>
        <pc:spChg chg="mod">
          <ac:chgData name="Usuário Convidado" userId="" providerId="Windows Live" clId="Web-{7639EDEC-2816-CC78-0EEC-E29309151637}" dt="2026-03-03T16:58:36.672" v="148" actId="20577"/>
          <ac:spMkLst>
            <pc:docMk/>
            <pc:sldMk cId="2510353496" sldId="462"/>
            <ac:spMk id="7" creationId="{8ED56864-54B0-8941-C2CD-9920FAC93091}"/>
          </ac:spMkLst>
        </pc:spChg>
      </pc:sldChg>
      <pc:sldChg chg="modSp">
        <pc:chgData name="Usuário Convidado" userId="" providerId="Windows Live" clId="Web-{7639EDEC-2816-CC78-0EEC-E29309151637}" dt="2026-03-03T16:58:30.797" v="146" actId="20577"/>
        <pc:sldMkLst>
          <pc:docMk/>
          <pc:sldMk cId="3490447518" sldId="469"/>
        </pc:sldMkLst>
        <pc:spChg chg="mod">
          <ac:chgData name="Usuário Convidado" userId="" providerId="Windows Live" clId="Web-{7639EDEC-2816-CC78-0EEC-E29309151637}" dt="2026-03-03T16:58:27.782" v="143" actId="20577"/>
          <ac:spMkLst>
            <pc:docMk/>
            <pc:sldMk cId="3490447518" sldId="469"/>
            <ac:spMk id="8" creationId="{D2134554-FDCA-C1B1-E364-6509020448F7}"/>
          </ac:spMkLst>
        </pc:spChg>
        <pc:spChg chg="mod">
          <ac:chgData name="Usuário Convidado" userId="" providerId="Windows Live" clId="Web-{7639EDEC-2816-CC78-0EEC-E29309151637}" dt="2026-03-03T16:58:29.891" v="145" actId="20577"/>
          <ac:spMkLst>
            <pc:docMk/>
            <pc:sldMk cId="3490447518" sldId="469"/>
            <ac:spMk id="10" creationId="{785D8D50-E1DF-20D8-B29E-AAF334C39015}"/>
          </ac:spMkLst>
        </pc:spChg>
        <pc:spChg chg="mod">
          <ac:chgData name="Usuário Convidado" userId="" providerId="Windows Live" clId="Web-{7639EDEC-2816-CC78-0EEC-E29309151637}" dt="2026-03-03T16:58:30.797" v="146" actId="20577"/>
          <ac:spMkLst>
            <pc:docMk/>
            <pc:sldMk cId="3490447518" sldId="469"/>
            <ac:spMk id="11" creationId="{117D7548-1FD2-4319-B4D7-60DDA7896E78}"/>
          </ac:spMkLst>
        </pc:spChg>
      </pc:sldChg>
      <pc:sldChg chg="modSp">
        <pc:chgData name="Usuário Convidado" userId="" providerId="Windows Live" clId="Web-{7639EDEC-2816-CC78-0EEC-E29309151637}" dt="2026-03-03T16:56:26.641" v="65" actId="20577"/>
        <pc:sldMkLst>
          <pc:docMk/>
          <pc:sldMk cId="3090067846" sldId="472"/>
        </pc:sldMkLst>
        <pc:spChg chg="mod">
          <ac:chgData name="Usuário Convidado" userId="" providerId="Windows Live" clId="Web-{7639EDEC-2816-CC78-0EEC-E29309151637}" dt="2026-03-03T16:56:26.641" v="65" actId="20577"/>
          <ac:spMkLst>
            <pc:docMk/>
            <pc:sldMk cId="3090067846" sldId="472"/>
            <ac:spMk id="2" creationId="{AC88FF9F-14D4-2A68-9D09-AA796B6C3E22}"/>
          </ac:spMkLst>
        </pc:spChg>
        <pc:spChg chg="mod">
          <ac:chgData name="Usuário Convidado" userId="" providerId="Windows Live" clId="Web-{7639EDEC-2816-CC78-0EEC-E29309151637}" dt="2026-03-03T16:56:23.110" v="64" actId="20577"/>
          <ac:spMkLst>
            <pc:docMk/>
            <pc:sldMk cId="3090067846" sldId="472"/>
            <ac:spMk id="7" creationId="{FD513B87-1724-90F2-98A8-0710F40417AA}"/>
          </ac:spMkLst>
        </pc:spChg>
        <pc:spChg chg="mod">
          <ac:chgData name="Usuário Convidado" userId="" providerId="Windows Live" clId="Web-{7639EDEC-2816-CC78-0EEC-E29309151637}" dt="2026-03-03T16:56:00.516" v="62" actId="20577"/>
          <ac:spMkLst>
            <pc:docMk/>
            <pc:sldMk cId="3090067846" sldId="472"/>
            <ac:spMk id="8" creationId="{8011E5AB-978D-C87D-B8F1-28B38E5D654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579911580572883E-2"/>
          <c:y val="3.2763470399597226E-2"/>
          <c:w val="0.97642002866223998"/>
          <c:h val="0.9363475378867701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50800" cap="rnd">
              <a:solidFill>
                <a:schemeClr val="bg1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tx1"/>
              </a:solidFill>
              <a:ln w="50800">
                <a:solidFill>
                  <a:schemeClr val="bg1"/>
                </a:solidFill>
              </a:ln>
              <a:effectLst/>
            </c:spPr>
          </c:marker>
          <c:dPt>
            <c:idx val="4"/>
            <c:marker>
              <c:symbol val="circle"/>
              <c:size val="10"/>
              <c:spPr>
                <a:solidFill>
                  <a:schemeClr val="tx1"/>
                </a:solidFill>
                <a:ln w="50800">
                  <a:solidFill>
                    <a:schemeClr val="bg1"/>
                  </a:solidFill>
                </a:ln>
                <a:effectLst/>
              </c:spPr>
            </c:marker>
            <c:bubble3D val="0"/>
            <c:spPr>
              <a:ln w="50800" cap="rnd">
                <a:solidFill>
                  <a:schemeClr val="bg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839C-4AC1-8CC5-4FCE572968AA}"/>
              </c:ext>
            </c:extLst>
          </c:dPt>
          <c:cat>
            <c:strRef>
              <c:f>Sheet1!$A$2:$A$6</c:f>
              <c:strCache>
                <c:ptCount val="5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  <c:pt idx="4">
                  <c:v>cata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18</c:v>
                </c:pt>
                <c:pt idx="2">
                  <c:v>22</c:v>
                </c:pt>
                <c:pt idx="3">
                  <c:v>15</c:v>
                </c:pt>
                <c:pt idx="4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39C-4AC1-8CC5-4FCE572968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Série 2</c:v>
                </c:pt>
              </c:strCache>
            </c:strRef>
          </c:tx>
          <c:spPr>
            <a:ln w="5080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tx1"/>
              </a:solidFill>
              <a:ln w="50800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  <c:pt idx="4">
                  <c:v>cata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</c:v>
                </c:pt>
                <c:pt idx="1">
                  <c:v>24</c:v>
                </c:pt>
                <c:pt idx="2">
                  <c:v>16</c:v>
                </c:pt>
                <c:pt idx="3">
                  <c:v>21</c:v>
                </c:pt>
                <c:pt idx="4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39C-4AC1-8CC5-4FCE572968A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Série 3</c:v>
                </c:pt>
              </c:strCache>
            </c:strRef>
          </c:tx>
          <c:spPr>
            <a:ln w="76200" cap="rnd">
              <a:solidFill>
                <a:schemeClr val="bg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tx1"/>
              </a:solidFill>
              <a:ln w="50800">
                <a:solidFill>
                  <a:schemeClr val="bg2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  <c:pt idx="4">
                  <c:v>cata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16</c:v>
                </c:pt>
                <c:pt idx="1">
                  <c:v>16</c:v>
                </c:pt>
                <c:pt idx="2">
                  <c:v>22</c:v>
                </c:pt>
                <c:pt idx="3">
                  <c:v>27</c:v>
                </c:pt>
                <c:pt idx="4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39C-4AC1-8CC5-4FCE572968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5147384"/>
        <c:axId val="575139544"/>
      </c:lineChart>
      <c:catAx>
        <c:axId val="57514738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75139544"/>
        <c:crosses val="autoZero"/>
        <c:auto val="1"/>
        <c:lblAlgn val="ctr"/>
        <c:lblOffset val="100"/>
        <c:noMultiLvlLbl val="0"/>
      </c:catAx>
      <c:valAx>
        <c:axId val="575139544"/>
        <c:scaling>
          <c:orientation val="minMax"/>
          <c:min val="10"/>
        </c:scaling>
        <c:delete val="1"/>
        <c:axPos val="l"/>
        <c:numFmt formatCode="General" sourceLinked="1"/>
        <c:majorTickMark val="out"/>
        <c:minorTickMark val="none"/>
        <c:tickLblPos val="nextTo"/>
        <c:crossAx val="575147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41408694106796"/>
          <c:y val="0.10142733882077253"/>
          <c:w val="0.79717182611786408"/>
          <c:h val="0.79714593516062771"/>
        </c:manualLayout>
      </c:layout>
      <c:doughnut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chemeClr val="accent1"/>
            </a:solidFill>
            <a:ln w="19050">
              <a:noFill/>
            </a:ln>
            <a:effectLst/>
          </c:spPr>
          <c:dPt>
            <c:idx val="0"/>
            <c:bubble3D val="0"/>
            <c:spPr>
              <a:solidFill>
                <a:schemeClr val="accent3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890-4D46-8D82-148677C99832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890-4D46-8D82-148677C99832}"/>
              </c:ext>
            </c:extLst>
          </c:dPt>
          <c:dLbls>
            <c:dLbl>
              <c:idx val="0"/>
              <c:layout>
                <c:manualLayout>
                  <c:x val="-0.22959408719743366"/>
                  <c:y val="0.24413857335448394"/>
                </c:manualLayout>
              </c:layout>
              <c:tx>
                <c:rich>
                  <a:bodyPr rot="0" spcFirstLastPara="1" vertOverflow="ellipsis" vert="horz" wrap="none" lIns="0" tIns="0" rIns="0" bIns="182880" anchor="ctr" anchorCtr="1">
                    <a:noAutofit/>
                  </a:bodyPr>
                  <a:lstStyle/>
                  <a:p>
                    <a:pPr>
                      <a:defRPr sz="1800" b="0" i="0" u="none" strike="noStrike" kern="1200" spc="-15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57C2360-0166-43D0-ADF6-D455675720A2}" type="VALUE">
                      <a:rPr lang="en-US" sz="1800" b="1" spc="-150">
                        <a:solidFill>
                          <a:schemeClr val="tx1"/>
                        </a:solidFill>
                      </a:rPr>
                      <a:pPr>
                        <a:defRPr sz="1800" spc="-150">
                          <a:solidFill>
                            <a:schemeClr val="tx1"/>
                          </a:solidFill>
                        </a:defRPr>
                      </a:pPr>
                      <a:t>[VALOR]</a:t>
                    </a:fld>
                    <a:endParaRPr lang="pt-BR"/>
                  </a:p>
                </c:rich>
              </c:tx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none" lIns="0" tIns="0" rIns="0" bIns="182880" anchor="ctr" anchorCtr="1">
                  <a:noAutofit/>
                </a:bodyPr>
                <a:lstStyle/>
                <a:p>
                  <a:pPr>
                    <a:defRPr sz="1800" b="0" i="0" u="none" strike="noStrike" kern="1200" spc="-15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3316317307014671"/>
                      <c:h val="0.359555546840146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5890-4D46-8D82-148677C99832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890-4D46-8D82-148677C9983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1º trimestre</c:v>
                </c:pt>
                <c:pt idx="1">
                  <c:v>2º Trimestre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0.25</c:v>
                </c:pt>
                <c:pt idx="1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890-4D46-8D82-148677C998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6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6.3652327669970796E-2"/>
          <c:w val="0.97642002866223998"/>
          <c:h val="0.9363475378867701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50800" cap="rnd">
              <a:solidFill>
                <a:schemeClr val="bg1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tx1"/>
              </a:solidFill>
              <a:ln w="50800">
                <a:solidFill>
                  <a:schemeClr val="bg1"/>
                </a:solidFill>
              </a:ln>
              <a:effectLst/>
            </c:spPr>
          </c:marker>
          <c:dPt>
            <c:idx val="4"/>
            <c:marker>
              <c:symbol val="circle"/>
              <c:size val="10"/>
              <c:spPr>
                <a:solidFill>
                  <a:schemeClr val="tx1"/>
                </a:solidFill>
                <a:ln w="50800">
                  <a:solidFill>
                    <a:schemeClr val="bg1"/>
                  </a:solidFill>
                </a:ln>
                <a:effectLst/>
              </c:spPr>
            </c:marker>
            <c:bubble3D val="0"/>
            <c:spPr>
              <a:ln w="50800" cap="rnd">
                <a:solidFill>
                  <a:schemeClr val="bg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839C-4AC1-8CC5-4FCE572968AA}"/>
              </c:ext>
            </c:extLst>
          </c:dPt>
          <c:cat>
            <c:strRef>
              <c:f>Sheet1!$A$2:$A$6</c:f>
              <c:strCache>
                <c:ptCount val="5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  <c:pt idx="4">
                  <c:v>cata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18</c:v>
                </c:pt>
                <c:pt idx="2">
                  <c:v>22</c:v>
                </c:pt>
                <c:pt idx="3">
                  <c:v>15</c:v>
                </c:pt>
                <c:pt idx="4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39C-4AC1-8CC5-4FCE572968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Série 2</c:v>
                </c:pt>
              </c:strCache>
            </c:strRef>
          </c:tx>
          <c:spPr>
            <a:ln w="5080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tx1"/>
              </a:solidFill>
              <a:ln w="50800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  <c:pt idx="4">
                  <c:v>cata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</c:v>
                </c:pt>
                <c:pt idx="1">
                  <c:v>24</c:v>
                </c:pt>
                <c:pt idx="2">
                  <c:v>16</c:v>
                </c:pt>
                <c:pt idx="3">
                  <c:v>21</c:v>
                </c:pt>
                <c:pt idx="4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39C-4AC1-8CC5-4FCE572968A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Série 3</c:v>
                </c:pt>
              </c:strCache>
            </c:strRef>
          </c:tx>
          <c:spPr>
            <a:ln w="76200" cap="rnd">
              <a:solidFill>
                <a:schemeClr val="bg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tx1"/>
              </a:solidFill>
              <a:ln w="50800">
                <a:solidFill>
                  <a:schemeClr val="bg2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  <c:pt idx="4">
                  <c:v>cata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16</c:v>
                </c:pt>
                <c:pt idx="1">
                  <c:v>16</c:v>
                </c:pt>
                <c:pt idx="2">
                  <c:v>22</c:v>
                </c:pt>
                <c:pt idx="3">
                  <c:v>27</c:v>
                </c:pt>
                <c:pt idx="4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39C-4AC1-8CC5-4FCE572968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5147384"/>
        <c:axId val="575139544"/>
      </c:lineChart>
      <c:catAx>
        <c:axId val="57514738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75139544"/>
        <c:crosses val="autoZero"/>
        <c:auto val="1"/>
        <c:lblAlgn val="ctr"/>
        <c:lblOffset val="100"/>
        <c:noMultiLvlLbl val="0"/>
      </c:catAx>
      <c:valAx>
        <c:axId val="575139544"/>
        <c:scaling>
          <c:orientation val="minMax"/>
          <c:min val="10"/>
        </c:scaling>
        <c:delete val="1"/>
        <c:axPos val="l"/>
        <c:numFmt formatCode="General" sourceLinked="1"/>
        <c:majorTickMark val="out"/>
        <c:minorTickMark val="none"/>
        <c:tickLblPos val="nextTo"/>
        <c:crossAx val="575147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5317963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pPr rtl="0"/>
            <a:fld id="{56939BF9-221B-4A71-9CE5-A78BD27E2584}" type="datetime1">
              <a:rPr lang="pt-BR" smtClean="0"/>
              <a:t>03/03/2026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5317963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pPr rtl="0"/>
            <a:fld id="{DBAA5490-FD59-4087-AC7E-016E8A4124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10926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317963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0DF9E6B0-D107-4A66-B7B2-3B14FEF050FB}" type="datetime1">
              <a:rPr lang="pt-BR" smtClean="0"/>
              <a:pPr/>
              <a:t>03/03/2026</a:t>
            </a:fld>
            <a:endParaRPr lang="pt-BR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563813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38848" y="3418066"/>
            <a:ext cx="7510780" cy="2796600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5317963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pPr rtl="0"/>
            <a:fld id="{4CBCEA92-F142-4D57-B507-37BDAF44710C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020205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9884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E740C-551F-5036-B190-39EC89E36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8CE9FE0-A362-0CD8-0E62-583D3D57B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6B58E0A-CEA3-BBEA-3E5E-AF4529980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C1324C7-CDF8-719B-44A4-D109A6D3B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CBCEA92-F142-4D57-B507-37BDAF44710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8164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23479-C7DC-38A2-4F7F-44F03288A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E2ABEAEB-962C-0B19-BCD8-D65BE56A2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2341EEE-3AF3-BFF6-AC3C-6E492F091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876281DF-1F35-0997-3121-C43411C190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6138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B5472-DFFE-6A6A-DC3F-56FAEAB02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257AF026-0976-D8FB-3699-259684318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212D6C2-67CD-50F6-DECF-21C14B2B9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82BACFC5-C6C4-EE65-4384-79FD21E678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9358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D98D2-AE50-2D47-34F2-DD128E2DE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A585147B-19FB-00DB-F443-14C2F7CE0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F8C451F-9266-C899-3798-6E43765C3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02F6E800-4805-9087-1499-2C3B398AF8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8955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CBCEA92-F142-4D57-B507-37BDAF44710C}" type="slidenum">
              <a:rPr lang="pt-BR" noProof="0" smtClean="0"/>
              <a:t>18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908885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8C6DC-6477-C326-B778-5F3D8E3C4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75B80ED2-63ED-318E-CD0F-75CA86C39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119803A-A1D7-536F-2F0C-55EC9359E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53DC9B7-3A23-9D96-FD38-DBAFC75F8A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5382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0424E-F36E-A8B8-B83B-146295D7D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764E35D2-E169-4641-755F-1D970D6C8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D1CA88-CB7D-5028-1AA3-DF4A4E56F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2C1606B5-D5A5-8309-838F-D086FE0029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87651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CBCEA92-F142-4D57-B507-37BDAF44710C}" type="slidenum">
              <a:rPr lang="pt-BR" noProof="0" smtClean="0"/>
              <a:t>33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334858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8CF5F-51D5-9B51-5744-0216E96FB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7A384FB-DACC-2DC9-D3B1-4A7262D50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3564E1E-7798-B221-5583-12CB2CF92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551514-1065-8D8B-B6C5-D17B42181B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CBCEA92-F142-4D57-B507-37BDAF44710C}" type="slidenum">
              <a:rPr lang="pt-BR" noProof="0" smtClean="0"/>
              <a:t>34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373701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E4492-F487-940E-15A0-540DB7CFC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AE2E3B3A-4973-A0AF-5AB1-16664588F7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9EF451D-A038-7AEA-1A57-4EA294F68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486E5087-467A-DC53-F81D-38D42B2140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45974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6788A-6135-3E47-D99B-CA7A897D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12A409D1-4B47-C987-8086-B7E7C3897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D4C2D09-066B-E5D9-B82C-674DCC27C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2A0CCFA6-02C3-AAD5-7E6C-461333F68A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53420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96268-7A3F-4CA0-7F8E-D81292218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C3221500-7867-A96A-020A-544696678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BC03A3A3-4B57-EFCD-D8D2-6C9976B2C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pt-BR"/>
              <a:t>Esta lâmina contém as </a:t>
            </a:r>
            <a:r>
              <a:rPr lang="pt-BR" b="1"/>
              <a:t>peças editáveis</a:t>
            </a:r>
            <a:r>
              <a:rPr lang="pt-BR"/>
              <a:t> que foram usadas para construir a amostra infográfica</a:t>
            </a:r>
          </a:p>
          <a:p>
            <a:pPr rtl="0"/>
            <a:r>
              <a:rPr lang="pt-BR"/>
              <a:t>Ícones - Olho, PC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7743058-2E8F-C542-9F16-6E07FC4BCE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1372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ealanalytics.com/templates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ealanalytics.com/templates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- sem barra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 userDrawn="1"/>
        </p:nvSpPr>
        <p:spPr>
          <a:xfrm>
            <a:off x="0" y="0"/>
            <a:ext cx="12192000" cy="1225485"/>
          </a:xfrm>
          <a:prstGeom prst="rect">
            <a:avLst/>
          </a:prstGeom>
          <a:solidFill>
            <a:srgbClr val="0074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08063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A73233B-0705-4E94-AE39-0FCF7FAB80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AE1514C-5E56-4738-A1FF-4B1CFD2A3E36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9" name="Caixa de texto 8">
            <a:hlinkClick r:id="rId3"/>
            <a:extLst>
              <a:ext uri="{FF2B5EF4-FFF2-40B4-BE49-F238E27FC236}">
                <a16:creationId xmlns:a16="http://schemas.microsoft.com/office/drawing/2014/main" id="{011B0CED-3A92-43B0-A3DE-C37B6408D9DB}"/>
              </a:ext>
            </a:extLst>
          </p:cNvPr>
          <p:cNvSpPr txBox="1"/>
          <p:nvPr userDrawn="1"/>
        </p:nvSpPr>
        <p:spPr>
          <a:xfrm>
            <a:off x="297838" y="4267687"/>
            <a:ext cx="2664879" cy="32934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19050">
            <a:solidFill>
              <a:schemeClr val="tx1"/>
            </a:solidFill>
          </a:ln>
        </p:spPr>
        <p:txBody>
          <a:bodyPr wrap="square" lIns="0" r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i="0" u="none" strike="noStrike" kern="0" cap="none" spc="0" normalizeH="0" noProof="0">
                <a:ln>
                  <a:noFill/>
                </a:ln>
                <a:effectLst/>
                <a:uLnTx/>
                <a:uFillTx/>
              </a:rPr>
              <a:t>Neal Creative | clique e </a:t>
            </a:r>
            <a:r>
              <a:rPr lang="pt-BR" sz="1200" b="1" i="0" u="none" strike="noStrike" kern="0" cap="none" spc="0" normalizeH="0" noProof="0">
                <a:ln>
                  <a:noFill/>
                </a:ln>
                <a:effectLst/>
                <a:uLnTx/>
                <a:uFillTx/>
              </a:rPr>
              <a:t>Saiba mais</a:t>
            </a:r>
          </a:p>
        </p:txBody>
      </p:sp>
      <p:sp>
        <p:nvSpPr>
          <p:cNvPr id="10" name="Caixa de texto 9">
            <a:extLst>
              <a:ext uri="{FF2B5EF4-FFF2-40B4-BE49-F238E27FC236}">
                <a16:creationId xmlns:a16="http://schemas.microsoft.com/office/drawing/2014/main" id="{0BEF3013-858C-4FFF-B19A-1F10A879C4E8}"/>
              </a:ext>
            </a:extLst>
          </p:cNvPr>
          <p:cNvSpPr txBox="1"/>
          <p:nvPr userDrawn="1"/>
        </p:nvSpPr>
        <p:spPr>
          <a:xfrm>
            <a:off x="177800" y="6435060"/>
            <a:ext cx="1050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000" noProof="0">
                <a:solidFill>
                  <a:schemeClr val="bg1">
                    <a:lumMod val="75000"/>
                  </a:schemeClr>
                </a:solidFill>
              </a:rPr>
              <a:t>Neal Creative </a:t>
            </a:r>
            <a:r>
              <a:rPr lang="pt-BR" sz="1000" baseline="30000" noProof="0">
                <a:solidFill>
                  <a:schemeClr val="bg1">
                    <a:lumMod val="75000"/>
                  </a:schemeClr>
                </a:solidFill>
              </a:rPr>
              <a:t>©</a:t>
            </a:r>
          </a:p>
        </p:txBody>
      </p:sp>
    </p:spTree>
    <p:extLst>
      <p:ext uri="{BB962C8B-B14F-4D97-AF65-F5344CB8AC3E}">
        <p14:creationId xmlns:p14="http://schemas.microsoft.com/office/powerpoint/2010/main" val="2221538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AE1514C-5E56-4738-A1FF-4B1CFD2A3E36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5" name="Retângulo 4"/>
          <p:cNvSpPr/>
          <p:nvPr userDrawn="1"/>
        </p:nvSpPr>
        <p:spPr>
          <a:xfrm>
            <a:off x="0" y="0"/>
            <a:ext cx="12192000" cy="1148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275747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CEEE197-7B3D-420C-8D35-83CAE6B361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solidFill>
            <a:schemeClr val="bg1">
              <a:lumMod val="95000"/>
            </a:schemeClr>
          </a:solidFill>
        </p:spPr>
        <p:txBody>
          <a:bodyPr vert="horz" lIns="457200" tIns="45720" rIns="457200" bIns="45720" rtlCol="0" anchor="ctr">
            <a:noAutofit/>
          </a:bodyPr>
          <a:lstStyle>
            <a:lvl1pPr>
              <a:defRPr lang="en-US" sz="3400" spc="160" baseline="0" dirty="0"/>
            </a:lvl1pPr>
          </a:lstStyle>
          <a:p>
            <a:pPr lvl="0" rtl="0"/>
            <a:r>
              <a:rPr lang="pt-BR" noProof="0"/>
              <a:t>CLIQUE PARA EDITAR O ESTILO DO TÍTULO PRINCIPAL</a:t>
            </a:r>
          </a:p>
        </p:txBody>
      </p:sp>
    </p:spTree>
    <p:extLst>
      <p:ext uri="{BB962C8B-B14F-4D97-AF65-F5344CB8AC3E}">
        <p14:creationId xmlns:p14="http://schemas.microsoft.com/office/powerpoint/2010/main" val="206254376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- sem barra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 userDrawn="1"/>
        </p:nvSpPr>
        <p:spPr>
          <a:xfrm>
            <a:off x="0" y="0"/>
            <a:ext cx="12192000" cy="12254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4" name="Caixa de texto 3">
            <a:hlinkClick r:id="rId2"/>
          </p:cNvPr>
          <p:cNvSpPr txBox="1"/>
          <p:nvPr userDrawn="1"/>
        </p:nvSpPr>
        <p:spPr>
          <a:xfrm>
            <a:off x="9524236" y="6316156"/>
            <a:ext cx="2426464" cy="367873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 rtl="0"/>
            <a:r>
              <a:rPr lang="pt-BR" sz="1100" noProof="0">
                <a:solidFill>
                  <a:schemeClr val="bg1"/>
                </a:solidFill>
              </a:rPr>
              <a:t>Neal Creative | </a:t>
            </a:r>
            <a:r>
              <a:rPr lang="pt-BR" sz="1100" b="1" noProof="0">
                <a:solidFill>
                  <a:schemeClr val="bg1"/>
                </a:solidFill>
              </a:rPr>
              <a:t>Saiba mais</a:t>
            </a:r>
          </a:p>
        </p:txBody>
      </p:sp>
      <p:sp>
        <p:nvSpPr>
          <p:cNvPr id="5" name="Caixa de texto 4">
            <a:extLst>
              <a:ext uri="{FF2B5EF4-FFF2-40B4-BE49-F238E27FC236}">
                <a16:creationId xmlns:a16="http://schemas.microsoft.com/office/drawing/2014/main" id="{FB34A05A-4AD6-4BC6-B6EA-314331190DB2}"/>
              </a:ext>
            </a:extLst>
          </p:cNvPr>
          <p:cNvSpPr txBox="1"/>
          <p:nvPr userDrawn="1"/>
        </p:nvSpPr>
        <p:spPr>
          <a:xfrm>
            <a:off x="177800" y="6435060"/>
            <a:ext cx="1050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000" noProof="0">
                <a:solidFill>
                  <a:schemeClr val="bg1">
                    <a:lumMod val="75000"/>
                  </a:schemeClr>
                </a:solidFill>
              </a:rPr>
              <a:t>Neal Creative </a:t>
            </a:r>
            <a:r>
              <a:rPr lang="pt-BR" sz="1000" baseline="30000" noProof="0">
                <a:solidFill>
                  <a:schemeClr val="bg1">
                    <a:lumMod val="75000"/>
                  </a:schemeClr>
                </a:solidFill>
              </a:rPr>
              <a:t>©</a:t>
            </a:r>
          </a:p>
        </p:txBody>
      </p:sp>
    </p:spTree>
    <p:extLst>
      <p:ext uri="{BB962C8B-B14F-4D97-AF65-F5344CB8AC3E}">
        <p14:creationId xmlns:p14="http://schemas.microsoft.com/office/powerpoint/2010/main" val="322627904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0" y="0"/>
            <a:ext cx="12192000" cy="1050758"/>
          </a:xfrm>
          <a:prstGeom prst="rect">
            <a:avLst/>
          </a:prstGeom>
        </p:spPr>
        <p:txBody>
          <a:bodyPr vert="horz" lIns="457200" tIns="45720" rIns="457200" bIns="45720" rtlCol="0" anchor="ctr">
            <a:noAutofit/>
          </a:bodyPr>
          <a:lstStyle/>
          <a:p>
            <a:pPr lvl="0" algn="ctr" rtl="0">
              <a:lnSpc>
                <a:spcPct val="90000"/>
              </a:lnSpc>
              <a:spcBef>
                <a:spcPct val="0"/>
              </a:spcBef>
              <a:buNone/>
              <a:tabLst>
                <a:tab pos="10579100" algn="l"/>
              </a:tabLst>
            </a:pPr>
            <a:endParaRPr lang="pt-BR" sz="3400" b="0" i="0" spc="160" baseline="0" noProof="0">
              <a:gradFill>
                <a:gsLst>
                  <a:gs pos="0">
                    <a:schemeClr val="tx2"/>
                  </a:gs>
                  <a:gs pos="100000">
                    <a:schemeClr val="tx2"/>
                  </a:gs>
                </a:gsLst>
                <a:lin ang="5400000" scaled="1"/>
              </a:gradFill>
              <a:latin typeface="Segoe UI Semibold" panose="020B0702040204020203" pitchFamily="34" charset="0"/>
              <a:ea typeface="+mj-ea"/>
              <a:cs typeface="Segoe UI Semibold" panose="020B0702040204020203" pitchFamily="34" charset="0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0758"/>
          </a:xfrm>
          <a:prstGeom prst="rect">
            <a:avLst/>
          </a:prstGeom>
        </p:spPr>
        <p:txBody>
          <a:bodyPr vert="horz" lIns="457200" tIns="45720" rIns="457200" bIns="45720" rtlCol="0" anchor="ctr">
            <a:noAutofit/>
          </a:bodyPr>
          <a:lstStyle/>
          <a:p>
            <a:pPr lv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10579100" algn="l"/>
              </a:tabLst>
            </a:pPr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0" y="1275347"/>
            <a:ext cx="12192000" cy="1949765"/>
          </a:xfrm>
          <a:prstGeom prst="rect">
            <a:avLst/>
          </a:prstGeom>
        </p:spPr>
        <p:txBody>
          <a:bodyPr vert="horz" lIns="457200" tIns="45720" rIns="457200" bIns="45720" rtlCol="0">
            <a:sp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9188115" y="63161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 rtl="0"/>
            <a:fld id="{5AE1514C-5E56-4738-A1FF-4B1CFD2A3E36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071799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6" r:id="rId3"/>
    <p:sldLayoutId id="2147483677" r:id="rId4"/>
    <p:sldLayoutId id="2147483679" r:id="rId5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tabLst>
          <a:tab pos="10579100" algn="l"/>
        </a:tabLst>
        <a:defRPr lang="en-US" sz="3400" b="0" i="0" kern="1200" spc="160" baseline="0" dirty="0"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atin typeface="Segoe UI Semibold" panose="020B0702040204020203" pitchFamily="34" charset="0"/>
          <a:ea typeface="+mj-ea"/>
          <a:cs typeface="Segoe UI Semibold" panose="020B0702040204020203" pitchFamily="34" charset="0"/>
        </a:defRPr>
      </a:lvl1pPr>
    </p:titleStyle>
    <p:bodyStyle>
      <a:lvl1pPr marL="0" indent="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>
              <a:lumMod val="85000"/>
              <a:lumOff val="15000"/>
            </a:schemeClr>
          </a:solidFill>
          <a:latin typeface="+mj-lt"/>
          <a:ea typeface="+mn-ea"/>
          <a:cs typeface="+mn-cs"/>
        </a:defRPr>
      </a:lvl1pPr>
      <a:lvl2pPr marL="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0" indent="0" algn="ctr" defTabSz="914400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0" indent="0" algn="ctr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None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ealanalytics.com/templat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sv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sv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ealanalytics.com/template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hyperlink" Target="mailto:felipe_ivodasilva@hot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6778ACC-8025-47A4-A4BC-A51EA3B62F14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 rtlCol="0"/>
          <a:lstStyle/>
          <a:p>
            <a:pPr rtl="0"/>
            <a:r>
              <a:rPr lang="pt-BR"/>
              <a:t>Finalizando slide</a:t>
            </a:r>
          </a:p>
        </p:txBody>
      </p:sp>
      <p:sp>
        <p:nvSpPr>
          <p:cNvPr id="32" name="Caixa de texto 31">
            <a:hlinkClick r:id="rId3"/>
            <a:extLst>
              <a:ext uri="{FF2B5EF4-FFF2-40B4-BE49-F238E27FC236}">
                <a16:creationId xmlns:a16="http://schemas.microsoft.com/office/drawing/2014/main" id="{99A55A7B-4454-4118-9F77-E5D037F50583}"/>
              </a:ext>
            </a:extLst>
          </p:cNvPr>
          <p:cNvSpPr txBox="1"/>
          <p:nvPr/>
        </p:nvSpPr>
        <p:spPr>
          <a:xfrm>
            <a:off x="252294" y="5403728"/>
            <a:ext cx="6445203" cy="124032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txBody>
          <a:bodyPr wrap="square" lIns="0" tIns="45720" rIns="0" bIns="4572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0" i="0" u="none" strike="noStrike" kern="0" cap="none" spc="0" normalizeH="0">
                <a:ln>
                  <a:noFill/>
                </a:ln>
                <a:effectLst/>
                <a:uLnTx/>
                <a:uFillTx/>
              </a:rPr>
              <a:t>Prof. M.</a:t>
            </a:r>
            <a:r>
              <a:rPr lang="pt-BR" sz="2400" kern="0"/>
              <a:t> </a:t>
            </a:r>
            <a:r>
              <a:rPr lang="pt-BR" sz="2400" b="0" i="0" u="none" strike="noStrike" kern="0" cap="none" spc="0" normalizeH="0">
                <a:ln>
                  <a:noFill/>
                </a:ln>
                <a:effectLst/>
                <a:uLnTx/>
                <a:uFillTx/>
              </a:rPr>
              <a:t>Sc. Felipe Ivo da Silva</a:t>
            </a:r>
          </a:p>
          <a:p>
            <a:pPr algn="ctr">
              <a:defRPr/>
            </a:pPr>
            <a:r>
              <a:rPr lang="pt-BR" sz="2400" kern="0"/>
              <a:t>Coautores: Breno Nascimento Lopes (IFSP)</a:t>
            </a:r>
            <a:endParaRPr lang="pt-BR" sz="2400" b="1" i="0" u="none" strike="noStrike" kern="0" cap="none" spc="0" normalizeH="0">
              <a:ln>
                <a:noFill/>
              </a:ln>
              <a:effectLst/>
              <a:uLnTx/>
              <a:uFillTx/>
            </a:endParaRPr>
          </a:p>
        </p:txBody>
      </p:sp>
      <p:graphicFrame>
        <p:nvGraphicFramePr>
          <p:cNvPr id="29" name="Gráfico 28" descr="Gráfico de linhas">
            <a:extLst>
              <a:ext uri="{FF2B5EF4-FFF2-40B4-BE49-F238E27FC236}">
                <a16:creationId xmlns:a16="http://schemas.microsoft.com/office/drawing/2014/main" id="{63804109-C9E0-4E1E-8F26-B4B015742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1241698"/>
              </p:ext>
            </p:extLst>
          </p:nvPr>
        </p:nvGraphicFramePr>
        <p:xfrm>
          <a:off x="8016468" y="2787752"/>
          <a:ext cx="3338859" cy="3289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Forma Livre 127" descr="Estrutura de tópicos do monitor do computador">
            <a:extLst>
              <a:ext uri="{FF2B5EF4-FFF2-40B4-BE49-F238E27FC236}">
                <a16:creationId xmlns:a16="http://schemas.microsoft.com/office/drawing/2014/main" id="{D9D370F5-DAB2-4387-B86E-127EE7668D3B}"/>
              </a:ext>
            </a:extLst>
          </p:cNvPr>
          <p:cNvSpPr>
            <a:spLocks noChangeAspect="1"/>
          </p:cNvSpPr>
          <p:nvPr/>
        </p:nvSpPr>
        <p:spPr bwMode="black">
          <a:xfrm>
            <a:off x="8068466" y="3517645"/>
            <a:ext cx="3657056" cy="2878091"/>
          </a:xfrm>
          <a:custGeom>
            <a:avLst/>
            <a:gdLst>
              <a:gd name="connsiteX0" fmla="*/ 427036 w 1971675"/>
              <a:gd name="connsiteY0" fmla="*/ 1374775 h 1409700"/>
              <a:gd name="connsiteX1" fmla="*/ 1544636 w 1971675"/>
              <a:gd name="connsiteY1" fmla="*/ 1374775 h 1409700"/>
              <a:gd name="connsiteX2" fmla="*/ 1544636 w 1971675"/>
              <a:gd name="connsiteY2" fmla="*/ 1409700 h 1409700"/>
              <a:gd name="connsiteX3" fmla="*/ 427036 w 1971675"/>
              <a:gd name="connsiteY3" fmla="*/ 1409700 h 1409700"/>
              <a:gd name="connsiteX4" fmla="*/ 104775 w 1971675"/>
              <a:gd name="connsiteY4" fmla="*/ 104775 h 1409700"/>
              <a:gd name="connsiteX5" fmla="*/ 104775 w 1971675"/>
              <a:gd name="connsiteY5" fmla="*/ 1028700 h 1409700"/>
              <a:gd name="connsiteX6" fmla="*/ 761999 w 1971675"/>
              <a:gd name="connsiteY6" fmla="*/ 1028700 h 1409700"/>
              <a:gd name="connsiteX7" fmla="*/ 1198562 w 1971675"/>
              <a:gd name="connsiteY7" fmla="*/ 1028700 h 1409700"/>
              <a:gd name="connsiteX8" fmla="*/ 1879600 w 1971675"/>
              <a:gd name="connsiteY8" fmla="*/ 1028700 h 1409700"/>
              <a:gd name="connsiteX9" fmla="*/ 1879600 w 1971675"/>
              <a:gd name="connsiteY9" fmla="*/ 104775 h 1409700"/>
              <a:gd name="connsiteX10" fmla="*/ 985837 w 1971675"/>
              <a:gd name="connsiteY10" fmla="*/ 23812 h 1409700"/>
              <a:gd name="connsiteX11" fmla="*/ 957262 w 1971675"/>
              <a:gd name="connsiteY11" fmla="*/ 46831 h 1409700"/>
              <a:gd name="connsiteX12" fmla="*/ 985837 w 1971675"/>
              <a:gd name="connsiteY12" fmla="*/ 69850 h 1409700"/>
              <a:gd name="connsiteX13" fmla="*/ 1014412 w 1971675"/>
              <a:gd name="connsiteY13" fmla="*/ 46831 h 1409700"/>
              <a:gd name="connsiteX14" fmla="*/ 985837 w 1971675"/>
              <a:gd name="connsiteY14" fmla="*/ 23812 h 1409700"/>
              <a:gd name="connsiteX15" fmla="*/ 103772 w 1971675"/>
              <a:gd name="connsiteY15" fmla="*/ 0 h 1409700"/>
              <a:gd name="connsiteX16" fmla="*/ 1856372 w 1971675"/>
              <a:gd name="connsiteY16" fmla="*/ 0 h 1409700"/>
              <a:gd name="connsiteX17" fmla="*/ 1971675 w 1971675"/>
              <a:gd name="connsiteY17" fmla="*/ 103909 h 1409700"/>
              <a:gd name="connsiteX18" fmla="*/ 1971675 w 1971675"/>
              <a:gd name="connsiteY18" fmla="*/ 1027546 h 1409700"/>
              <a:gd name="connsiteX19" fmla="*/ 1856372 w 1971675"/>
              <a:gd name="connsiteY19" fmla="*/ 1143000 h 1409700"/>
              <a:gd name="connsiteX20" fmla="*/ 1277877 w 1971675"/>
              <a:gd name="connsiteY20" fmla="*/ 1143000 h 1409700"/>
              <a:gd name="connsiteX21" fmla="*/ 1198562 w 1971675"/>
              <a:gd name="connsiteY21" fmla="*/ 1143000 h 1409700"/>
              <a:gd name="connsiteX22" fmla="*/ 1198562 w 1971675"/>
              <a:gd name="connsiteY22" fmla="*/ 1212850 h 1409700"/>
              <a:gd name="connsiteX23" fmla="*/ 1198562 w 1971675"/>
              <a:gd name="connsiteY23" fmla="*/ 1258887 h 1409700"/>
              <a:gd name="connsiteX24" fmla="*/ 1452561 w 1971675"/>
              <a:gd name="connsiteY24" fmla="*/ 1258887 h 1409700"/>
              <a:gd name="connsiteX25" fmla="*/ 1544636 w 1971675"/>
              <a:gd name="connsiteY25" fmla="*/ 1374774 h 1409700"/>
              <a:gd name="connsiteX26" fmla="*/ 427036 w 1971675"/>
              <a:gd name="connsiteY26" fmla="*/ 1374774 h 1409700"/>
              <a:gd name="connsiteX27" fmla="*/ 519111 w 1971675"/>
              <a:gd name="connsiteY27" fmla="*/ 1258887 h 1409700"/>
              <a:gd name="connsiteX28" fmla="*/ 761999 w 1971675"/>
              <a:gd name="connsiteY28" fmla="*/ 1258887 h 1409700"/>
              <a:gd name="connsiteX29" fmla="*/ 761999 w 1971675"/>
              <a:gd name="connsiteY29" fmla="*/ 1212850 h 1409700"/>
              <a:gd name="connsiteX30" fmla="*/ 761999 w 1971675"/>
              <a:gd name="connsiteY30" fmla="*/ 1143000 h 1409700"/>
              <a:gd name="connsiteX31" fmla="*/ 673281 w 1971675"/>
              <a:gd name="connsiteY31" fmla="*/ 1143000 h 1409700"/>
              <a:gd name="connsiteX32" fmla="*/ 103772 w 1971675"/>
              <a:gd name="connsiteY32" fmla="*/ 1143000 h 1409700"/>
              <a:gd name="connsiteX33" fmla="*/ 0 w 1971675"/>
              <a:gd name="connsiteY33" fmla="*/ 1027546 h 1409700"/>
              <a:gd name="connsiteX34" fmla="*/ 0 w 1971675"/>
              <a:gd name="connsiteY34" fmla="*/ 103909 h 1409700"/>
              <a:gd name="connsiteX35" fmla="*/ 103772 w 1971675"/>
              <a:gd name="connsiteY35" fmla="*/ 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971675" h="1409700">
                <a:moveTo>
                  <a:pt x="427036" y="1374775"/>
                </a:moveTo>
                <a:lnTo>
                  <a:pt x="1544636" y="1374775"/>
                </a:lnTo>
                <a:lnTo>
                  <a:pt x="1544636" y="1409700"/>
                </a:lnTo>
                <a:lnTo>
                  <a:pt x="427036" y="1409700"/>
                </a:lnTo>
                <a:close/>
                <a:moveTo>
                  <a:pt x="104775" y="104775"/>
                </a:moveTo>
                <a:lnTo>
                  <a:pt x="104775" y="1028700"/>
                </a:lnTo>
                <a:lnTo>
                  <a:pt x="761999" y="1028700"/>
                </a:lnTo>
                <a:lnTo>
                  <a:pt x="1198562" y="1028700"/>
                </a:lnTo>
                <a:lnTo>
                  <a:pt x="1879600" y="1028700"/>
                </a:lnTo>
                <a:lnTo>
                  <a:pt x="1879600" y="104775"/>
                </a:lnTo>
                <a:close/>
                <a:moveTo>
                  <a:pt x="985837" y="23812"/>
                </a:moveTo>
                <a:cubicBezTo>
                  <a:pt x="970055" y="23812"/>
                  <a:pt x="957262" y="34118"/>
                  <a:pt x="957262" y="46831"/>
                </a:cubicBezTo>
                <a:cubicBezTo>
                  <a:pt x="957262" y="59544"/>
                  <a:pt x="970055" y="69850"/>
                  <a:pt x="985837" y="69850"/>
                </a:cubicBezTo>
                <a:cubicBezTo>
                  <a:pt x="1001619" y="69850"/>
                  <a:pt x="1014412" y="59544"/>
                  <a:pt x="1014412" y="46831"/>
                </a:cubicBezTo>
                <a:cubicBezTo>
                  <a:pt x="1014412" y="34118"/>
                  <a:pt x="1001619" y="23812"/>
                  <a:pt x="985837" y="23812"/>
                </a:cubicBezTo>
                <a:close/>
                <a:moveTo>
                  <a:pt x="103772" y="0"/>
                </a:moveTo>
                <a:cubicBezTo>
                  <a:pt x="1856372" y="0"/>
                  <a:pt x="1856372" y="0"/>
                  <a:pt x="1856372" y="0"/>
                </a:cubicBezTo>
                <a:cubicBezTo>
                  <a:pt x="1925554" y="0"/>
                  <a:pt x="1971675" y="46182"/>
                  <a:pt x="1971675" y="103909"/>
                </a:cubicBezTo>
                <a:lnTo>
                  <a:pt x="1971675" y="1027546"/>
                </a:lnTo>
                <a:cubicBezTo>
                  <a:pt x="1971675" y="1085273"/>
                  <a:pt x="1925554" y="1143000"/>
                  <a:pt x="1856372" y="1143000"/>
                </a:cubicBezTo>
                <a:cubicBezTo>
                  <a:pt x="1637297" y="1143000"/>
                  <a:pt x="1445606" y="1143000"/>
                  <a:pt x="1277877" y="1143000"/>
                </a:cubicBezTo>
                <a:lnTo>
                  <a:pt x="1198562" y="1143000"/>
                </a:lnTo>
                <a:lnTo>
                  <a:pt x="1198562" y="1212850"/>
                </a:lnTo>
                <a:lnTo>
                  <a:pt x="1198562" y="1258887"/>
                </a:lnTo>
                <a:lnTo>
                  <a:pt x="1452561" y="1258887"/>
                </a:lnTo>
                <a:lnTo>
                  <a:pt x="1544636" y="1374774"/>
                </a:lnTo>
                <a:lnTo>
                  <a:pt x="427036" y="1374774"/>
                </a:lnTo>
                <a:lnTo>
                  <a:pt x="519111" y="1258887"/>
                </a:lnTo>
                <a:lnTo>
                  <a:pt x="761999" y="1258887"/>
                </a:lnTo>
                <a:lnTo>
                  <a:pt x="761999" y="1212850"/>
                </a:lnTo>
                <a:lnTo>
                  <a:pt x="761999" y="1143000"/>
                </a:lnTo>
                <a:lnTo>
                  <a:pt x="673281" y="1143000"/>
                </a:lnTo>
                <a:cubicBezTo>
                  <a:pt x="103772" y="1143000"/>
                  <a:pt x="103772" y="1143000"/>
                  <a:pt x="103772" y="1143000"/>
                </a:cubicBezTo>
                <a:cubicBezTo>
                  <a:pt x="46121" y="1143000"/>
                  <a:pt x="0" y="1085273"/>
                  <a:pt x="0" y="1027546"/>
                </a:cubicBezTo>
                <a:cubicBezTo>
                  <a:pt x="0" y="103909"/>
                  <a:pt x="0" y="103909"/>
                  <a:pt x="0" y="103909"/>
                </a:cubicBezTo>
                <a:cubicBezTo>
                  <a:pt x="0" y="46182"/>
                  <a:pt x="46121" y="0"/>
                  <a:pt x="103772" y="0"/>
                </a:cubicBezTo>
                <a:close/>
              </a:path>
            </a:pathLst>
          </a:custGeom>
          <a:solidFill>
            <a:srgbClr val="D9D9D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pt-BR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A480A17-B33A-4E1E-B9C3-7E3069563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240325"/>
          </a:xfrm>
          <a:prstGeom prst="rect">
            <a:avLst/>
          </a:prstGeom>
          <a:solidFill>
            <a:srgbClr val="0045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A0EFAA7-5F71-D1EF-E13D-D36CF2B6F3E5}"/>
              </a:ext>
            </a:extLst>
          </p:cNvPr>
          <p:cNvSpPr txBox="1"/>
          <p:nvPr/>
        </p:nvSpPr>
        <p:spPr>
          <a:xfrm>
            <a:off x="5579151" y="213947"/>
            <a:ext cx="103369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dirty="0">
                <a:latin typeface="Segoe UI Semibold"/>
                <a:cs typeface="Segoe UI Semibold"/>
              </a:rPr>
              <a:t>2026</a:t>
            </a:r>
            <a:endParaRPr lang="pt-BR" sz="2400" dirty="0">
              <a:latin typeface="Segoe UI Semibold"/>
              <a:cs typeface="Segoe UI Semibold"/>
            </a:endParaRPr>
          </a:p>
        </p:txBody>
      </p:sp>
      <p:sp>
        <p:nvSpPr>
          <p:cNvPr id="2" name="Caixa de texto 1">
            <a:extLst>
              <a:ext uri="{FF2B5EF4-FFF2-40B4-BE49-F238E27FC236}">
                <a16:creationId xmlns:a16="http://schemas.microsoft.com/office/drawing/2014/main" id="{6BD59475-CD66-4751-83EF-FEC02A44E31A}"/>
              </a:ext>
            </a:extLst>
          </p:cNvPr>
          <p:cNvSpPr txBox="1"/>
          <p:nvPr/>
        </p:nvSpPr>
        <p:spPr>
          <a:xfrm>
            <a:off x="466478" y="1555626"/>
            <a:ext cx="9795122" cy="150502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85000"/>
              </a:lnSpc>
              <a:defRPr/>
            </a:pPr>
            <a:r>
              <a:rPr lang="pt-BR" sz="5400" b="1" dirty="0">
                <a:cs typeface="Segoe UI"/>
              </a:rPr>
              <a:t>Controle de Versionamento</a:t>
            </a:r>
          </a:p>
          <a:p>
            <a:pPr>
              <a:lnSpc>
                <a:spcPct val="85000"/>
              </a:lnSpc>
              <a:defRPr/>
            </a:pPr>
            <a:r>
              <a:rPr lang="pt-BR" sz="5400" b="1" dirty="0" err="1">
                <a:cs typeface="Segoe UI"/>
              </a:rPr>
              <a:t>Git</a:t>
            </a:r>
            <a:r>
              <a:rPr lang="pt-BR" sz="5400" b="1" dirty="0">
                <a:cs typeface="Segoe UI"/>
              </a:rPr>
              <a:t> e github</a:t>
            </a:r>
          </a:p>
        </p:txBody>
      </p:sp>
    </p:spTree>
    <p:extLst>
      <p:ext uri="{BB962C8B-B14F-4D97-AF65-F5344CB8AC3E}">
        <p14:creationId xmlns:p14="http://schemas.microsoft.com/office/powerpoint/2010/main" val="4056726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B4451-772D-01DF-B590-0556D7ABE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B539DCC2-2C45-6A66-CF8C-8D930EA6C64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07752" y="6728143"/>
            <a:ext cx="2743200" cy="365125"/>
          </a:xfrm>
        </p:spPr>
        <p:txBody>
          <a:bodyPr rtlCol="0"/>
          <a:lstStyle/>
          <a:p>
            <a:pPr rtl="0"/>
            <a:fld id="{5AE1514C-5E56-4738-A1FF-4B1CFD2A3E36}" type="slidenum">
              <a:rPr lang="pt-BR" smtClean="0"/>
              <a:pPr rtl="0"/>
              <a:t>2</a:t>
            </a:fld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5A6176C-7B85-B3F2-9E95-3C832C4ED91F}"/>
              </a:ext>
            </a:extLst>
          </p:cNvPr>
          <p:cNvSpPr/>
          <p:nvPr/>
        </p:nvSpPr>
        <p:spPr>
          <a:xfrm>
            <a:off x="0" y="76200"/>
            <a:ext cx="12192000" cy="78600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4000" b="1">
                <a:solidFill>
                  <a:schemeClr val="bg1"/>
                </a:solidFill>
                <a:cs typeface="Segoe UI"/>
              </a:rPr>
              <a:t>SUMÁRIO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EA40D0B-0344-68A2-81C7-385FB8F56277}"/>
              </a:ext>
            </a:extLst>
          </p:cNvPr>
          <p:cNvSpPr txBox="1"/>
          <p:nvPr/>
        </p:nvSpPr>
        <p:spPr>
          <a:xfrm>
            <a:off x="622299" y="1750445"/>
            <a:ext cx="10957053" cy="421891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914400" indent="-457200">
              <a:lnSpc>
                <a:spcPct val="150000"/>
              </a:lnSpc>
              <a:buFontTx/>
              <a:buAutoNum type="arabicPeriod"/>
              <a:defRPr/>
            </a:pPr>
            <a:r>
              <a:rPr lang="pt-BR" sz="2600" b="1" spc="30" dirty="0">
                <a:solidFill>
                  <a:schemeClr val="accent2"/>
                </a:solidFill>
                <a:cs typeface="Segoe UI"/>
              </a:rPr>
              <a:t>O que é versionamento</a:t>
            </a:r>
          </a:p>
          <a:p>
            <a:pPr marL="914400" indent="-457200">
              <a:lnSpc>
                <a:spcPct val="150000"/>
              </a:lnSpc>
              <a:buFontTx/>
              <a:buAutoNum type="arabicPeriod"/>
              <a:defRPr/>
            </a:pPr>
            <a:r>
              <a:rPr lang="pt-BR" sz="2600" b="1" spc="30" dirty="0">
                <a:solidFill>
                  <a:schemeClr val="accent2"/>
                </a:solidFill>
                <a:cs typeface="Segoe UI"/>
              </a:rPr>
              <a:t>GIT</a:t>
            </a:r>
          </a:p>
          <a:p>
            <a:pPr marL="914400" indent="-457200">
              <a:lnSpc>
                <a:spcPct val="150000"/>
              </a:lnSpc>
              <a:buFontTx/>
              <a:buAutoNum type="arabicPeriod"/>
              <a:defRPr/>
            </a:pPr>
            <a:r>
              <a:rPr lang="pt-BR" sz="2600" b="1" spc="30" dirty="0">
                <a:solidFill>
                  <a:schemeClr val="accent2"/>
                </a:solidFill>
                <a:cs typeface="Segoe UI"/>
              </a:rPr>
              <a:t>Comandos Essenciais</a:t>
            </a:r>
            <a:endParaRPr lang="pt-BR" sz="2600" b="1" dirty="0">
              <a:solidFill>
                <a:schemeClr val="accent2"/>
              </a:solidFill>
              <a:cs typeface="Segoe UI"/>
            </a:endParaRPr>
          </a:p>
          <a:p>
            <a:pPr marL="914400" indent="-457200">
              <a:lnSpc>
                <a:spcPct val="150000"/>
              </a:lnSpc>
              <a:buFontTx/>
              <a:buAutoNum type="arabicPeriod"/>
              <a:defRPr/>
            </a:pPr>
            <a:r>
              <a:rPr lang="pt-BR" sz="2600" b="1" spc="30" dirty="0" err="1">
                <a:solidFill>
                  <a:schemeClr val="accent2"/>
                </a:solidFill>
                <a:cs typeface="Segoe UI"/>
              </a:rPr>
              <a:t>Branches</a:t>
            </a:r>
            <a:r>
              <a:rPr lang="pt-BR" sz="2600" b="1" spc="30" dirty="0">
                <a:solidFill>
                  <a:schemeClr val="accent2"/>
                </a:solidFill>
                <a:cs typeface="Segoe UI"/>
              </a:rPr>
              <a:t> e Merge</a:t>
            </a:r>
          </a:p>
          <a:p>
            <a:pPr marL="914400" indent="-457200">
              <a:lnSpc>
                <a:spcPct val="150000"/>
              </a:lnSpc>
              <a:buFontTx/>
              <a:buAutoNum type="arabicPeriod"/>
              <a:defRPr/>
            </a:pPr>
            <a:r>
              <a:rPr lang="pt-BR" sz="2600" b="1" spc="30" dirty="0">
                <a:solidFill>
                  <a:schemeClr val="accent2"/>
                </a:solidFill>
                <a:cs typeface="Segoe UI"/>
              </a:rPr>
              <a:t>Github</a:t>
            </a:r>
          </a:p>
          <a:p>
            <a:pPr marL="914400" indent="-457200">
              <a:lnSpc>
                <a:spcPct val="150000"/>
              </a:lnSpc>
              <a:buFontTx/>
              <a:buAutoNum type="arabicPeriod"/>
              <a:defRPr/>
            </a:pPr>
            <a:r>
              <a:rPr lang="pt-BR" sz="2600" b="1" spc="30" dirty="0" err="1">
                <a:solidFill>
                  <a:schemeClr val="accent2"/>
                </a:solidFill>
                <a:cs typeface="Segoe UI"/>
              </a:rPr>
              <a:t>Conventional</a:t>
            </a:r>
            <a:r>
              <a:rPr lang="pt-BR" sz="2600" b="1" spc="30" dirty="0">
                <a:solidFill>
                  <a:schemeClr val="accent2"/>
                </a:solidFill>
                <a:cs typeface="Segoe UI"/>
              </a:rPr>
              <a:t> </a:t>
            </a:r>
            <a:r>
              <a:rPr lang="pt-BR" sz="2600" b="1" spc="30" dirty="0" err="1">
                <a:solidFill>
                  <a:schemeClr val="accent2"/>
                </a:solidFill>
                <a:cs typeface="Segoe UI"/>
              </a:rPr>
              <a:t>Commits</a:t>
            </a:r>
            <a:endParaRPr lang="pt-BR" sz="2600" b="1" spc="30" dirty="0">
              <a:solidFill>
                <a:schemeClr val="accent2"/>
              </a:solidFill>
              <a:cs typeface="Segoe UI"/>
            </a:endParaRPr>
          </a:p>
          <a:p>
            <a:pPr marL="914400" indent="-457200">
              <a:lnSpc>
                <a:spcPct val="150000"/>
              </a:lnSpc>
              <a:buFontTx/>
              <a:buAutoNum type="arabicPeriod"/>
              <a:defRPr/>
            </a:pPr>
            <a:r>
              <a:rPr lang="pt-BR" sz="2600" b="1" spc="30" dirty="0">
                <a:solidFill>
                  <a:schemeClr val="accent2"/>
                </a:solidFill>
                <a:cs typeface="Segoe UI"/>
              </a:rPr>
              <a:t>Erros comuns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EE933584-DBB9-FA01-39E7-CA3BCBA94BEC}"/>
              </a:ext>
            </a:extLst>
          </p:cNvPr>
          <p:cNvGrpSpPr/>
          <p:nvPr/>
        </p:nvGrpSpPr>
        <p:grpSpPr>
          <a:xfrm rot="16200000">
            <a:off x="10777125" y="1815368"/>
            <a:ext cx="4347655" cy="5843016"/>
            <a:chOff x="9233312" y="4702145"/>
            <a:chExt cx="4347655" cy="5843016"/>
          </a:xfrm>
        </p:grpSpPr>
        <p:sp>
          <p:nvSpPr>
            <p:cNvPr id="6" name="Arco 5">
              <a:extLst>
                <a:ext uri="{FF2B5EF4-FFF2-40B4-BE49-F238E27FC236}">
                  <a16:creationId xmlns:a16="http://schemas.microsoft.com/office/drawing/2014/main" id="{352B099F-2A32-72C9-4BE7-A2B69D4899A0}"/>
                </a:ext>
              </a:extLst>
            </p:cNvPr>
            <p:cNvSpPr/>
            <p:nvPr/>
          </p:nvSpPr>
          <p:spPr>
            <a:xfrm rot="17213764">
              <a:off x="8485632" y="5449825"/>
              <a:ext cx="5690616" cy="4195255"/>
            </a:xfrm>
            <a:prstGeom prst="arc">
              <a:avLst>
                <a:gd name="adj1" fmla="val 16352856"/>
                <a:gd name="adj2" fmla="val 193339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Arco 6">
              <a:extLst>
                <a:ext uri="{FF2B5EF4-FFF2-40B4-BE49-F238E27FC236}">
                  <a16:creationId xmlns:a16="http://schemas.microsoft.com/office/drawing/2014/main" id="{7621A702-6369-C133-062E-F54C589244C5}"/>
                </a:ext>
              </a:extLst>
            </p:cNvPr>
            <p:cNvSpPr/>
            <p:nvPr/>
          </p:nvSpPr>
          <p:spPr>
            <a:xfrm rot="17213764">
              <a:off x="8638032" y="5602225"/>
              <a:ext cx="5690616" cy="4195255"/>
            </a:xfrm>
            <a:prstGeom prst="arc">
              <a:avLst>
                <a:gd name="adj1" fmla="val 16612836"/>
                <a:gd name="adj2" fmla="val 20507815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Arco 7">
              <a:extLst>
                <a:ext uri="{FF2B5EF4-FFF2-40B4-BE49-F238E27FC236}">
                  <a16:creationId xmlns:a16="http://schemas.microsoft.com/office/drawing/2014/main" id="{41D2994F-2F0B-2996-EF61-CC33F4EE6B32}"/>
                </a:ext>
              </a:extLst>
            </p:cNvPr>
            <p:cNvSpPr/>
            <p:nvPr/>
          </p:nvSpPr>
          <p:spPr>
            <a:xfrm rot="17213764">
              <a:off x="8861922" y="5816875"/>
              <a:ext cx="5400000" cy="3960000"/>
            </a:xfrm>
            <a:prstGeom prst="arc">
              <a:avLst>
                <a:gd name="adj1" fmla="val 16882911"/>
                <a:gd name="adj2" fmla="val 73469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806546176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78EB15-32FC-F6B9-ECAB-753E351B6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B05237C-BD92-5BF8-274F-32075CA4E61D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1BC7F95-931B-4C2B-F0C5-2EA0F4ADFE26}"/>
              </a:ext>
            </a:extLst>
          </p:cNvPr>
          <p:cNvSpPr txBox="1"/>
          <p:nvPr/>
        </p:nvSpPr>
        <p:spPr>
          <a:xfrm>
            <a:off x="450848" y="269680"/>
            <a:ext cx="11873808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latin typeface="Segoe UI"/>
                <a:cs typeface="Segoe UI Semibold"/>
              </a:rPr>
              <a:t>Versionamento</a:t>
            </a:r>
            <a:endParaRPr lang="pt-BR" sz="3600" b="1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D8035D9-3488-3E24-6F54-DA0CD2426A3B}"/>
              </a:ext>
            </a:extLst>
          </p:cNvPr>
          <p:cNvSpPr txBox="1"/>
          <p:nvPr/>
        </p:nvSpPr>
        <p:spPr>
          <a:xfrm>
            <a:off x="424872" y="853848"/>
            <a:ext cx="6160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dirty="0">
                <a:solidFill>
                  <a:schemeClr val="accent4">
                    <a:lumMod val="75000"/>
                  </a:schemeClr>
                </a:solidFill>
                <a:latin typeface="Segoe UI Semibold"/>
                <a:cs typeface="Segoe UI Semibold"/>
              </a:rPr>
              <a:t> </a:t>
            </a:r>
            <a:r>
              <a:rPr lang="pt-BR" sz="2000" dirty="0" err="1">
                <a:solidFill>
                  <a:schemeClr val="accent4">
                    <a:lumMod val="75000"/>
                  </a:schemeClr>
                </a:solidFill>
                <a:latin typeface="Segoe UI Semibold"/>
                <a:cs typeface="Segoe UI Semibold"/>
              </a:rPr>
              <a:t>Traducao</a:t>
            </a:r>
            <a:endParaRPr lang="pt-BR" sz="2000" dirty="0">
              <a:solidFill>
                <a:schemeClr val="accent4">
                  <a:lumMod val="75000"/>
                </a:schemeClr>
              </a:solidFill>
              <a:latin typeface="Segoe UI Semibold"/>
              <a:cs typeface="Segoe UI Semibold"/>
            </a:endParaRPr>
          </a:p>
        </p:txBody>
      </p:sp>
      <p:pic>
        <p:nvPicPr>
          <p:cNvPr id="4" name="Gráfico 3" descr="Fluxograma circular com preenchimento sólido">
            <a:extLst>
              <a:ext uri="{FF2B5EF4-FFF2-40B4-BE49-F238E27FC236}">
                <a16:creationId xmlns:a16="http://schemas.microsoft.com/office/drawing/2014/main" id="{904E06A5-2A9E-9E84-F455-AF6CC6B856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7050" y="592845"/>
            <a:ext cx="6057900" cy="60579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069899A-318E-1164-E124-4C487A6B3695}"/>
              </a:ext>
            </a:extLst>
          </p:cNvPr>
          <p:cNvSpPr txBox="1"/>
          <p:nvPr/>
        </p:nvSpPr>
        <p:spPr>
          <a:xfrm>
            <a:off x="5900273" y="1739900"/>
            <a:ext cx="391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/>
              <a:t>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7E01C0D-75D8-8345-29FA-04FD082022A0}"/>
              </a:ext>
            </a:extLst>
          </p:cNvPr>
          <p:cNvSpPr txBox="1"/>
          <p:nvPr/>
        </p:nvSpPr>
        <p:spPr>
          <a:xfrm>
            <a:off x="7487429" y="4409420"/>
            <a:ext cx="391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/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10638EA-666C-E891-EF67-813C72A3497C}"/>
              </a:ext>
            </a:extLst>
          </p:cNvPr>
          <p:cNvSpPr txBox="1"/>
          <p:nvPr/>
        </p:nvSpPr>
        <p:spPr>
          <a:xfrm>
            <a:off x="4313118" y="4409420"/>
            <a:ext cx="391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5302352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970AA-9CE4-E2A2-025A-BEB842E60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060C541B-753F-3498-72F5-A3550AB8BB79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9F48E7A-D7C8-431D-174F-57548DBD7BE9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 err="1">
                <a:solidFill>
                  <a:schemeClr val="accent3">
                    <a:lumMod val="49000"/>
                  </a:schemeClr>
                </a:solidFill>
              </a:rPr>
              <a:t>Subtitulo</a:t>
            </a:r>
            <a:endParaRPr lang="pt-BR" sz="2000" dirty="0">
              <a:solidFill>
                <a:schemeClr val="accent3">
                  <a:lumMod val="49000"/>
                </a:schemeClr>
              </a:solidFill>
              <a:cs typeface="Segoe U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0A4EA21-F4E9-AD28-F5A2-98D29E49187F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>
                <a:solidFill>
                  <a:schemeClr val="accent5"/>
                </a:solidFill>
              </a:rPr>
              <a:t>Versionamento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21AF412-71A7-0C63-C2B8-06D7128D9540}"/>
              </a:ext>
            </a:extLst>
          </p:cNvPr>
          <p:cNvSpPr txBox="1"/>
          <p:nvPr/>
        </p:nvSpPr>
        <p:spPr>
          <a:xfrm>
            <a:off x="450848" y="1635220"/>
            <a:ext cx="11006842" cy="50783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2"/>
                </a:solidFill>
              </a:rPr>
              <a:t>Versionamento de código é a prática de registrar, de forma organizada e automática, todas as alterações feitas em um projeto ao longo do tempo.</a:t>
            </a:r>
          </a:p>
          <a:p>
            <a:endParaRPr lang="pt-BR" sz="2000" dirty="0">
              <a:solidFill>
                <a:schemeClr val="accent2"/>
              </a:solidFill>
            </a:endParaRPr>
          </a:p>
          <a:p>
            <a:endParaRPr lang="pt-BR" sz="2000" dirty="0">
              <a:solidFill>
                <a:schemeClr val="accent2"/>
              </a:solidFill>
            </a:endParaRPr>
          </a:p>
          <a:p>
            <a:r>
              <a:rPr lang="pt-BR" sz="2400" b="1" dirty="0">
                <a:solidFill>
                  <a:schemeClr val="accent2"/>
                </a:solidFill>
              </a:rPr>
              <a:t>Exemplo sem versionamento automático:</a:t>
            </a:r>
          </a:p>
          <a:p>
            <a:r>
              <a:rPr lang="pt-BR" sz="2000" dirty="0">
                <a:solidFill>
                  <a:schemeClr val="accent2"/>
                </a:solidFill>
              </a:rPr>
              <a:t>Imagine que você está escrevendo um trabalho de conclusão de curso no Word. </a:t>
            </a:r>
          </a:p>
          <a:p>
            <a:r>
              <a:rPr lang="pt-BR" sz="2000" dirty="0">
                <a:solidFill>
                  <a:schemeClr val="accent2"/>
                </a:solidFill>
              </a:rPr>
              <a:t>A cada dia você salva o arquivo com um nome diferente: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2"/>
                </a:solidFill>
              </a:rPr>
              <a:t>TCC_v1.docx,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2"/>
                </a:solidFill>
              </a:rPr>
              <a:t>TCC_v2_revisado.docx,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2"/>
                </a:solidFill>
              </a:rPr>
              <a:t>TCC_FINAL.docx,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2"/>
                </a:solidFill>
              </a:rPr>
              <a:t>TCC_FINAL_agora_vai.docx... </a:t>
            </a:r>
          </a:p>
          <a:p>
            <a:r>
              <a:rPr lang="pt-BR" sz="2000" b="1" dirty="0">
                <a:solidFill>
                  <a:srgbClr val="C00000"/>
                </a:solidFill>
              </a:rPr>
              <a:t>Isso é versionamento manual e é caótico.</a:t>
            </a:r>
          </a:p>
          <a:p>
            <a:endParaRPr lang="pt-BR" sz="2000" b="1" dirty="0">
              <a:solidFill>
                <a:srgbClr val="C00000"/>
              </a:solidFill>
            </a:endParaRPr>
          </a:p>
          <a:p>
            <a:endParaRPr lang="pt-BR" sz="2000" b="1" dirty="0">
              <a:solidFill>
                <a:srgbClr val="C00000"/>
              </a:solidFill>
            </a:endParaRPr>
          </a:p>
          <a:p>
            <a:r>
              <a:rPr lang="pt-BR" sz="2000" dirty="0">
                <a:solidFill>
                  <a:schemeClr val="accent2"/>
                </a:solidFill>
              </a:rPr>
              <a:t>Em vez de criar cópias do arquivo com nomes diferentes, </a:t>
            </a:r>
          </a:p>
          <a:p>
            <a:r>
              <a:rPr lang="pt-BR" sz="2000" dirty="0">
                <a:solidFill>
                  <a:schemeClr val="accent2"/>
                </a:solidFill>
              </a:rPr>
              <a:t>você deve usar uma ferramenta especializada que guarda um histórico completo.</a:t>
            </a:r>
          </a:p>
        </p:txBody>
      </p:sp>
    </p:spTree>
    <p:extLst>
      <p:ext uri="{BB962C8B-B14F-4D97-AF65-F5344CB8AC3E}">
        <p14:creationId xmlns:p14="http://schemas.microsoft.com/office/powerpoint/2010/main" val="75550012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96DE3-968D-65D4-6893-7FB1896D6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B875ED6F-CB2B-DCA2-3C57-375380205D4A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780F185-E458-CCAA-10B0-9FE425A5878E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 err="1">
                <a:solidFill>
                  <a:schemeClr val="accent3">
                    <a:lumMod val="49000"/>
                  </a:schemeClr>
                </a:solidFill>
              </a:rPr>
              <a:t>Subtitulo</a:t>
            </a:r>
            <a:endParaRPr lang="pt-BR" sz="2000" dirty="0">
              <a:solidFill>
                <a:schemeClr val="accent3">
                  <a:lumMod val="49000"/>
                </a:schemeClr>
              </a:solidFill>
              <a:cs typeface="Segoe U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67E149C-7238-9C53-2470-ED681F1E4AB3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>
                <a:solidFill>
                  <a:schemeClr val="accent5"/>
                </a:solidFill>
              </a:rPr>
              <a:t>Versionamento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BFC81AE-3339-CE26-F421-B7EC8259200F}"/>
              </a:ext>
            </a:extLst>
          </p:cNvPr>
          <p:cNvSpPr txBox="1"/>
          <p:nvPr/>
        </p:nvSpPr>
        <p:spPr>
          <a:xfrm>
            <a:off x="450848" y="1635220"/>
            <a:ext cx="11006842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b="1" dirty="0">
                <a:solidFill>
                  <a:schemeClr val="accent5"/>
                </a:solidFill>
              </a:rPr>
              <a:t>Por que isso é essencial?</a:t>
            </a:r>
          </a:p>
          <a:p>
            <a:r>
              <a:rPr lang="pt-BR" sz="2000" dirty="0">
                <a:solidFill>
                  <a:schemeClr val="accent5"/>
                </a:solidFill>
              </a:rPr>
              <a:t>Sem versionamento, o desenvolvimento de software em equipe é praticamente inviável. </a:t>
            </a:r>
          </a:p>
          <a:p>
            <a:endParaRPr lang="pt-BR" sz="2000" dirty="0">
              <a:solidFill>
                <a:schemeClr val="accent5"/>
              </a:solidFill>
            </a:endParaRPr>
          </a:p>
          <a:p>
            <a:endParaRPr lang="pt-BR" sz="2000" dirty="0">
              <a:solidFill>
                <a:schemeClr val="accent5"/>
              </a:solidFill>
            </a:endParaRPr>
          </a:p>
          <a:p>
            <a:r>
              <a:rPr lang="pt-BR" sz="2000" dirty="0">
                <a:solidFill>
                  <a:schemeClr val="accent5"/>
                </a:solidFill>
              </a:rPr>
              <a:t>Pense no seguinte cenário: </a:t>
            </a:r>
          </a:p>
          <a:p>
            <a:r>
              <a:rPr lang="pt-BR" sz="2000" dirty="0">
                <a:solidFill>
                  <a:schemeClr val="accent5"/>
                </a:solidFill>
              </a:rPr>
              <a:t>dois desenvolvedores precisam trabalhar no mesmo arquivo ao mesmo tempo. </a:t>
            </a:r>
          </a:p>
          <a:p>
            <a:endParaRPr lang="pt-BR" sz="2000" dirty="0">
              <a:solidFill>
                <a:schemeClr val="accent5"/>
              </a:solidFill>
            </a:endParaRPr>
          </a:p>
          <a:p>
            <a:endParaRPr lang="pt-BR" sz="2000" dirty="0">
              <a:solidFill>
                <a:schemeClr val="accent5"/>
              </a:solidFill>
            </a:endParaRPr>
          </a:p>
          <a:p>
            <a:endParaRPr lang="pt-BR" sz="2000" dirty="0">
              <a:solidFill>
                <a:schemeClr val="accent5"/>
              </a:solidFill>
            </a:endParaRPr>
          </a:p>
          <a:p>
            <a:endParaRPr lang="pt-BR" sz="2000" dirty="0">
              <a:solidFill>
                <a:schemeClr val="accent5"/>
              </a:solidFill>
            </a:endParaRPr>
          </a:p>
          <a:p>
            <a:endParaRPr lang="pt-BR" sz="2000" dirty="0">
              <a:solidFill>
                <a:schemeClr val="accent5"/>
              </a:solidFill>
            </a:endParaRPr>
          </a:p>
          <a:p>
            <a:endParaRPr lang="pt-BR" sz="2000" dirty="0">
              <a:solidFill>
                <a:schemeClr val="accent5"/>
              </a:solidFill>
            </a:endParaRPr>
          </a:p>
          <a:p>
            <a:r>
              <a:rPr lang="pt-BR" sz="2000" dirty="0">
                <a:solidFill>
                  <a:schemeClr val="accent5"/>
                </a:solidFill>
              </a:rPr>
              <a:t>Outro cenário comum: você faz uma alteração que quebra o sistema em produção. </a:t>
            </a:r>
          </a:p>
          <a:p>
            <a:endParaRPr lang="pt-BR" sz="2000" dirty="0">
              <a:solidFill>
                <a:schemeClr val="accent5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CD03787-AC3A-DD22-0EB2-3A3C9C68DBB0}"/>
              </a:ext>
            </a:extLst>
          </p:cNvPr>
          <p:cNvSpPr/>
          <p:nvPr/>
        </p:nvSpPr>
        <p:spPr>
          <a:xfrm>
            <a:off x="493709" y="3590925"/>
            <a:ext cx="11006842" cy="904236"/>
          </a:xfrm>
          <a:prstGeom prst="rect">
            <a:avLst/>
          </a:prstGeom>
          <a:noFill/>
          <a:ln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 versionamento : </a:t>
            </a:r>
            <a:r>
              <a:rPr lang="pt-BR" dirty="0">
                <a:solidFill>
                  <a:schemeClr val="accent5"/>
                </a:solidFill>
              </a:rPr>
              <a:t>um vai sobrescrever o trabalho do outro. </a:t>
            </a:r>
          </a:p>
          <a:p>
            <a:r>
              <a:rPr lang="pt-BR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 versionamento: </a:t>
            </a:r>
            <a:r>
              <a:rPr lang="pt-BR" dirty="0">
                <a:solidFill>
                  <a:schemeClr val="accent5"/>
                </a:solidFill>
              </a:rPr>
              <a:t>ambos trabalham em paralelo e o sistema integra as mudanças de forma controlada.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B1DDB31-1082-7AA3-B1A7-6FB2401D3DAB}"/>
              </a:ext>
            </a:extLst>
          </p:cNvPr>
          <p:cNvSpPr/>
          <p:nvPr/>
        </p:nvSpPr>
        <p:spPr>
          <a:xfrm>
            <a:off x="493709" y="5714909"/>
            <a:ext cx="10963981" cy="873411"/>
          </a:xfrm>
          <a:prstGeom prst="rect">
            <a:avLst/>
          </a:prstGeom>
          <a:noFill/>
          <a:ln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i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 versionamento : </a:t>
            </a:r>
            <a:r>
              <a:rPr lang="pt-BR" dirty="0">
                <a:solidFill>
                  <a:schemeClr val="accent5"/>
                </a:solidFill>
              </a:rPr>
              <a:t>você precisaria lembrar de cor o que mudou e desfazer manualmente. </a:t>
            </a:r>
          </a:p>
          <a:p>
            <a:r>
              <a:rPr lang="pt-BR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 versionamento: </a:t>
            </a:r>
            <a:r>
              <a:rPr lang="pt-BR" dirty="0">
                <a:solidFill>
                  <a:schemeClr val="accent5"/>
                </a:solidFill>
              </a:rPr>
              <a:t>em segundos você volta para a última versão estável.</a:t>
            </a:r>
          </a:p>
        </p:txBody>
      </p:sp>
    </p:spTree>
    <p:extLst>
      <p:ext uri="{BB962C8B-B14F-4D97-AF65-F5344CB8AC3E}">
        <p14:creationId xmlns:p14="http://schemas.microsoft.com/office/powerpoint/2010/main" val="3359545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D8889-9DBF-A7AA-3EC5-E5F45F1CA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EA57D982-69BB-AF59-6D21-813307860D15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0F63ED3-00B2-044E-CC63-90F7F31A3C1A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 err="1">
                <a:solidFill>
                  <a:schemeClr val="accent3">
                    <a:lumMod val="49000"/>
                  </a:schemeClr>
                </a:solidFill>
              </a:rPr>
              <a:t>Subtitulo</a:t>
            </a:r>
            <a:endParaRPr lang="pt-BR" sz="2000" dirty="0">
              <a:solidFill>
                <a:schemeClr val="accent3">
                  <a:lumMod val="49000"/>
                </a:schemeClr>
              </a:solidFill>
              <a:cs typeface="Segoe U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529B56-FA04-8F4A-BBD0-961291A809D7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>
                <a:solidFill>
                  <a:schemeClr val="accent5"/>
                </a:solidFill>
              </a:rPr>
              <a:t>Versionamento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6CA5BE4-2A61-DAFD-E8D5-2EAB3E18B620}"/>
              </a:ext>
            </a:extLst>
          </p:cNvPr>
          <p:cNvSpPr/>
          <p:nvPr/>
        </p:nvSpPr>
        <p:spPr>
          <a:xfrm>
            <a:off x="450848" y="1420569"/>
            <a:ext cx="5423479" cy="67799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bg1"/>
                </a:solidFill>
              </a:rPr>
              <a:t>O que o versionamento registra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9E50222-77FE-3DF6-013F-DEEF8145AF9C}"/>
              </a:ext>
            </a:extLst>
          </p:cNvPr>
          <p:cNvSpPr/>
          <p:nvPr/>
        </p:nvSpPr>
        <p:spPr>
          <a:xfrm>
            <a:off x="6232813" y="1420568"/>
            <a:ext cx="5423479" cy="67799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>
                <a:solidFill>
                  <a:schemeClr val="bg1"/>
                </a:solidFill>
              </a:rPr>
              <a:t>Código sem versionamento</a:t>
            </a:r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184BAA93-39D1-BB4F-3F57-925B07A2E9D2}"/>
              </a:ext>
            </a:extLst>
          </p:cNvPr>
          <p:cNvSpPr/>
          <p:nvPr/>
        </p:nvSpPr>
        <p:spPr>
          <a:xfrm>
            <a:off x="450848" y="2098562"/>
            <a:ext cx="5423479" cy="415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</p:spPr>
        <p:txBody>
          <a:bodyPr/>
          <a:lstStyle/>
          <a:p>
            <a:pPr lvl="0"/>
            <a:endParaRPr lang="en-US" sz="2400" b="1" dirty="0">
              <a:solidFill>
                <a:srgbClr val="F4511E"/>
              </a:solidFill>
              <a:latin typeface="Calibri" pitchFamily="34" charset="0"/>
              <a:cs typeface="Calibri" pitchFamily="34" charset="-12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/>
                </a:solidFill>
              </a:rPr>
              <a:t>Quem fez cada mudança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/>
                </a:solidFill>
              </a:rPr>
              <a:t>O que foi alterado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/>
                </a:solidFill>
              </a:rPr>
              <a:t>Quando aconteceu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/>
                </a:solidFill>
              </a:rPr>
              <a:t>Permite reverter para qualquer versão anterior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/>
                </a:solidFill>
              </a:rPr>
              <a:t>Permite que múltiplas pessoas trabalhem juntas</a:t>
            </a:r>
          </a:p>
          <a:p>
            <a:endParaRPr lang="pt-BR" sz="2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1B05B493-D16A-31B0-5F99-2CA69A273C02}"/>
              </a:ext>
            </a:extLst>
          </p:cNvPr>
          <p:cNvSpPr/>
          <p:nvPr/>
        </p:nvSpPr>
        <p:spPr>
          <a:xfrm>
            <a:off x="6232813" y="2098562"/>
            <a:ext cx="5423479" cy="461956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</p:spPr>
        <p:txBody>
          <a:bodyPr/>
          <a:lstStyle/>
          <a:p>
            <a:pPr lvl="0"/>
            <a:r>
              <a:rPr lang="pt-BR" sz="2000" b="1" dirty="0">
                <a:solidFill>
                  <a:schemeClr val="accent5"/>
                </a:solidFill>
              </a:rPr>
              <a:t>Arquivos perdidos: </a:t>
            </a:r>
            <a:r>
              <a:rPr lang="pt-BR" sz="2000" dirty="0">
                <a:solidFill>
                  <a:schemeClr val="accent5"/>
                </a:solidFill>
              </a:rPr>
              <a:t>sobrescrever trabalhos sem querer e não conseguir recuperar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accent5"/>
              </a:solidFill>
            </a:endParaRPr>
          </a:p>
          <a:p>
            <a:pPr lvl="0"/>
            <a:r>
              <a:rPr lang="pt-BR" sz="2000" b="1" dirty="0">
                <a:solidFill>
                  <a:schemeClr val="accent5"/>
                </a:solidFill>
              </a:rPr>
              <a:t>Conflitos de equipe: </a:t>
            </a:r>
            <a:r>
              <a:rPr lang="pt-BR" sz="2000" dirty="0">
                <a:solidFill>
                  <a:schemeClr val="accent5"/>
                </a:solidFill>
              </a:rPr>
              <a:t>dois desenvolvedores editam o mesmo arquivo e um perde o trabalho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accent5"/>
              </a:solidFill>
            </a:endParaRPr>
          </a:p>
          <a:p>
            <a:pPr lvl="0"/>
            <a:r>
              <a:rPr lang="pt-BR" sz="2000" b="1" dirty="0">
                <a:solidFill>
                  <a:schemeClr val="accent5"/>
                </a:solidFill>
              </a:rPr>
              <a:t>Sem histórico: </a:t>
            </a:r>
            <a:r>
              <a:rPr lang="pt-BR" sz="2000" dirty="0" err="1">
                <a:solidFill>
                  <a:schemeClr val="accent5"/>
                </a:solidFill>
              </a:rPr>
              <a:t>nao</a:t>
            </a:r>
            <a:r>
              <a:rPr lang="pt-BR" sz="2000" dirty="0">
                <a:solidFill>
                  <a:schemeClr val="accent5"/>
                </a:solidFill>
              </a:rPr>
              <a:t> saber o que mudou, quando e por que o bug apareceu</a:t>
            </a:r>
          </a:p>
          <a:p>
            <a:pPr lvl="0"/>
            <a:endParaRPr lang="pt-BR" sz="2000" dirty="0">
              <a:solidFill>
                <a:schemeClr val="accent5"/>
              </a:solidFill>
            </a:endParaRPr>
          </a:p>
          <a:p>
            <a:pPr lvl="0"/>
            <a:r>
              <a:rPr lang="pt-BR" sz="2000" b="1" dirty="0">
                <a:solidFill>
                  <a:schemeClr val="accent5"/>
                </a:solidFill>
              </a:rPr>
              <a:t>Sem </a:t>
            </a:r>
            <a:r>
              <a:rPr lang="pt-BR" sz="2000" b="1" dirty="0" err="1">
                <a:solidFill>
                  <a:srgbClr val="C00000"/>
                </a:solidFill>
              </a:rPr>
              <a:t>rollback</a:t>
            </a:r>
            <a:r>
              <a:rPr lang="pt-BR" sz="2000" b="1" dirty="0">
                <a:solidFill>
                  <a:srgbClr val="C00000"/>
                </a:solidFill>
              </a:rPr>
              <a:t>*</a:t>
            </a:r>
            <a:r>
              <a:rPr lang="pt-BR" sz="2000" b="1" dirty="0">
                <a:solidFill>
                  <a:schemeClr val="accent5"/>
                </a:solidFill>
              </a:rPr>
              <a:t>: </a:t>
            </a:r>
            <a:r>
              <a:rPr lang="pt-BR" sz="2000" dirty="0" err="1">
                <a:solidFill>
                  <a:schemeClr val="accent5"/>
                </a:solidFill>
              </a:rPr>
              <a:t>impossivel</a:t>
            </a:r>
            <a:r>
              <a:rPr lang="pt-BR" sz="2000" dirty="0">
                <a:solidFill>
                  <a:schemeClr val="accent5"/>
                </a:solidFill>
              </a:rPr>
              <a:t> voltar para uma </a:t>
            </a:r>
            <a:r>
              <a:rPr lang="pt-BR" sz="2000" dirty="0" err="1">
                <a:solidFill>
                  <a:schemeClr val="accent5"/>
                </a:solidFill>
              </a:rPr>
              <a:t>versao</a:t>
            </a:r>
            <a:r>
              <a:rPr lang="pt-BR" sz="2000" dirty="0">
                <a:solidFill>
                  <a:schemeClr val="accent5"/>
                </a:solidFill>
              </a:rPr>
              <a:t> que funcionava antes do bug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accent5"/>
              </a:solidFill>
            </a:endParaRPr>
          </a:p>
          <a:p>
            <a:r>
              <a:rPr lang="pt-BR" sz="2000" b="1" dirty="0">
                <a:solidFill>
                  <a:schemeClr val="accent5"/>
                </a:solidFill>
              </a:rPr>
              <a:t>Sem colaboração: </a:t>
            </a:r>
            <a:r>
              <a:rPr lang="pt-BR" sz="2000" dirty="0">
                <a:solidFill>
                  <a:schemeClr val="accent5"/>
                </a:solidFill>
              </a:rPr>
              <a:t>compartilhar código por </a:t>
            </a:r>
            <a:r>
              <a:rPr lang="pt-BR" sz="2000" dirty="0" err="1">
                <a:solidFill>
                  <a:schemeClr val="accent5"/>
                </a:solidFill>
              </a:rPr>
              <a:t>pendrive</a:t>
            </a:r>
            <a:r>
              <a:rPr lang="pt-BR" sz="2000" dirty="0">
                <a:solidFill>
                  <a:schemeClr val="accent5"/>
                </a:solidFill>
              </a:rPr>
              <a:t> é lento, inseguro e propenso a erros.</a:t>
            </a:r>
          </a:p>
          <a:p>
            <a:endParaRPr lang="pt-BR" sz="20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CA90EA9-8E23-B402-13B8-4332F3C02DB8}"/>
              </a:ext>
            </a:extLst>
          </p:cNvPr>
          <p:cNvSpPr txBox="1"/>
          <p:nvPr/>
        </p:nvSpPr>
        <p:spPr>
          <a:xfrm>
            <a:off x="450847" y="6412441"/>
            <a:ext cx="5508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 err="1">
                <a:solidFill>
                  <a:srgbClr val="C00000"/>
                </a:solidFill>
              </a:rPr>
              <a:t>Rollback</a:t>
            </a:r>
            <a:r>
              <a:rPr lang="pt-BR" sz="1800" b="1" dirty="0">
                <a:solidFill>
                  <a:srgbClr val="C00000"/>
                </a:solidFill>
              </a:rPr>
              <a:t>: Voltar para a versão anterior do código</a:t>
            </a:r>
          </a:p>
        </p:txBody>
      </p:sp>
    </p:spTree>
    <p:extLst>
      <p:ext uri="{BB962C8B-B14F-4D97-AF65-F5344CB8AC3E}">
        <p14:creationId xmlns:p14="http://schemas.microsoft.com/office/powerpoint/2010/main" val="9038872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649AC-DA96-EB4A-8E1F-C03D95401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2C2D622C-BE08-B724-1991-90040738E83C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6713090-E29D-169B-9816-04C22FD6A64D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 err="1">
                <a:solidFill>
                  <a:schemeClr val="accent3">
                    <a:lumMod val="49000"/>
                  </a:schemeClr>
                </a:solidFill>
              </a:rPr>
              <a:t>Subtitulo</a:t>
            </a:r>
            <a:endParaRPr lang="pt-BR" sz="2000" dirty="0">
              <a:solidFill>
                <a:schemeClr val="accent3">
                  <a:lumMod val="49000"/>
                </a:schemeClr>
              </a:solidFill>
              <a:cs typeface="Segoe U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B1C28A8-4E2F-188B-7DFC-62C8AC2697BA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>
                <a:solidFill>
                  <a:schemeClr val="accent5"/>
                </a:solidFill>
              </a:rPr>
              <a:t>Versionamento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7AC074-B04E-5B5A-7E5E-2134C9BF373A}"/>
              </a:ext>
            </a:extLst>
          </p:cNvPr>
          <p:cNvSpPr txBox="1"/>
          <p:nvPr/>
        </p:nvSpPr>
        <p:spPr>
          <a:xfrm>
            <a:off x="460744" y="1802018"/>
            <a:ext cx="11446490" cy="23852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buNone/>
            </a:pPr>
            <a:r>
              <a:rPr lang="pt-BR" sz="2400" b="1" dirty="0">
                <a:solidFill>
                  <a:srgbClr val="00456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💡 Analogia</a:t>
            </a:r>
            <a:endParaRPr lang="pt-BR" sz="2400" dirty="0">
              <a:solidFill>
                <a:srgbClr val="004568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endParaRPr lang="pt-BR" sz="2400" b="1" dirty="0">
              <a:solidFill>
                <a:srgbClr val="004568"/>
              </a:solidFill>
              <a:latin typeface="Arial"/>
              <a:ea typeface="Arial" panose="020B0604020202020204" pitchFamily="34" charset="0"/>
              <a:cs typeface="Arial"/>
            </a:endParaRPr>
          </a:p>
          <a:p>
            <a:pPr>
              <a:buNone/>
            </a:pPr>
            <a:r>
              <a:rPr lang="pt-BR" sz="2400" dirty="0">
                <a:solidFill>
                  <a:srgbClr val="004568"/>
                </a:solidFill>
                <a:effectLst/>
                <a:latin typeface="Arial"/>
                <a:ea typeface="Arial" panose="020B0604020202020204" pitchFamily="34" charset="0"/>
                <a:cs typeface="Arial"/>
              </a:rPr>
              <a:t>O versionamento de código funciona como o histórico de edições do Google </a:t>
            </a:r>
            <a:r>
              <a:rPr lang="pt-BR" sz="2400" err="1">
                <a:solidFill>
                  <a:srgbClr val="004568"/>
                </a:solidFill>
                <a:effectLst/>
                <a:latin typeface="Arial"/>
                <a:ea typeface="Arial" panose="020B0604020202020204" pitchFamily="34" charset="0"/>
                <a:cs typeface="Arial"/>
              </a:rPr>
              <a:t>Docs</a:t>
            </a:r>
            <a:r>
              <a:rPr lang="pt-BR" sz="2400" dirty="0">
                <a:solidFill>
                  <a:srgbClr val="004568"/>
                </a:solidFill>
                <a:effectLst/>
                <a:latin typeface="Arial"/>
                <a:ea typeface="Arial" panose="020B0604020202020204" pitchFamily="34" charset="0"/>
                <a:cs typeface="Arial"/>
              </a:rPr>
              <a:t>: você pode ver cada versão do documento, quem fez cada alteração e restaurar qualquer versão anterior com um clique. A diferença é que o </a:t>
            </a:r>
            <a:r>
              <a:rPr lang="pt-BR" sz="2400" err="1">
                <a:solidFill>
                  <a:srgbClr val="004568"/>
                </a:solidFill>
                <a:effectLst/>
                <a:latin typeface="Arial"/>
                <a:ea typeface="Arial" panose="020B0604020202020204" pitchFamily="34" charset="0"/>
                <a:cs typeface="Arial"/>
              </a:rPr>
              <a:t>Git</a:t>
            </a:r>
            <a:r>
              <a:rPr lang="pt-BR" sz="2400" dirty="0">
                <a:solidFill>
                  <a:srgbClr val="004568"/>
                </a:solidFill>
                <a:effectLst/>
                <a:latin typeface="Arial"/>
                <a:ea typeface="Arial" panose="020B0604020202020204" pitchFamily="34" charset="0"/>
                <a:cs typeface="Arial"/>
              </a:rPr>
              <a:t> faz isso com código, de forma muito mais poderosa e controlada.</a:t>
            </a:r>
            <a:endParaRPr lang="pt-BR" sz="2400" dirty="0">
              <a:solidFill>
                <a:srgbClr val="004568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905043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D30C13-62D2-0B48-F5B0-7C3B7BFF5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C28B36D-61E1-D441-F669-A3E041160CDC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3E81779-0C18-38CC-66D9-B5D6EE63BEE9}"/>
              </a:ext>
            </a:extLst>
          </p:cNvPr>
          <p:cNvSpPr txBox="1"/>
          <p:nvPr/>
        </p:nvSpPr>
        <p:spPr>
          <a:xfrm>
            <a:off x="450848" y="269680"/>
            <a:ext cx="11873808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600" b="1" dirty="0" err="1">
                <a:solidFill>
                  <a:schemeClr val="bg1"/>
                </a:solidFill>
                <a:latin typeface="Segoe UI"/>
                <a:cs typeface="Segoe UI Semibold"/>
              </a:rPr>
              <a:t>Git</a:t>
            </a:r>
            <a:endParaRPr lang="pt-BR" sz="3600" b="1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B3E548B-7A26-2DB7-59F5-7F9B412DDB77}"/>
              </a:ext>
            </a:extLst>
          </p:cNvPr>
          <p:cNvSpPr txBox="1"/>
          <p:nvPr/>
        </p:nvSpPr>
        <p:spPr>
          <a:xfrm>
            <a:off x="424872" y="853848"/>
            <a:ext cx="6160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dirty="0">
                <a:solidFill>
                  <a:schemeClr val="accent4">
                    <a:lumMod val="75000"/>
                  </a:schemeClr>
                </a:solidFill>
                <a:latin typeface="Segoe UI Semibold"/>
                <a:cs typeface="Segoe UI Semibold"/>
              </a:rPr>
              <a:t> </a:t>
            </a:r>
            <a:r>
              <a:rPr lang="pt-BR" sz="2000" dirty="0" err="1">
                <a:solidFill>
                  <a:schemeClr val="accent4">
                    <a:lumMod val="75000"/>
                  </a:schemeClr>
                </a:solidFill>
                <a:latin typeface="Segoe UI Semibold"/>
                <a:cs typeface="Segoe UI Semibold"/>
              </a:rPr>
              <a:t>Traducao</a:t>
            </a:r>
            <a:endParaRPr lang="pt-BR" sz="2000" dirty="0">
              <a:solidFill>
                <a:schemeClr val="accent4">
                  <a:lumMod val="75000"/>
                </a:schemeClr>
              </a:solidFill>
              <a:latin typeface="Segoe UI Semibold"/>
              <a:cs typeface="Segoe UI Semibold"/>
            </a:endParaRPr>
          </a:p>
        </p:txBody>
      </p:sp>
      <p:pic>
        <p:nvPicPr>
          <p:cNvPr id="5128" name="Picture 8">
            <a:extLst>
              <a:ext uri="{FF2B5EF4-FFF2-40B4-BE49-F238E27FC236}">
                <a16:creationId xmlns:a16="http://schemas.microsoft.com/office/drawing/2014/main" id="{FED0BA03-A0C2-8F68-3036-289058BEF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2" y="1904606"/>
            <a:ext cx="3648075" cy="364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37672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C5AE0-165A-E188-2939-E548CFAE0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F9B19FDB-E6EB-56BC-FD7B-606B5751127F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B1FE179-3447-4A4D-B576-74373A78BF8C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 err="1">
                <a:solidFill>
                  <a:schemeClr val="accent3">
                    <a:lumMod val="49000"/>
                  </a:schemeClr>
                </a:solidFill>
              </a:rPr>
              <a:t>Subtitulo</a:t>
            </a:r>
            <a:endParaRPr lang="pt-BR" sz="2000" dirty="0">
              <a:solidFill>
                <a:schemeClr val="accent3">
                  <a:lumMod val="49000"/>
                </a:schemeClr>
              </a:solidFill>
              <a:cs typeface="Segoe U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087145B-DAB3-C116-FE90-72B15F924DCE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>
                <a:solidFill>
                  <a:schemeClr val="accent5"/>
                </a:solidFill>
              </a:rPr>
              <a:t>O que é </a:t>
            </a:r>
            <a:r>
              <a:rPr lang="pt-BR" sz="3200" b="1" dirty="0" err="1">
                <a:solidFill>
                  <a:schemeClr val="accent5"/>
                </a:solidFill>
              </a:rPr>
              <a:t>Git</a:t>
            </a:r>
            <a:r>
              <a:rPr lang="pt-BR" sz="3200" b="1" dirty="0">
                <a:solidFill>
                  <a:schemeClr val="accent5"/>
                </a:solidFill>
              </a:rPr>
              <a:t>?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4CA1FF1-98B8-26B7-FC3E-BDD205882799}"/>
              </a:ext>
            </a:extLst>
          </p:cNvPr>
          <p:cNvSpPr txBox="1"/>
          <p:nvPr/>
        </p:nvSpPr>
        <p:spPr>
          <a:xfrm>
            <a:off x="397163" y="1802018"/>
            <a:ext cx="11354759" cy="489364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400" dirty="0" err="1">
                <a:solidFill>
                  <a:schemeClr val="accent5"/>
                </a:solidFill>
              </a:rPr>
              <a:t>Git</a:t>
            </a:r>
            <a:r>
              <a:rPr lang="pt-BR" sz="2400" dirty="0">
                <a:solidFill>
                  <a:schemeClr val="accent5"/>
                </a:solidFill>
              </a:rPr>
              <a:t> é o sistema de controle de versão mais utilizado no mundo. </a:t>
            </a:r>
          </a:p>
          <a:p>
            <a:endParaRPr lang="pt-BR" sz="2400" dirty="0">
              <a:solidFill>
                <a:schemeClr val="accent5"/>
              </a:solidFill>
            </a:endParaRPr>
          </a:p>
          <a:p>
            <a:r>
              <a:rPr lang="pt-BR" sz="2400" dirty="0">
                <a:solidFill>
                  <a:schemeClr val="accent5"/>
                </a:solidFill>
              </a:rPr>
              <a:t>Foi criado em 2005 por Linus Torvalds( o mesmo criador do sistema operacional Linux) porque as ferramentas da época não eram rápidas ou eficientes o suficiente para gerenciar um projeto do tamanho do kernel do Linux.</a:t>
            </a:r>
          </a:p>
          <a:p>
            <a:r>
              <a:rPr lang="pt-BR" sz="2400" dirty="0">
                <a:solidFill>
                  <a:schemeClr val="accent5"/>
                </a:solidFill>
              </a:rPr>
              <a:t> </a:t>
            </a:r>
          </a:p>
          <a:p>
            <a:endParaRPr lang="pt-BR" sz="2400" dirty="0">
              <a:solidFill>
                <a:schemeClr val="accent5"/>
              </a:solidFill>
            </a:endParaRPr>
          </a:p>
          <a:p>
            <a:endParaRPr lang="pt-BR" sz="2400" dirty="0">
              <a:solidFill>
                <a:schemeClr val="accent5"/>
              </a:solidFill>
            </a:endParaRPr>
          </a:p>
          <a:p>
            <a:endParaRPr lang="pt-BR" sz="2400" dirty="0">
              <a:solidFill>
                <a:schemeClr val="accent5"/>
              </a:solidFill>
            </a:endParaRPr>
          </a:p>
          <a:p>
            <a:r>
              <a:rPr lang="pt-BR" sz="2400" dirty="0">
                <a:solidFill>
                  <a:schemeClr val="accent5"/>
                </a:solidFill>
              </a:rPr>
              <a:t>Hoje, praticamente todas as empresas de tecnologia do mundo usam </a:t>
            </a:r>
            <a:r>
              <a:rPr lang="pt-BR" sz="2400" dirty="0" err="1">
                <a:solidFill>
                  <a:schemeClr val="accent5"/>
                </a:solidFill>
              </a:rPr>
              <a:t>Git</a:t>
            </a:r>
            <a:r>
              <a:rPr lang="pt-BR" sz="2400" dirty="0">
                <a:solidFill>
                  <a:schemeClr val="accent5"/>
                </a:solidFill>
              </a:rPr>
              <a:t>: </a:t>
            </a:r>
          </a:p>
          <a:p>
            <a:r>
              <a:rPr lang="pt-BR" sz="2400" dirty="0">
                <a:solidFill>
                  <a:schemeClr val="accent5"/>
                </a:solidFill>
              </a:rPr>
              <a:t>Google, Microsoft, Apple, Facebook, Netflix, </a:t>
            </a:r>
            <a:r>
              <a:rPr lang="pt-BR" sz="2400" dirty="0" err="1">
                <a:solidFill>
                  <a:schemeClr val="accent5"/>
                </a:solidFill>
              </a:rPr>
              <a:t>Amazon</a:t>
            </a:r>
            <a:r>
              <a:rPr lang="pt-BR" sz="2400" dirty="0">
                <a:solidFill>
                  <a:schemeClr val="accent5"/>
                </a:solidFill>
              </a:rPr>
              <a:t>... </a:t>
            </a:r>
          </a:p>
          <a:p>
            <a:endParaRPr lang="pt-BR" sz="2400" dirty="0">
              <a:solidFill>
                <a:schemeClr val="accent5"/>
              </a:solidFill>
            </a:endParaRPr>
          </a:p>
          <a:p>
            <a:r>
              <a:rPr lang="pt-BR" sz="2400" dirty="0">
                <a:solidFill>
                  <a:schemeClr val="accent5"/>
                </a:solidFill>
              </a:rPr>
              <a:t>Saber </a:t>
            </a:r>
            <a:r>
              <a:rPr lang="pt-BR" sz="2400" dirty="0" err="1">
                <a:solidFill>
                  <a:schemeClr val="accent5"/>
                </a:solidFill>
              </a:rPr>
              <a:t>Git</a:t>
            </a:r>
            <a:r>
              <a:rPr lang="pt-BR" sz="2400" dirty="0">
                <a:solidFill>
                  <a:schemeClr val="accent5"/>
                </a:solidFill>
              </a:rPr>
              <a:t> não é um diferencial no mercado de trabalho e é um requisito básico.</a:t>
            </a:r>
          </a:p>
        </p:txBody>
      </p:sp>
    </p:spTree>
    <p:extLst>
      <p:ext uri="{BB962C8B-B14F-4D97-AF65-F5344CB8AC3E}">
        <p14:creationId xmlns:p14="http://schemas.microsoft.com/office/powerpoint/2010/main" val="355345626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B009F-66B7-A0AD-5DDB-F83CF428B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0505D9F4-9FFF-CBBC-A6FF-8A378C9F7658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C7BBFBA-FA99-027F-102D-2349D89E4E7D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 err="1">
                <a:solidFill>
                  <a:schemeClr val="accent3">
                    <a:lumMod val="49000"/>
                  </a:schemeClr>
                </a:solidFill>
              </a:rPr>
              <a:t>Subtitulo</a:t>
            </a:r>
            <a:endParaRPr lang="pt-BR" sz="2000" dirty="0">
              <a:solidFill>
                <a:schemeClr val="accent3">
                  <a:lumMod val="49000"/>
                </a:schemeClr>
              </a:solidFill>
              <a:cs typeface="Segoe U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5BC38E2-8667-90FB-026E-1D2F7CBC365F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>
                <a:solidFill>
                  <a:schemeClr val="accent5"/>
                </a:solidFill>
              </a:rPr>
              <a:t>Características principais do </a:t>
            </a:r>
            <a:r>
              <a:rPr lang="pt-BR" sz="3200" b="1" dirty="0" err="1">
                <a:solidFill>
                  <a:schemeClr val="accent5"/>
                </a:solidFill>
              </a:rPr>
              <a:t>Git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ECF2BEE3-4B88-0A63-C759-638ED16D3A4F}"/>
              </a:ext>
            </a:extLst>
          </p:cNvPr>
          <p:cNvGrpSpPr/>
          <p:nvPr/>
        </p:nvGrpSpPr>
        <p:grpSpPr>
          <a:xfrm>
            <a:off x="450848" y="1713144"/>
            <a:ext cx="10911950" cy="902984"/>
            <a:chOff x="450847" y="3384433"/>
            <a:chExt cx="5209723" cy="902984"/>
          </a:xfrm>
        </p:grpSpPr>
        <p:sp>
          <p:nvSpPr>
            <p:cNvPr id="6" name="Shape 8">
              <a:extLst>
                <a:ext uri="{FF2B5EF4-FFF2-40B4-BE49-F238E27FC236}">
                  <a16:creationId xmlns:a16="http://schemas.microsoft.com/office/drawing/2014/main" id="{7070EE92-B1C7-111B-5471-914B9084044C}"/>
                </a:ext>
              </a:extLst>
            </p:cNvPr>
            <p:cNvSpPr/>
            <p:nvPr/>
          </p:nvSpPr>
          <p:spPr>
            <a:xfrm>
              <a:off x="450847" y="3384434"/>
              <a:ext cx="5209723" cy="899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3ED"/>
              </a:solidFill>
              <a:prstDash val="solid"/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" name="Shape 9">
              <a:extLst>
                <a:ext uri="{FF2B5EF4-FFF2-40B4-BE49-F238E27FC236}">
                  <a16:creationId xmlns:a16="http://schemas.microsoft.com/office/drawing/2014/main" id="{CDCECF52-6A09-FB90-127E-9D9214655708}"/>
                </a:ext>
              </a:extLst>
            </p:cNvPr>
            <p:cNvSpPr/>
            <p:nvPr/>
          </p:nvSpPr>
          <p:spPr>
            <a:xfrm>
              <a:off x="451796" y="3384433"/>
              <a:ext cx="103719" cy="902984"/>
            </a:xfrm>
            <a:prstGeom prst="rect">
              <a:avLst/>
            </a:prstGeom>
            <a:solidFill>
              <a:srgbClr val="2B6CB0"/>
            </a:solidFill>
            <a:ln w="12700">
              <a:solidFill>
                <a:srgbClr val="2B6CB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10">
              <a:extLst>
                <a:ext uri="{FF2B5EF4-FFF2-40B4-BE49-F238E27FC236}">
                  <a16:creationId xmlns:a16="http://schemas.microsoft.com/office/drawing/2014/main" id="{86383F6B-9914-E20A-ED9E-CE4DEDD84C3B}"/>
                </a:ext>
              </a:extLst>
            </p:cNvPr>
            <p:cNvSpPr/>
            <p:nvPr/>
          </p:nvSpPr>
          <p:spPr>
            <a:xfrm>
              <a:off x="615440" y="3421622"/>
              <a:ext cx="4862408" cy="455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2B6C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DISTRIBUÍDO</a:t>
              </a:r>
              <a:endParaRPr lang="en-US" sz="2200" dirty="0"/>
            </a:p>
          </p:txBody>
        </p:sp>
        <p:sp>
          <p:nvSpPr>
            <p:cNvPr id="10" name="Text 11">
              <a:extLst>
                <a:ext uri="{FF2B5EF4-FFF2-40B4-BE49-F238E27FC236}">
                  <a16:creationId xmlns:a16="http://schemas.microsoft.com/office/drawing/2014/main" id="{C468A105-90E5-AD67-2B9B-89ED8E4F4D14}"/>
                </a:ext>
              </a:extLst>
            </p:cNvPr>
            <p:cNvSpPr/>
            <p:nvPr/>
          </p:nvSpPr>
          <p:spPr>
            <a:xfrm>
              <a:off x="615440" y="3831969"/>
              <a:ext cx="5045130" cy="455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20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Cada desenvolvedor tem uma cópia completa do repositório. Funciona sem internet.</a:t>
              </a:r>
              <a:endParaRPr lang="en-US" sz="2200" dirty="0"/>
            </a:p>
          </p:txBody>
        </p:sp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208FF9FE-658F-85A6-C572-A4E040BE76E8}"/>
              </a:ext>
            </a:extLst>
          </p:cNvPr>
          <p:cNvGrpSpPr/>
          <p:nvPr/>
        </p:nvGrpSpPr>
        <p:grpSpPr>
          <a:xfrm>
            <a:off x="450848" y="2959267"/>
            <a:ext cx="10992988" cy="902985"/>
            <a:chOff x="450848" y="2977507"/>
            <a:chExt cx="10992988" cy="902985"/>
          </a:xfrm>
        </p:grpSpPr>
        <p:sp>
          <p:nvSpPr>
            <p:cNvPr id="34" name="Shape 8">
              <a:extLst>
                <a:ext uri="{FF2B5EF4-FFF2-40B4-BE49-F238E27FC236}">
                  <a16:creationId xmlns:a16="http://schemas.microsoft.com/office/drawing/2014/main" id="{A972F6D7-970C-9D24-717F-1BC8B5171A16}"/>
                </a:ext>
              </a:extLst>
            </p:cNvPr>
            <p:cNvSpPr/>
            <p:nvPr/>
          </p:nvSpPr>
          <p:spPr>
            <a:xfrm>
              <a:off x="450848" y="2977508"/>
              <a:ext cx="10911950" cy="9029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3ED"/>
              </a:solidFill>
              <a:prstDash val="solid"/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35" name="Shape 9">
              <a:extLst>
                <a:ext uri="{FF2B5EF4-FFF2-40B4-BE49-F238E27FC236}">
                  <a16:creationId xmlns:a16="http://schemas.microsoft.com/office/drawing/2014/main" id="{6A20E60C-2CCC-0A99-0620-0755AF0BE310}"/>
                </a:ext>
              </a:extLst>
            </p:cNvPr>
            <p:cNvSpPr/>
            <p:nvPr/>
          </p:nvSpPr>
          <p:spPr>
            <a:xfrm>
              <a:off x="452704" y="2977507"/>
              <a:ext cx="202842" cy="902984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Text 10">
              <a:extLst>
                <a:ext uri="{FF2B5EF4-FFF2-40B4-BE49-F238E27FC236}">
                  <a16:creationId xmlns:a16="http://schemas.microsoft.com/office/drawing/2014/main" id="{40B570AD-4CF7-DBA1-F076-80CF33DFBE1C}"/>
                </a:ext>
              </a:extLst>
            </p:cNvPr>
            <p:cNvSpPr/>
            <p:nvPr/>
          </p:nvSpPr>
          <p:spPr>
            <a:xfrm>
              <a:off x="772740" y="3014696"/>
              <a:ext cx="9509338" cy="455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000" b="1" dirty="0">
                  <a:solidFill>
                    <a:srgbClr val="27674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RÁPIDO</a:t>
              </a:r>
              <a:endParaRPr lang="en-US" sz="2000" dirty="0"/>
            </a:p>
          </p:txBody>
        </p:sp>
        <p:sp>
          <p:nvSpPr>
            <p:cNvPr id="37" name="Text 11">
              <a:extLst>
                <a:ext uri="{FF2B5EF4-FFF2-40B4-BE49-F238E27FC236}">
                  <a16:creationId xmlns:a16="http://schemas.microsoft.com/office/drawing/2014/main" id="{70676409-CFF1-0880-E719-BAA6BABEFA03}"/>
                </a:ext>
              </a:extLst>
            </p:cNvPr>
            <p:cNvSpPr/>
            <p:nvPr/>
          </p:nvSpPr>
          <p:spPr>
            <a:xfrm>
              <a:off x="646479" y="3419875"/>
              <a:ext cx="10797357" cy="3728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400" dirty="0" err="1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Operações</a:t>
              </a:r>
              <a:r>
                <a:rPr lang="en-US" sz="240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400" dirty="0" err="1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locais</a:t>
              </a:r>
              <a:r>
                <a:rPr lang="en-US" sz="240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400" dirty="0" err="1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são</a:t>
              </a:r>
              <a:r>
                <a:rPr lang="en-US" sz="240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400" dirty="0" err="1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muito</a:t>
              </a:r>
              <a:r>
                <a:rPr lang="en-US" sz="240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400" dirty="0" err="1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rápidas</a:t>
              </a:r>
              <a:r>
                <a:rPr lang="en-US" sz="240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 Commits, branches e merges </a:t>
              </a:r>
              <a:r>
                <a:rPr lang="en-US" sz="2400" dirty="0" err="1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</a:t>
              </a:r>
              <a:r>
                <a:rPr lang="en-US" sz="240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400" dirty="0" err="1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milissegundos</a:t>
              </a:r>
              <a:r>
                <a:rPr lang="en-US" sz="240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2400" dirty="0"/>
            </a:p>
          </p:txBody>
        </p:sp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F6BA25E2-BD72-5DD2-CDA5-6E39E9825DBB}"/>
              </a:ext>
            </a:extLst>
          </p:cNvPr>
          <p:cNvGrpSpPr/>
          <p:nvPr/>
        </p:nvGrpSpPr>
        <p:grpSpPr>
          <a:xfrm>
            <a:off x="450848" y="4267430"/>
            <a:ext cx="10911950" cy="902984"/>
            <a:chOff x="450847" y="3384433"/>
            <a:chExt cx="5209723" cy="902984"/>
          </a:xfrm>
        </p:grpSpPr>
        <p:sp>
          <p:nvSpPr>
            <p:cNvPr id="40" name="Shape 8">
              <a:extLst>
                <a:ext uri="{FF2B5EF4-FFF2-40B4-BE49-F238E27FC236}">
                  <a16:creationId xmlns:a16="http://schemas.microsoft.com/office/drawing/2014/main" id="{DDFEB344-D730-41A8-5759-D95617CF81AE}"/>
                </a:ext>
              </a:extLst>
            </p:cNvPr>
            <p:cNvSpPr/>
            <p:nvPr/>
          </p:nvSpPr>
          <p:spPr>
            <a:xfrm>
              <a:off x="450847" y="3384434"/>
              <a:ext cx="5209723" cy="899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3ED"/>
              </a:solidFill>
              <a:prstDash val="solid"/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41" name="Shape 9">
              <a:extLst>
                <a:ext uri="{FF2B5EF4-FFF2-40B4-BE49-F238E27FC236}">
                  <a16:creationId xmlns:a16="http://schemas.microsoft.com/office/drawing/2014/main" id="{6CE36587-C2F8-B34E-AF68-1C8A90C71A7E}"/>
                </a:ext>
              </a:extLst>
            </p:cNvPr>
            <p:cNvSpPr/>
            <p:nvPr/>
          </p:nvSpPr>
          <p:spPr>
            <a:xfrm>
              <a:off x="451796" y="3384433"/>
              <a:ext cx="103719" cy="90298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Text 10">
              <a:extLst>
                <a:ext uri="{FF2B5EF4-FFF2-40B4-BE49-F238E27FC236}">
                  <a16:creationId xmlns:a16="http://schemas.microsoft.com/office/drawing/2014/main" id="{966CFFC1-121B-70A2-A64A-215AB379468F}"/>
                </a:ext>
              </a:extLst>
            </p:cNvPr>
            <p:cNvSpPr/>
            <p:nvPr/>
          </p:nvSpPr>
          <p:spPr>
            <a:xfrm>
              <a:off x="615440" y="3421622"/>
              <a:ext cx="4862408" cy="455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000" b="1" dirty="0">
                  <a:solidFill>
                    <a:schemeClr val="accent4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GRATUITO</a:t>
              </a:r>
              <a:endParaRPr lang="en-US" sz="2000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43" name="Text 11">
              <a:extLst>
                <a:ext uri="{FF2B5EF4-FFF2-40B4-BE49-F238E27FC236}">
                  <a16:creationId xmlns:a16="http://schemas.microsoft.com/office/drawing/2014/main" id="{E1DA8DC5-0C59-37BD-D7D7-37B0C3D2AD3C}"/>
                </a:ext>
              </a:extLst>
            </p:cNvPr>
            <p:cNvSpPr/>
            <p:nvPr/>
          </p:nvSpPr>
          <p:spPr>
            <a:xfrm>
              <a:off x="615440" y="3831969"/>
              <a:ext cx="5045130" cy="455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00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 source, </a:t>
              </a:r>
              <a:r>
                <a:rPr lang="en-US" sz="2000" dirty="0" err="1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usado</a:t>
              </a:r>
              <a:r>
                <a:rPr lang="en-US" sz="200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000" dirty="0" err="1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por</a:t>
              </a:r>
              <a:r>
                <a:rPr lang="en-US" sz="200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000" dirty="0" err="1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empresas</a:t>
              </a:r>
              <a:r>
                <a:rPr lang="en-US" sz="200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000" dirty="0" err="1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como</a:t>
              </a:r>
              <a:r>
                <a:rPr lang="en-US" sz="200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Google, Microsoft, Facebook e Netflix.</a:t>
              </a:r>
              <a:endParaRPr lang="en-US" sz="2000" dirty="0"/>
            </a:p>
          </p:txBody>
        </p:sp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50172898-C121-2BCF-6E10-AB5FEDFD3A43}"/>
              </a:ext>
            </a:extLst>
          </p:cNvPr>
          <p:cNvGrpSpPr/>
          <p:nvPr/>
        </p:nvGrpSpPr>
        <p:grpSpPr>
          <a:xfrm>
            <a:off x="424872" y="5618376"/>
            <a:ext cx="10911950" cy="902984"/>
            <a:chOff x="450847" y="3384433"/>
            <a:chExt cx="5209723" cy="902984"/>
          </a:xfrm>
        </p:grpSpPr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772BCF31-1F52-768C-D1A5-004EE52D2FF8}"/>
                </a:ext>
              </a:extLst>
            </p:cNvPr>
            <p:cNvSpPr/>
            <p:nvPr/>
          </p:nvSpPr>
          <p:spPr>
            <a:xfrm>
              <a:off x="450847" y="3384434"/>
              <a:ext cx="5209723" cy="899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3ED"/>
              </a:solidFill>
              <a:prstDash val="solid"/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740BAD7A-78E0-AA63-BC7A-D5B70123A896}"/>
                </a:ext>
              </a:extLst>
            </p:cNvPr>
            <p:cNvSpPr/>
            <p:nvPr/>
          </p:nvSpPr>
          <p:spPr>
            <a:xfrm>
              <a:off x="451796" y="3384433"/>
              <a:ext cx="103719" cy="902984"/>
            </a:xfrm>
            <a:prstGeom prst="rect">
              <a:avLst/>
            </a:prstGeom>
            <a:solidFill>
              <a:srgbClr val="FF66CC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Text 10">
              <a:extLst>
                <a:ext uri="{FF2B5EF4-FFF2-40B4-BE49-F238E27FC236}">
                  <a16:creationId xmlns:a16="http://schemas.microsoft.com/office/drawing/2014/main" id="{667429ED-4244-A69F-05A7-6B8685A8ACA6}"/>
                </a:ext>
              </a:extLst>
            </p:cNvPr>
            <p:cNvSpPr/>
            <p:nvPr/>
          </p:nvSpPr>
          <p:spPr>
            <a:xfrm>
              <a:off x="615440" y="3421622"/>
              <a:ext cx="4862408" cy="455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000" b="1" dirty="0">
                  <a:solidFill>
                    <a:srgbClr val="FF66C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RAMIFICAÇÕES</a:t>
              </a:r>
              <a:endParaRPr lang="en-US" sz="2000" dirty="0">
                <a:solidFill>
                  <a:srgbClr val="FF66CC"/>
                </a:solidFill>
              </a:endParaRPr>
            </a:p>
          </p:txBody>
        </p:sp>
        <p:sp>
          <p:nvSpPr>
            <p:cNvPr id="48" name="Text 11">
              <a:extLst>
                <a:ext uri="{FF2B5EF4-FFF2-40B4-BE49-F238E27FC236}">
                  <a16:creationId xmlns:a16="http://schemas.microsoft.com/office/drawing/2014/main" id="{C882D997-722C-D6D1-C02C-F24B0A0F9EF7}"/>
                </a:ext>
              </a:extLst>
            </p:cNvPr>
            <p:cNvSpPr/>
            <p:nvPr/>
          </p:nvSpPr>
          <p:spPr>
            <a:xfrm>
              <a:off x="615440" y="3831969"/>
              <a:ext cx="5045130" cy="455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00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Cada </a:t>
              </a:r>
              <a:r>
                <a:rPr lang="en-US" sz="2000" dirty="0" err="1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desenvolvedor</a:t>
              </a:r>
              <a:r>
                <a:rPr lang="en-US" sz="200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000" dirty="0" err="1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tem</a:t>
              </a:r>
              <a:r>
                <a:rPr lang="en-US" sz="200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000" dirty="0" err="1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uma</a:t>
              </a:r>
              <a:r>
                <a:rPr lang="en-US" sz="200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000" dirty="0" err="1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cópia</a:t>
              </a:r>
              <a:r>
                <a:rPr lang="en-US" sz="200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completa do </a:t>
              </a:r>
              <a:r>
                <a:rPr lang="en-US" sz="2000" dirty="0" err="1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repositório</a:t>
              </a:r>
              <a:r>
                <a:rPr lang="en-US" sz="200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 </a:t>
              </a:r>
              <a:r>
                <a:rPr lang="en-US" sz="2000" dirty="0" err="1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Funciona</a:t>
              </a:r>
              <a:r>
                <a:rPr lang="en-US" sz="200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000" dirty="0" err="1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sem</a:t>
              </a:r>
              <a:r>
                <a:rPr lang="en-US" sz="200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internet.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85166054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A429B-38D1-55EA-7185-5EBAA2B1A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6A88A983-A178-F6CB-A02B-18AEB4BAC873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9D3EE80-FDF5-D01D-4140-E1FD38B361C1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 err="1">
                <a:solidFill>
                  <a:schemeClr val="accent3">
                    <a:lumMod val="49000"/>
                  </a:schemeClr>
                </a:solidFill>
              </a:rPr>
              <a:t>Subtitulo</a:t>
            </a:r>
            <a:endParaRPr lang="pt-BR" sz="2000" dirty="0">
              <a:solidFill>
                <a:schemeClr val="accent3">
                  <a:lumMod val="49000"/>
                </a:schemeClr>
              </a:solidFill>
              <a:cs typeface="Segoe U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172A8F8-4B79-46CC-E783-01B4A1E0C8FE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>
                <a:solidFill>
                  <a:schemeClr val="accent5"/>
                </a:solidFill>
              </a:rPr>
              <a:t>Diferença de </a:t>
            </a:r>
            <a:r>
              <a:rPr lang="pt-BR" sz="3200" b="1" dirty="0" err="1">
                <a:solidFill>
                  <a:schemeClr val="accent5"/>
                </a:solidFill>
              </a:rPr>
              <a:t>git</a:t>
            </a:r>
            <a:r>
              <a:rPr lang="pt-BR" sz="3200" b="1" dirty="0">
                <a:solidFill>
                  <a:schemeClr val="accent5"/>
                </a:solidFill>
              </a:rPr>
              <a:t> e github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1D88E9A-F1CA-F4A1-19E7-BB1DEF6E3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48" y="1728345"/>
            <a:ext cx="11077575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>
                <a:solidFill>
                  <a:schemeClr val="accent5"/>
                </a:solidFill>
              </a:rPr>
              <a:t>Essa é uma das confusões mais comuns entre iniciantes. </a:t>
            </a:r>
          </a:p>
          <a:p>
            <a:r>
              <a:rPr lang="pt-BR" sz="2000" dirty="0" err="1">
                <a:solidFill>
                  <a:schemeClr val="accent5"/>
                </a:solidFill>
              </a:rPr>
              <a:t>Git</a:t>
            </a:r>
            <a:r>
              <a:rPr lang="pt-BR" sz="2000" dirty="0">
                <a:solidFill>
                  <a:schemeClr val="accent5"/>
                </a:solidFill>
              </a:rPr>
              <a:t> e GitHub são coisas completamente diferentes, embora trabalhem juntos.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accent5"/>
              </a:solidFill>
              <a:effectLst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accent5"/>
              </a:solidFill>
              <a:effectLst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ea typeface="Arial" panose="020B0604020202020204" pitchFamily="34" charset="0"/>
              </a:rPr>
              <a:t>A relação entre os dois é simples: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ea typeface="Arial" panose="020B0604020202020204" pitchFamily="34" charset="0"/>
              </a:rPr>
              <a:t>Você usa o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accent5"/>
                </a:solidFill>
                <a:effectLst/>
                <a:ea typeface="Arial" panose="020B0604020202020204" pitchFamily="34" charset="0"/>
              </a:rPr>
              <a:t>Git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ea typeface="Arial" panose="020B0604020202020204" pitchFamily="34" charset="0"/>
              </a:rPr>
              <a:t> na sua máquina para </a:t>
            </a:r>
            <a:r>
              <a:rPr kumimoji="0" lang="pt-BR" altLang="pt-BR" sz="2000" b="1" i="1" u="sng" strike="noStrike" cap="none" normalizeH="0" baseline="0" dirty="0" err="1">
                <a:ln>
                  <a:noFill/>
                </a:ln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 panose="020B0604020202020204" pitchFamily="34" charset="0"/>
              </a:rPr>
              <a:t>versionar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ea typeface="Arial" panose="020B0604020202020204" pitchFamily="34" charset="0"/>
              </a:rPr>
              <a:t> o código localmente.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ea typeface="Arial" panose="020B0604020202020204" pitchFamily="34" charset="0"/>
              </a:rPr>
              <a:t>Quando quiser compartilhar esse código com sua equipe ou fazer backup na nuvem, você envia para o GitHub.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ea typeface="Arial" panose="020B0604020202020204" pitchFamily="34" charset="0"/>
              </a:rPr>
              <a:t>O GitHub é essencialmente um servidor remoto que armazena repositórios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accent5"/>
                </a:solidFill>
                <a:effectLst/>
                <a:ea typeface="Arial" panose="020B0604020202020204" pitchFamily="34" charset="0"/>
              </a:rPr>
              <a:t>Git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ea typeface="Arial" panose="020B0604020202020204" pitchFamily="34" charset="0"/>
              </a:rPr>
              <a:t> e adiciona funcionalidades de.</a:t>
            </a:r>
            <a:endParaRPr lang="pt-BR" altLang="pt-BR" sz="2000" dirty="0">
              <a:solidFill>
                <a:schemeClr val="accent5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accent5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accent5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accent5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ea typeface="Arial" panose="020B0604020202020204" pitchFamily="34" charset="0"/>
              </a:rPr>
              <a:t>Existem </a:t>
            </a:r>
            <a:r>
              <a:rPr kumimoji="0" lang="pt-BR" altLang="pt-BR" sz="2000" b="0" i="1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 panose="020B0604020202020204" pitchFamily="34" charset="0"/>
              </a:rPr>
              <a:t>alternativas ao GitHub como o </a:t>
            </a:r>
            <a:r>
              <a:rPr kumimoji="0" lang="pt-BR" altLang="pt-BR" sz="2000" b="0" i="1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 panose="020B0604020202020204" pitchFamily="34" charset="0"/>
              </a:rPr>
              <a:t>GitLab</a:t>
            </a:r>
            <a:r>
              <a:rPr kumimoji="0" lang="pt-BR" altLang="pt-BR" sz="2000" b="0" i="1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 panose="020B0604020202020204" pitchFamily="34" charset="0"/>
              </a:rPr>
              <a:t> e o </a:t>
            </a:r>
            <a:r>
              <a:rPr kumimoji="0" lang="pt-BR" altLang="pt-BR" sz="2000" b="0" i="1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 panose="020B0604020202020204" pitchFamily="34" charset="0"/>
              </a:rPr>
              <a:t>Bitbucket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ea typeface="Arial" panose="020B0604020202020204" pitchFamily="34" charset="0"/>
              </a:rPr>
              <a:t>, mas o GitHub é de longe o mais utilizado e o que usaremos nesta disciplina.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4366939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F6B4F-BD2E-3352-98C4-5076CC596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B0DEDC55-9625-EC31-F59E-1A6E8C126C11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B1FE4B7-D0B1-6761-2165-B51DD8338432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 err="1">
                <a:solidFill>
                  <a:schemeClr val="accent3">
                    <a:lumMod val="49000"/>
                  </a:schemeClr>
                </a:solidFill>
              </a:rPr>
              <a:t>Subtitulo</a:t>
            </a:r>
            <a:endParaRPr lang="pt-BR" sz="2000" dirty="0">
              <a:solidFill>
                <a:schemeClr val="accent3">
                  <a:lumMod val="49000"/>
                </a:schemeClr>
              </a:solidFill>
              <a:cs typeface="Segoe U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BDF29F4-F493-4FF7-E440-C6C2E9B24AED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>
                <a:solidFill>
                  <a:schemeClr val="accent5"/>
                </a:solidFill>
              </a:rPr>
              <a:t>Diferença de </a:t>
            </a:r>
            <a:r>
              <a:rPr lang="pt-BR" sz="3200" b="1" dirty="0" err="1">
                <a:solidFill>
                  <a:schemeClr val="accent5"/>
                </a:solidFill>
              </a:rPr>
              <a:t>git</a:t>
            </a:r>
            <a:r>
              <a:rPr lang="pt-BR" sz="3200" b="1" dirty="0">
                <a:solidFill>
                  <a:schemeClr val="accent5"/>
                </a:solidFill>
              </a:rPr>
              <a:t> e github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961149B0-43C2-77EC-1883-7179ABBC2A6B}"/>
              </a:ext>
            </a:extLst>
          </p:cNvPr>
          <p:cNvSpPr/>
          <p:nvPr/>
        </p:nvSpPr>
        <p:spPr>
          <a:xfrm>
            <a:off x="450848" y="1975556"/>
            <a:ext cx="5398409" cy="394601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</p:spPr>
        <p:txBody>
          <a:bodyPr/>
          <a:lstStyle/>
          <a:p>
            <a:pPr>
              <a:spcAft>
                <a:spcPts val="1000"/>
              </a:spcAft>
            </a:pPr>
            <a:endParaRPr lang="en-US" b="1" dirty="0">
              <a:solidFill>
                <a:srgbClr val="F451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000"/>
              </a:spcAft>
            </a:pPr>
            <a:endParaRPr lang="en-US" b="1" dirty="0">
              <a:solidFill>
                <a:srgbClr val="F451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000"/>
              </a:spcAft>
            </a:pPr>
            <a:endParaRPr lang="en-US" dirty="0">
              <a:solidFill>
                <a:srgbClr val="F451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000"/>
              </a:spcAft>
            </a:pPr>
            <a:r>
              <a:rPr lang="en-US" sz="22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</a:t>
            </a:r>
            <a:r>
              <a:rPr lang="en-US" sz="2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instalada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2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</a:t>
            </a:r>
            <a:endParaRPr lang="en-US" sz="2200" dirty="0"/>
          </a:p>
          <a:p>
            <a:pPr>
              <a:spcAft>
                <a:spcPts val="1000"/>
              </a:spcAft>
            </a:pPr>
            <a:r>
              <a:rPr lang="en-US" sz="22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2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localmente</a:t>
            </a:r>
            <a:endParaRPr lang="en-US" sz="2200" dirty="0"/>
          </a:p>
          <a:p>
            <a:pPr>
              <a:spcAft>
                <a:spcPts val="1000"/>
              </a:spcAft>
            </a:pPr>
            <a:r>
              <a:rPr lang="en-US" sz="22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2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internet</a:t>
            </a:r>
            <a:endParaRPr lang="en-US" sz="2200" dirty="0"/>
          </a:p>
          <a:p>
            <a:pPr>
              <a:spcAft>
                <a:spcPts val="1000"/>
              </a:spcAft>
            </a:pPr>
            <a:r>
              <a:rPr lang="en-US" sz="22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software (</a:t>
            </a:r>
            <a:r>
              <a:rPr lang="en-US" sz="2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200" dirty="0"/>
          </a:p>
          <a:p>
            <a:pPr>
              <a:spcAft>
                <a:spcPts val="1000"/>
              </a:spcAft>
            </a:pPr>
            <a:r>
              <a:rPr lang="en-US" sz="22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</a:t>
            </a:r>
            <a:r>
              <a:rPr lang="en-US" sz="2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Linus Torvalds </a:t>
            </a:r>
            <a:r>
              <a:rPr lang="en-US" sz="2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2005</a:t>
            </a:r>
            <a:endParaRPr lang="en-US" sz="2200" dirty="0"/>
          </a:p>
          <a:p>
            <a:endParaRPr lang="pt-BR" dirty="0"/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94A01B7B-5711-D6CB-CE46-5E401F2C3599}"/>
              </a:ext>
            </a:extLst>
          </p:cNvPr>
          <p:cNvSpPr/>
          <p:nvPr/>
        </p:nvSpPr>
        <p:spPr>
          <a:xfrm>
            <a:off x="450848" y="1975556"/>
            <a:ext cx="5398409" cy="653300"/>
          </a:xfrm>
          <a:prstGeom prst="rect">
            <a:avLst/>
          </a:prstGeom>
          <a:solidFill>
            <a:srgbClr val="FD8F15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pt-BR" sz="4000" dirty="0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0F827486-DC8C-0852-0087-5496007AAD3D}"/>
              </a:ext>
            </a:extLst>
          </p:cNvPr>
          <p:cNvSpPr/>
          <p:nvPr/>
        </p:nvSpPr>
        <p:spPr>
          <a:xfrm>
            <a:off x="6342743" y="1975556"/>
            <a:ext cx="5398409" cy="394601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</p:spPr>
        <p:txBody>
          <a:bodyPr/>
          <a:lstStyle/>
          <a:p>
            <a:pPr>
              <a:spcAft>
                <a:spcPts val="1000"/>
              </a:spcAft>
            </a:pPr>
            <a:endParaRPr lang="en-US" b="1" dirty="0">
              <a:solidFill>
                <a:srgbClr val="24292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000"/>
              </a:spcAft>
            </a:pPr>
            <a:endParaRPr lang="en-US" b="1" dirty="0">
              <a:solidFill>
                <a:srgbClr val="24292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000"/>
              </a:spcAft>
            </a:pPr>
            <a:endParaRPr lang="en-US" b="1" dirty="0">
              <a:solidFill>
                <a:srgbClr val="24292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000"/>
              </a:spcAft>
            </a:pPr>
            <a:r>
              <a:rPr lang="en-US" sz="22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online (site/</a:t>
            </a:r>
            <a:r>
              <a:rPr lang="en-US" sz="2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200" dirty="0"/>
          </a:p>
          <a:p>
            <a:pPr>
              <a:spcAft>
                <a:spcPts val="1000"/>
              </a:spcAft>
            </a:pPr>
            <a:r>
              <a:rPr lang="en-US" sz="22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2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repositórios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</a:t>
            </a:r>
            <a:endParaRPr lang="en-US" sz="2200" dirty="0"/>
          </a:p>
          <a:p>
            <a:pPr>
              <a:spcAft>
                <a:spcPts val="1000"/>
              </a:spcAft>
            </a:pPr>
            <a:r>
              <a:rPr lang="en-US" sz="22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2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internet</a:t>
            </a:r>
            <a:endParaRPr lang="en-US" sz="2200" dirty="0"/>
          </a:p>
          <a:p>
            <a:pPr>
              <a:spcAft>
                <a:spcPts val="1000"/>
              </a:spcAft>
            </a:pPr>
            <a:r>
              <a:rPr lang="en-US" sz="22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+ </a:t>
            </a:r>
            <a:r>
              <a:rPr lang="en-US" sz="2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colaboração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equipe</a:t>
            </a:r>
            <a:endParaRPr lang="en-US" sz="2200" dirty="0"/>
          </a:p>
          <a:p>
            <a:pPr>
              <a:spcAft>
                <a:spcPts val="1000"/>
              </a:spcAft>
            </a:pPr>
            <a:r>
              <a:rPr lang="en-US" sz="22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2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Adquirido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pela Microsoft </a:t>
            </a:r>
            <a:r>
              <a:rPr lang="en-US" sz="2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2018</a:t>
            </a:r>
            <a:endParaRPr lang="en-US" sz="2200" dirty="0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EC3ADE19-1602-8AF2-DE35-929A5647F775}"/>
              </a:ext>
            </a:extLst>
          </p:cNvPr>
          <p:cNvSpPr/>
          <p:nvPr/>
        </p:nvSpPr>
        <p:spPr>
          <a:xfrm>
            <a:off x="6342743" y="1975556"/>
            <a:ext cx="5398409" cy="653300"/>
          </a:xfrm>
          <a:prstGeom prst="rect">
            <a:avLst/>
          </a:prstGeom>
          <a:solidFill>
            <a:srgbClr val="0070C0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419522766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8E4DE-30ED-C00A-5FEE-F1B99A996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3F3228C-0E1C-376B-452B-E2B8F302108E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FF0C107-A1F3-640D-7BA1-72C233428E2A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  <a:cs typeface="Segoe UI"/>
              </a:rPr>
              <a:t>Partições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A943B48-67E8-7D31-34FF-02EE52C3CDF8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>
                <a:solidFill>
                  <a:schemeClr val="accent5"/>
                </a:solidFill>
              </a:rPr>
              <a:t>Versionamento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BE7774DF-C9AF-CB04-C7D6-4DA7569EC5BD}"/>
              </a:ext>
            </a:extLst>
          </p:cNvPr>
          <p:cNvGrpSpPr/>
          <p:nvPr/>
        </p:nvGrpSpPr>
        <p:grpSpPr>
          <a:xfrm>
            <a:off x="4195676" y="2415991"/>
            <a:ext cx="3800644" cy="4221874"/>
            <a:chOff x="4372153" y="2415991"/>
            <a:chExt cx="3800644" cy="4221874"/>
          </a:xfrm>
        </p:grpSpPr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2692B09E-8C90-2D32-DCE8-FB9427725BDA}"/>
                </a:ext>
              </a:extLst>
            </p:cNvPr>
            <p:cNvSpPr/>
            <p:nvPr/>
          </p:nvSpPr>
          <p:spPr>
            <a:xfrm>
              <a:off x="4372156" y="2417111"/>
              <a:ext cx="3800641" cy="422075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3ED"/>
              </a:solidFill>
              <a:prstDash val="solid"/>
            </a:ln>
          </p:spPr>
          <p:txBody>
            <a:bodyPr/>
            <a:lstStyle/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dirty="0">
                  <a:solidFill>
                    <a:srgbClr val="C00000"/>
                  </a:solidFill>
                </a:rPr>
                <a:t>Área intermediária onde você coloca os arquivos que quer incluir no próximo envio.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pt-BR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dirty="0"/>
                <a:t>Você escolhe exatamente quais mudanças vão para o envio.</a:t>
              </a:r>
            </a:p>
            <a:p>
              <a:endParaRPr lang="pt-BR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dirty="0"/>
                <a:t>Pense na </a:t>
              </a:r>
              <a:r>
                <a:rPr lang="pt-BR" dirty="0" err="1"/>
                <a:t>Staging</a:t>
              </a:r>
              <a:r>
                <a:rPr lang="pt-BR" dirty="0"/>
                <a:t> Area como uma caixa de embalagem: você vai colocando os itens que quer enviar.</a:t>
              </a:r>
            </a:p>
            <a:p>
              <a:endParaRPr lang="pt-BR" dirty="0"/>
            </a:p>
          </p:txBody>
        </p:sp>
        <p:sp>
          <p:nvSpPr>
            <p:cNvPr id="17" name="Shape 13">
              <a:extLst>
                <a:ext uri="{FF2B5EF4-FFF2-40B4-BE49-F238E27FC236}">
                  <a16:creationId xmlns:a16="http://schemas.microsoft.com/office/drawing/2014/main" id="{F3EABF71-676B-13DB-6F29-95ADF600EA26}"/>
                </a:ext>
              </a:extLst>
            </p:cNvPr>
            <p:cNvSpPr/>
            <p:nvPr/>
          </p:nvSpPr>
          <p:spPr>
            <a:xfrm>
              <a:off x="4372153" y="2415991"/>
              <a:ext cx="3800641" cy="896982"/>
            </a:xfrm>
            <a:prstGeom prst="rect">
              <a:avLst/>
            </a:prstGeom>
            <a:solidFill>
              <a:srgbClr val="D69E2E"/>
            </a:solidFill>
            <a:ln w="12700">
              <a:solidFill>
                <a:srgbClr val="D69E2E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4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Staging Area</a:t>
              </a:r>
              <a:endParaRPr lang="en-US" sz="4400" dirty="0"/>
            </a:p>
          </p:txBody>
        </p:sp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6DCFBE25-F736-9D52-93E3-4DAFB1548AEA}"/>
              </a:ext>
            </a:extLst>
          </p:cNvPr>
          <p:cNvGrpSpPr/>
          <p:nvPr/>
        </p:nvGrpSpPr>
        <p:grpSpPr>
          <a:xfrm>
            <a:off x="274371" y="2415991"/>
            <a:ext cx="3800641" cy="4238809"/>
            <a:chOff x="450848" y="2415991"/>
            <a:chExt cx="3800641" cy="4238809"/>
          </a:xfrm>
        </p:grpSpPr>
        <p:sp>
          <p:nvSpPr>
            <p:cNvPr id="24" name="Shape 7">
              <a:extLst>
                <a:ext uri="{FF2B5EF4-FFF2-40B4-BE49-F238E27FC236}">
                  <a16:creationId xmlns:a16="http://schemas.microsoft.com/office/drawing/2014/main" id="{8041CB33-79DF-678C-FD38-94EACC544E68}"/>
                </a:ext>
              </a:extLst>
            </p:cNvPr>
            <p:cNvSpPr/>
            <p:nvPr/>
          </p:nvSpPr>
          <p:spPr>
            <a:xfrm>
              <a:off x="450848" y="2434045"/>
              <a:ext cx="3800641" cy="422075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3ED"/>
              </a:solidFill>
              <a:prstDash val="solid"/>
            </a:ln>
          </p:spPr>
          <p:txBody>
            <a:bodyPr/>
            <a:lstStyle/>
            <a:p>
              <a:endParaRPr lang="en-US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endParaRPr>
            </a:p>
            <a:p>
              <a:endParaRPr lang="en-US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endParaRPr>
            </a:p>
            <a:p>
              <a:endParaRPr lang="en-US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pt-BR" dirty="0">
                <a:latin typeface="Arial" panose="020B0604020202020204" pitchFamily="34" charset="0"/>
                <a:ea typeface="Arial" panose="020B0604020202020204" pitchFamily="34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pt-BR" dirty="0">
                  <a:solidFill>
                    <a:srgbClr val="C00000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É a pasta do seu projeto no seu computador</a:t>
              </a:r>
            </a:p>
            <a:p>
              <a:endParaRPr lang="pt-BR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pt-BR" dirty="0">
                  <a:latin typeface="Arial" panose="020B0604020202020204" pitchFamily="34" charset="0"/>
                  <a:ea typeface="Arial" panose="020B0604020202020204" pitchFamily="34" charset="0"/>
                </a:rPr>
                <a:t>Quando você abre um arquivo e começa a editar, você está no </a:t>
              </a:r>
              <a:r>
                <a:rPr lang="pt-BR" b="1" i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Arial" panose="020B0604020202020204" pitchFamily="34" charset="0"/>
                </a:rPr>
                <a:t>Working</a:t>
              </a:r>
              <a:r>
                <a:rPr lang="pt-BR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Arial" panose="020B0604020202020204" pitchFamily="34" charset="0"/>
                </a:rPr>
                <a:t> </a:t>
              </a:r>
              <a:r>
                <a:rPr lang="pt-BR" b="1" i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Arial" panose="020B0604020202020204" pitchFamily="34" charset="0"/>
                </a:rPr>
                <a:t>Directory</a:t>
              </a:r>
              <a:r>
                <a:rPr lang="pt-BR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Arial" panose="020B0604020202020204" pitchFamily="34" charset="0"/>
                </a:rPr>
                <a:t>.</a:t>
              </a:r>
              <a:r>
                <a:rPr lang="pt-BR" dirty="0">
                  <a:latin typeface="Arial" panose="020B0604020202020204" pitchFamily="34" charset="0"/>
                  <a:ea typeface="Arial" panose="020B0604020202020204" pitchFamily="34" charset="0"/>
                </a:rPr>
                <a:t>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pt-BR" dirty="0">
                <a:latin typeface="Arial" panose="020B0604020202020204" pitchFamily="34" charset="0"/>
                <a:ea typeface="Arial" panose="020B0604020202020204" pitchFamily="34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pt-BR" dirty="0">
                  <a:latin typeface="Arial" panose="020B0604020202020204" pitchFamily="34" charset="0"/>
                  <a:ea typeface="Arial" panose="020B0604020202020204" pitchFamily="34" charset="0"/>
                </a:rPr>
                <a:t>Nesse momento, o </a:t>
              </a:r>
              <a:r>
                <a:rPr lang="pt-BR" dirty="0" err="1">
                  <a:latin typeface="Arial" panose="020B0604020202020204" pitchFamily="34" charset="0"/>
                  <a:ea typeface="Arial" panose="020B0604020202020204" pitchFamily="34" charset="0"/>
                </a:rPr>
                <a:t>Git</a:t>
              </a:r>
              <a:r>
                <a:rPr lang="pt-BR" dirty="0">
                  <a:latin typeface="Arial" panose="020B0604020202020204" pitchFamily="34" charset="0"/>
                  <a:ea typeface="Arial" panose="020B0604020202020204" pitchFamily="34" charset="0"/>
                </a:rPr>
                <a:t> sabe que o arquivo foi modificado, mas ainda não fez nada com essas mudanças.</a:t>
              </a:r>
              <a:endParaRPr lang="pt-BR" dirty="0"/>
            </a:p>
          </p:txBody>
        </p:sp>
        <p:sp>
          <p:nvSpPr>
            <p:cNvPr id="25" name="Shape 8">
              <a:extLst>
                <a:ext uri="{FF2B5EF4-FFF2-40B4-BE49-F238E27FC236}">
                  <a16:creationId xmlns:a16="http://schemas.microsoft.com/office/drawing/2014/main" id="{657B1820-CEFD-E308-40CF-16CD4DEF0D52}"/>
                </a:ext>
              </a:extLst>
            </p:cNvPr>
            <p:cNvSpPr/>
            <p:nvPr/>
          </p:nvSpPr>
          <p:spPr>
            <a:xfrm>
              <a:off x="450848" y="2415991"/>
              <a:ext cx="3800638" cy="896983"/>
            </a:xfrm>
            <a:prstGeom prst="rect">
              <a:avLst/>
            </a:prstGeom>
            <a:solidFill>
              <a:srgbClr val="E53E3E"/>
            </a:solidFill>
            <a:ln w="12700">
              <a:solidFill>
                <a:srgbClr val="E53E3E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3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Working Directory</a:t>
              </a:r>
              <a:endParaRPr lang="en-US" sz="3200" dirty="0"/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37D18DE8-729E-34EF-AAC7-E466A7FFA22B}"/>
              </a:ext>
            </a:extLst>
          </p:cNvPr>
          <p:cNvGrpSpPr/>
          <p:nvPr/>
        </p:nvGrpSpPr>
        <p:grpSpPr>
          <a:xfrm>
            <a:off x="8116984" y="2415991"/>
            <a:ext cx="3800643" cy="4221874"/>
            <a:chOff x="8293461" y="2415991"/>
            <a:chExt cx="3800643" cy="4221874"/>
          </a:xfrm>
        </p:grpSpPr>
        <p:sp>
          <p:nvSpPr>
            <p:cNvPr id="26" name="Shape 19">
              <a:extLst>
                <a:ext uri="{FF2B5EF4-FFF2-40B4-BE49-F238E27FC236}">
                  <a16:creationId xmlns:a16="http://schemas.microsoft.com/office/drawing/2014/main" id="{EA56D35D-56E8-D40C-4263-4D7BB23458FB}"/>
                </a:ext>
              </a:extLst>
            </p:cNvPr>
            <p:cNvSpPr/>
            <p:nvPr/>
          </p:nvSpPr>
          <p:spPr>
            <a:xfrm>
              <a:off x="8293463" y="2417111"/>
              <a:ext cx="3800641" cy="422075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3ED"/>
              </a:solidFill>
              <a:prstDash val="solid"/>
            </a:ln>
          </p:spPr>
          <p:txBody>
            <a:bodyPr/>
            <a:lstStyle/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dirty="0">
                  <a:solidFill>
                    <a:srgbClr val="C00000"/>
                  </a:solidFill>
                </a:rPr>
                <a:t>O repositório é o banco de dados interno do </a:t>
              </a:r>
              <a:r>
                <a:rPr lang="pt-BR" dirty="0" err="1">
                  <a:solidFill>
                    <a:srgbClr val="C00000"/>
                  </a:solidFill>
                </a:rPr>
                <a:t>Git</a:t>
              </a:r>
              <a:r>
                <a:rPr lang="pt-BR" dirty="0">
                  <a:solidFill>
                    <a:srgbClr val="C00000"/>
                  </a:solidFill>
                </a:rPr>
                <a:t>, onde ficam armazenados todos os </a:t>
              </a:r>
              <a:r>
                <a:rPr lang="pt-BR" dirty="0" err="1">
                  <a:solidFill>
                    <a:srgbClr val="C00000"/>
                  </a:solidFill>
                </a:rPr>
                <a:t>commits</a:t>
              </a:r>
              <a:r>
                <a:rPr lang="pt-BR" dirty="0">
                  <a:solidFill>
                    <a:srgbClr val="C00000"/>
                  </a:solidFill>
                </a:rPr>
                <a:t>. </a:t>
              </a:r>
            </a:p>
            <a:p>
              <a:endParaRPr lang="pt-BR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dirty="0"/>
                <a:t>Quando você envia, o </a:t>
              </a:r>
              <a:r>
                <a:rPr lang="pt-BR" dirty="0" err="1"/>
                <a:t>Git</a:t>
              </a:r>
              <a:r>
                <a:rPr lang="pt-BR" dirty="0"/>
                <a:t> pega tudo o que está na </a:t>
              </a:r>
              <a:r>
                <a:rPr lang="pt-BR" b="1" i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Staging</a:t>
              </a:r>
              <a:r>
                <a:rPr lang="pt-BR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Area </a:t>
              </a:r>
              <a:r>
                <a:rPr lang="pt-BR" dirty="0"/>
                <a:t>e armazena no repositório.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pt-BR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dirty="0"/>
                <a:t>É armazenado o autor, a data, a mensagem que você escreveu e a identificação única (</a:t>
              </a:r>
              <a:r>
                <a:rPr lang="pt-BR" dirty="0" err="1"/>
                <a:t>hash</a:t>
              </a:r>
              <a:r>
                <a:rPr lang="pt-BR" dirty="0"/>
                <a:t>).</a:t>
              </a:r>
            </a:p>
            <a:p>
              <a:endParaRPr lang="pt-BR" dirty="0"/>
            </a:p>
            <a:p>
              <a:endParaRPr lang="pt-BR" dirty="0"/>
            </a:p>
          </p:txBody>
        </p:sp>
        <p:sp>
          <p:nvSpPr>
            <p:cNvPr id="27" name="Shape 20">
              <a:extLst>
                <a:ext uri="{FF2B5EF4-FFF2-40B4-BE49-F238E27FC236}">
                  <a16:creationId xmlns:a16="http://schemas.microsoft.com/office/drawing/2014/main" id="{11D96A1F-3136-A683-0251-E312CDE32023}"/>
                </a:ext>
              </a:extLst>
            </p:cNvPr>
            <p:cNvSpPr/>
            <p:nvPr/>
          </p:nvSpPr>
          <p:spPr>
            <a:xfrm>
              <a:off x="8293461" y="2415991"/>
              <a:ext cx="3800641" cy="896982"/>
            </a:xfrm>
            <a:prstGeom prst="rect">
              <a:avLst/>
            </a:prstGeom>
            <a:solidFill>
              <a:srgbClr val="38A169"/>
            </a:solidFill>
            <a:ln w="12700">
              <a:solidFill>
                <a:srgbClr val="38A169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4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Repository</a:t>
              </a:r>
              <a:endParaRPr lang="pt-BR" sz="4800" dirty="0"/>
            </a:p>
          </p:txBody>
        </p: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D0810F-7847-8AD0-9A04-37D50B093FF9}"/>
              </a:ext>
            </a:extLst>
          </p:cNvPr>
          <p:cNvSpPr txBox="1"/>
          <p:nvPr/>
        </p:nvSpPr>
        <p:spPr>
          <a:xfrm>
            <a:off x="450848" y="1477361"/>
            <a:ext cx="114667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  <a:buNone/>
            </a:pPr>
            <a:r>
              <a:rPr lang="pt-BR" dirty="0">
                <a:solidFill>
                  <a:schemeClr val="accent5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Antes de aprender os comandos, é fundamental entender como o </a:t>
            </a:r>
            <a:r>
              <a:rPr lang="pt-BR" dirty="0" err="1">
                <a:solidFill>
                  <a:schemeClr val="accent5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Git</a:t>
            </a:r>
            <a:r>
              <a:rPr lang="pt-BR" dirty="0">
                <a:solidFill>
                  <a:schemeClr val="accent5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organiza o seu trabalho internamente. O </a:t>
            </a:r>
            <a:r>
              <a:rPr lang="pt-BR" dirty="0" err="1">
                <a:solidFill>
                  <a:schemeClr val="accent5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Git</a:t>
            </a:r>
            <a:r>
              <a:rPr lang="pt-BR" dirty="0">
                <a:solidFill>
                  <a:schemeClr val="accent5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divide o trabalho em três estados (ou áreas). Entender isso é a chave para nunca se perder.</a:t>
            </a:r>
          </a:p>
        </p:txBody>
      </p:sp>
    </p:spTree>
    <p:extLst>
      <p:ext uri="{BB962C8B-B14F-4D97-AF65-F5344CB8AC3E}">
        <p14:creationId xmlns:p14="http://schemas.microsoft.com/office/powerpoint/2010/main" val="141605383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A98C9-11A6-95F2-A6B2-4A79CB6D5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7F6539D2-0F00-CF08-4C63-19FF256EED7E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D508C9-4593-7B3E-C205-AB613C98CAC0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</a:rPr>
              <a:t>Importante</a:t>
            </a:r>
            <a:endParaRPr lang="pt-BR" sz="2000" dirty="0">
              <a:solidFill>
                <a:schemeClr val="accent3">
                  <a:lumMod val="49000"/>
                </a:schemeClr>
              </a:solidFill>
              <a:cs typeface="Segoe U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E055F33-1A39-E319-59BF-82CFF067621B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>
                <a:solidFill>
                  <a:schemeClr val="accent5"/>
                </a:solidFill>
              </a:rPr>
              <a:t>Versionamento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96C88BC-3AB2-78E4-FDCD-512DDC5330A6}"/>
              </a:ext>
            </a:extLst>
          </p:cNvPr>
          <p:cNvSpPr txBox="1"/>
          <p:nvPr/>
        </p:nvSpPr>
        <p:spPr>
          <a:xfrm>
            <a:off x="450848" y="1820072"/>
            <a:ext cx="11349873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Importante:</a:t>
            </a:r>
          </a:p>
          <a:p>
            <a:endParaRPr lang="pt-BR" sz="2800" b="1" dirty="0">
              <a:solidFill>
                <a:srgbClr val="C00000"/>
              </a:solidFill>
            </a:endParaRPr>
          </a:p>
          <a:p>
            <a:r>
              <a:rPr lang="pt-BR" sz="2400" dirty="0">
                <a:solidFill>
                  <a:schemeClr val="accent5"/>
                </a:solidFill>
              </a:rPr>
              <a:t>A </a:t>
            </a:r>
            <a:r>
              <a:rPr lang="pt-BR" sz="2400" b="1" i="1" u="sng" dirty="0" err="1">
                <a:solidFill>
                  <a:schemeClr val="accent5"/>
                </a:solidFill>
              </a:rPr>
              <a:t>Staging</a:t>
            </a:r>
            <a:r>
              <a:rPr lang="pt-BR" sz="2400" b="1" i="1" u="sng" dirty="0">
                <a:solidFill>
                  <a:schemeClr val="accent5"/>
                </a:solidFill>
              </a:rPr>
              <a:t> Area </a:t>
            </a:r>
            <a:r>
              <a:rPr lang="pt-BR" sz="2400" dirty="0">
                <a:solidFill>
                  <a:schemeClr val="accent5"/>
                </a:solidFill>
              </a:rPr>
              <a:t>existe para que você tenha controle preciso sobre quais alterações farão parte de cada envio. </a:t>
            </a:r>
          </a:p>
          <a:p>
            <a:r>
              <a:rPr lang="pt-BR" sz="2400" dirty="0">
                <a:solidFill>
                  <a:schemeClr val="accent5"/>
                </a:solidFill>
              </a:rPr>
              <a:t>Um envio deve representar uma mudança </a:t>
            </a:r>
            <a:r>
              <a:rPr lang="pt-BR" sz="2400" b="1" dirty="0">
                <a:solidFill>
                  <a:schemeClr val="accent5"/>
                </a:solidFill>
              </a:rPr>
              <a:t>lógica, coesa e bem definida</a:t>
            </a:r>
            <a:r>
              <a:rPr lang="pt-BR" sz="2400" dirty="0">
                <a:solidFill>
                  <a:schemeClr val="accent5"/>
                </a:solidFill>
              </a:rPr>
              <a:t>, e não um conjunto aleatório de modificações sem relação entre si.</a:t>
            </a:r>
          </a:p>
          <a:p>
            <a:endParaRPr lang="pt-BR" sz="2400" dirty="0">
              <a:solidFill>
                <a:schemeClr val="accent5"/>
              </a:solidFill>
            </a:endParaRPr>
          </a:p>
          <a:p>
            <a:endParaRPr lang="pt-BR" sz="2400" dirty="0">
              <a:solidFill>
                <a:schemeClr val="accent5"/>
              </a:solidFill>
            </a:endParaRPr>
          </a:p>
          <a:p>
            <a:r>
              <a:rPr lang="pt-BR" sz="2400" dirty="0">
                <a:solidFill>
                  <a:schemeClr val="accent5"/>
                </a:solidFill>
              </a:rPr>
              <a:t>Por isso, os “pacotes de alterações” precisam ser organizados de forma clara e intencional, garantindo que cada </a:t>
            </a:r>
            <a:r>
              <a:rPr lang="pt-BR" sz="2400" dirty="0" err="1">
                <a:solidFill>
                  <a:schemeClr val="accent5"/>
                </a:solidFill>
              </a:rPr>
              <a:t>commit</a:t>
            </a:r>
            <a:r>
              <a:rPr lang="pt-BR" sz="2400" dirty="0">
                <a:solidFill>
                  <a:schemeClr val="accent5"/>
                </a:solidFill>
              </a:rPr>
              <a:t> conte uma pequena parte da história do projeto e algo que possa ser entendido facilmente no futuro.</a:t>
            </a:r>
            <a:endParaRPr lang="pt-BR" sz="2400" dirty="0">
              <a:solidFill>
                <a:schemeClr val="accent5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3037956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92DFAE-E6A8-5F5C-D550-47D006E29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99E0D3B-F3A4-EAF3-20E2-07704963081A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7A72DD8-E0FB-55B1-A61C-DE273E235638}"/>
              </a:ext>
            </a:extLst>
          </p:cNvPr>
          <p:cNvSpPr txBox="1"/>
          <p:nvPr/>
        </p:nvSpPr>
        <p:spPr>
          <a:xfrm>
            <a:off x="450848" y="269680"/>
            <a:ext cx="11873808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latin typeface="Segoe UI"/>
                <a:cs typeface="Segoe UI Semibold"/>
              </a:rPr>
              <a:t>Comandos Essenciais </a:t>
            </a:r>
            <a:endParaRPr lang="pt-BR" sz="3600" b="1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C1A70C6-4422-825A-1B2A-5C53A75CD56B}"/>
              </a:ext>
            </a:extLst>
          </p:cNvPr>
          <p:cNvSpPr txBox="1"/>
          <p:nvPr/>
        </p:nvSpPr>
        <p:spPr>
          <a:xfrm>
            <a:off x="450848" y="822767"/>
            <a:ext cx="6160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 err="1">
                <a:solidFill>
                  <a:srgbClr val="F4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r>
              <a:rPr lang="en-US" sz="2000" i="1" dirty="0">
                <a:solidFill>
                  <a:srgbClr val="F4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add · commit · push</a:t>
            </a:r>
            <a:endParaRPr lang="en-US" sz="200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7529C8D5-9031-8050-CEC8-113C427CF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676" y="1290452"/>
            <a:ext cx="4277095" cy="427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738284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F051E-A396-4182-0E76-D64188663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DDA34207-2EC4-D70B-7F83-599804E80841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08A87CE-7BDC-CA9C-9985-3ACFE3E37C14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</a:rPr>
              <a:t>O que é</a:t>
            </a:r>
            <a:endParaRPr lang="pt-BR" sz="2000" dirty="0">
              <a:solidFill>
                <a:schemeClr val="accent3">
                  <a:lumMod val="49000"/>
                </a:schemeClr>
              </a:solidFill>
              <a:cs typeface="Segoe U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EE0035F-FEAA-7D75-F59D-F2A57BE2EF4A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>
                <a:solidFill>
                  <a:schemeClr val="accent5"/>
                </a:solidFill>
              </a:rPr>
              <a:t>Versionamento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18CA305-6C95-9B6E-1680-55D2CE8E9CAF}"/>
              </a:ext>
            </a:extLst>
          </p:cNvPr>
          <p:cNvSpPr txBox="1"/>
          <p:nvPr/>
        </p:nvSpPr>
        <p:spPr>
          <a:xfrm>
            <a:off x="460744" y="2372034"/>
            <a:ext cx="11349873" cy="25545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>
                <a:solidFill>
                  <a:srgbClr val="004568"/>
                </a:solidFill>
              </a:rPr>
              <a:t>Para “navegar” entre os estados GIT é necessário que saibamos que existem comandos para cada ação.</a:t>
            </a:r>
            <a:endParaRPr lang="pt-BR" sz="2800">
              <a:solidFill>
                <a:srgbClr val="004568"/>
              </a:solidFill>
            </a:endParaRPr>
          </a:p>
          <a:p>
            <a:endParaRPr lang="pt-BR" sz="3200" b="1" dirty="0">
              <a:solidFill>
                <a:srgbClr val="004568"/>
              </a:solidFill>
              <a:cs typeface="Segoe UI"/>
            </a:endParaRPr>
          </a:p>
          <a:p>
            <a:endParaRPr lang="pt-BR" sz="3200" b="1" dirty="0">
              <a:solidFill>
                <a:srgbClr val="004568"/>
              </a:solidFill>
              <a:cs typeface="Segoe UI"/>
            </a:endParaRPr>
          </a:p>
          <a:p>
            <a:r>
              <a:rPr lang="pt-BR" sz="3200" b="1" dirty="0">
                <a:solidFill>
                  <a:srgbClr val="004568"/>
                </a:solidFill>
              </a:rPr>
              <a:t>Então vamos lá!</a:t>
            </a:r>
            <a:endParaRPr lang="pt-BR" sz="3200" b="1" dirty="0">
              <a:solidFill>
                <a:srgbClr val="004568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40192700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08FBD-9C9D-A3B6-525C-B54E9DE5A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8CA6A2F5-712F-0488-765B-4201D1B043C1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66ABF05-E057-85FA-325A-DCFF912CCD9D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</a:rPr>
              <a:t>Criação de projeto</a:t>
            </a:r>
            <a:endParaRPr lang="pt-BR" sz="2000" dirty="0">
              <a:solidFill>
                <a:schemeClr val="accent3">
                  <a:lumMod val="49000"/>
                </a:schemeClr>
              </a:solidFill>
              <a:cs typeface="Segoe U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005C7B4-839E-7786-953B-7A76FA7ABBD3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 err="1">
                <a:solidFill>
                  <a:schemeClr val="accent5"/>
                </a:solidFill>
              </a:rPr>
              <a:t>Git</a:t>
            </a:r>
            <a:r>
              <a:rPr lang="pt-BR" sz="3200" b="1" dirty="0">
                <a:solidFill>
                  <a:schemeClr val="accent5"/>
                </a:solidFill>
              </a:rPr>
              <a:t> </a:t>
            </a:r>
            <a:r>
              <a:rPr lang="pt-BR" sz="3200" b="1" dirty="0" err="1">
                <a:solidFill>
                  <a:schemeClr val="accent5"/>
                </a:solidFill>
              </a:rPr>
              <a:t>init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F2DF2CB-D2FB-36C4-CF74-AF1FB51CFE90}"/>
              </a:ext>
            </a:extLst>
          </p:cNvPr>
          <p:cNvSpPr txBox="1"/>
          <p:nvPr/>
        </p:nvSpPr>
        <p:spPr>
          <a:xfrm>
            <a:off x="450848" y="1509558"/>
            <a:ext cx="11245512" cy="5342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500"/>
              </a:spcAft>
              <a:buNone/>
            </a:pPr>
            <a:r>
              <a:rPr lang="pt-BR" sz="2400" b="1" dirty="0" err="1">
                <a:solidFill>
                  <a:srgbClr val="1E2761"/>
                </a:solidFill>
                <a:effectLst/>
                <a:latin typeface="Arial" panose="020B0604020202020204" pitchFamily="34" charset="0"/>
              </a:rPr>
              <a:t>git</a:t>
            </a:r>
            <a:r>
              <a:rPr lang="pt-BR" sz="2400" b="1" dirty="0">
                <a:solidFill>
                  <a:srgbClr val="1E276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2400" b="1" dirty="0" err="1">
                <a:solidFill>
                  <a:srgbClr val="1E2761"/>
                </a:solidFill>
                <a:effectLst/>
                <a:latin typeface="Arial" panose="020B0604020202020204" pitchFamily="34" charset="0"/>
              </a:rPr>
              <a:t>init</a:t>
            </a:r>
            <a:r>
              <a:rPr lang="pt-BR" sz="2400" b="1" dirty="0">
                <a:solidFill>
                  <a:srgbClr val="1E2761"/>
                </a:solidFill>
                <a:effectLst/>
                <a:latin typeface="Arial" panose="020B0604020202020204" pitchFamily="34" charset="0"/>
              </a:rPr>
              <a:t> — Iniciando um repositório</a:t>
            </a:r>
          </a:p>
          <a:p>
            <a:pPr>
              <a:spcAft>
                <a:spcPts val="600"/>
              </a:spcAft>
              <a:buNone/>
            </a:pPr>
            <a:r>
              <a:rPr lang="pt-BR" sz="1800" dirty="0">
                <a:solidFill>
                  <a:schemeClr val="accent5"/>
                </a:solidFill>
                <a:effectLst/>
                <a:ea typeface="Arial" panose="020B0604020202020204" pitchFamily="34" charset="0"/>
              </a:rPr>
              <a:t>O comando </a:t>
            </a:r>
            <a:r>
              <a:rPr lang="pt-BR" sz="1800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 panose="020B0604020202020204" pitchFamily="34" charset="0"/>
              </a:rPr>
              <a:t>git</a:t>
            </a:r>
            <a:r>
              <a:rPr lang="pt-BR" sz="1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 panose="020B0604020202020204" pitchFamily="34" charset="0"/>
              </a:rPr>
              <a:t> </a:t>
            </a:r>
            <a:r>
              <a:rPr lang="pt-BR" sz="1800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 panose="020B0604020202020204" pitchFamily="34" charset="0"/>
              </a:rPr>
              <a:t>init</a:t>
            </a:r>
            <a:r>
              <a:rPr lang="pt-BR" sz="1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 panose="020B0604020202020204" pitchFamily="34" charset="0"/>
              </a:rPr>
              <a:t> </a:t>
            </a:r>
            <a:r>
              <a:rPr lang="pt-BR" sz="1800" dirty="0">
                <a:solidFill>
                  <a:schemeClr val="accent5"/>
                </a:solidFill>
                <a:effectLst/>
                <a:ea typeface="Arial" panose="020B0604020202020204" pitchFamily="34" charset="0"/>
              </a:rPr>
              <a:t>transforma uma pasta comum em um repositório </a:t>
            </a:r>
            <a:r>
              <a:rPr lang="pt-BR" sz="1800" dirty="0" err="1">
                <a:solidFill>
                  <a:schemeClr val="accent5"/>
                </a:solidFill>
                <a:effectLst/>
                <a:ea typeface="Arial" panose="020B0604020202020204" pitchFamily="34" charset="0"/>
              </a:rPr>
              <a:t>Git</a:t>
            </a:r>
            <a:r>
              <a:rPr lang="pt-BR" sz="1800" dirty="0">
                <a:solidFill>
                  <a:schemeClr val="accent5"/>
                </a:solidFill>
                <a:effectLst/>
                <a:ea typeface="Arial" panose="020B0604020202020204" pitchFamily="34" charset="0"/>
              </a:rPr>
              <a:t>. </a:t>
            </a:r>
          </a:p>
          <a:p>
            <a:pPr>
              <a:spcAft>
                <a:spcPts val="600"/>
              </a:spcAft>
              <a:buNone/>
            </a:pPr>
            <a:r>
              <a:rPr lang="pt-BR" sz="1800" dirty="0">
                <a:solidFill>
                  <a:schemeClr val="accent5"/>
                </a:solidFill>
                <a:effectLst/>
                <a:ea typeface="Arial" panose="020B0604020202020204" pitchFamily="34" charset="0"/>
              </a:rPr>
              <a:t>Ele cria uma pasta oculta chamada </a:t>
            </a:r>
            <a:r>
              <a:rPr lang="pt-BR" sz="1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 panose="020B0604020202020204" pitchFamily="34" charset="0"/>
              </a:rPr>
              <a:t>.</a:t>
            </a:r>
            <a:r>
              <a:rPr lang="pt-BR" sz="1800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 panose="020B0604020202020204" pitchFamily="34" charset="0"/>
              </a:rPr>
              <a:t>git</a:t>
            </a:r>
            <a:r>
              <a:rPr lang="pt-BR" sz="1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 panose="020B0604020202020204" pitchFamily="34" charset="0"/>
              </a:rPr>
              <a:t> </a:t>
            </a:r>
            <a:r>
              <a:rPr lang="pt-BR" sz="1800" dirty="0">
                <a:solidFill>
                  <a:schemeClr val="accent5"/>
                </a:solidFill>
                <a:effectLst/>
                <a:ea typeface="Arial" panose="020B0604020202020204" pitchFamily="34" charset="0"/>
              </a:rPr>
              <a:t>dentro do diretório atual, onde o </a:t>
            </a:r>
            <a:r>
              <a:rPr lang="pt-BR" sz="1800" dirty="0" err="1">
                <a:solidFill>
                  <a:schemeClr val="accent5"/>
                </a:solidFill>
                <a:effectLst/>
                <a:ea typeface="Arial" panose="020B0604020202020204" pitchFamily="34" charset="0"/>
              </a:rPr>
              <a:t>Git</a:t>
            </a:r>
            <a:r>
              <a:rPr lang="pt-BR" sz="1800" dirty="0">
                <a:solidFill>
                  <a:schemeClr val="accent5"/>
                </a:solidFill>
                <a:effectLst/>
                <a:ea typeface="Arial" panose="020B0604020202020204" pitchFamily="34" charset="0"/>
              </a:rPr>
              <a:t> armazenará todo o histórico e configurações. </a:t>
            </a:r>
          </a:p>
          <a:p>
            <a:pPr>
              <a:spcAft>
                <a:spcPts val="600"/>
              </a:spcAft>
              <a:buNone/>
            </a:pPr>
            <a:endParaRPr lang="pt-BR" sz="1800" dirty="0">
              <a:solidFill>
                <a:schemeClr val="accent5"/>
              </a:solidFill>
              <a:effectLst/>
              <a:ea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pt-BR" b="1" dirty="0">
                <a:solidFill>
                  <a:schemeClr val="accent5"/>
                </a:solidFill>
              </a:rPr>
              <a:t>Criar uma nova pasta e entrar nela</a:t>
            </a:r>
          </a:p>
          <a:p>
            <a:pPr marL="342900" indent="-342900">
              <a:buAutoNum type="arabicPeriod"/>
            </a:pPr>
            <a:endParaRPr lang="pt-BR" dirty="0">
              <a:solidFill>
                <a:schemeClr val="accent5"/>
              </a:solidFill>
            </a:endParaRPr>
          </a:p>
          <a:p>
            <a:pPr marL="342900" indent="-342900">
              <a:buAutoNum type="arabicPeriod"/>
            </a:pPr>
            <a:endParaRPr lang="pt-BR" dirty="0">
              <a:solidFill>
                <a:schemeClr val="accent5"/>
              </a:solidFill>
            </a:endParaRPr>
          </a:p>
          <a:p>
            <a:pPr marL="342900" indent="-342900">
              <a:buAutoNum type="arabicPeriod"/>
            </a:pPr>
            <a:r>
              <a:rPr lang="pt-BR" b="1" dirty="0">
                <a:solidFill>
                  <a:schemeClr val="accent5"/>
                </a:solidFill>
              </a:rPr>
              <a:t>Entrar na pasta </a:t>
            </a:r>
          </a:p>
          <a:p>
            <a:pPr marL="342900" indent="-342900">
              <a:buAutoNum type="arabicPeriod"/>
            </a:pPr>
            <a:endParaRPr lang="pt-BR" dirty="0">
              <a:solidFill>
                <a:schemeClr val="accent5"/>
              </a:solidFill>
            </a:endParaRPr>
          </a:p>
          <a:p>
            <a:pPr marL="342900" indent="-342900">
              <a:buAutoNum type="arabicPeriod"/>
            </a:pPr>
            <a:endParaRPr lang="pt-BR" dirty="0">
              <a:solidFill>
                <a:schemeClr val="accent5"/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pt-BR" b="1" dirty="0">
                <a:solidFill>
                  <a:schemeClr val="accent5"/>
                </a:solidFill>
              </a:rPr>
              <a:t>Inicializar o repositório </a:t>
            </a:r>
            <a:r>
              <a:rPr lang="pt-BR" b="1" dirty="0" err="1">
                <a:solidFill>
                  <a:schemeClr val="accent5"/>
                </a:solidFill>
              </a:rPr>
              <a:t>Git</a:t>
            </a:r>
            <a:endParaRPr lang="pt-BR" b="1" dirty="0">
              <a:solidFill>
                <a:schemeClr val="accent5"/>
              </a:solidFill>
            </a:endParaRPr>
          </a:p>
          <a:p>
            <a:pPr marL="342900" indent="-342900">
              <a:buAutoNum type="arabicPeriod"/>
            </a:pPr>
            <a:endParaRPr lang="pt-BR" dirty="0">
              <a:solidFill>
                <a:srgbClr val="008000"/>
              </a:solidFill>
            </a:endParaRPr>
          </a:p>
          <a:p>
            <a:pPr marL="342900" indent="-342900">
              <a:buAutoNum type="arabicPeriod"/>
            </a:pPr>
            <a:endParaRPr lang="pt-BR" dirty="0">
              <a:solidFill>
                <a:srgbClr val="008000"/>
              </a:solidFill>
            </a:endParaRPr>
          </a:p>
          <a:p>
            <a:pPr marL="342900" indent="-342900">
              <a:buAutoNum type="arabicPeriod"/>
            </a:pPr>
            <a:endParaRPr lang="pt-BR" dirty="0">
              <a:solidFill>
                <a:srgbClr val="008000"/>
              </a:solidFill>
            </a:endParaRPr>
          </a:p>
          <a:p>
            <a:pPr>
              <a:spcBef>
                <a:spcPts val="300"/>
              </a:spcBef>
              <a:spcAft>
                <a:spcPts val="600"/>
              </a:spcAft>
              <a:buNone/>
            </a:pPr>
            <a:endParaRPr lang="pt-BR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300"/>
              </a:spcBef>
              <a:spcAft>
                <a:spcPts val="600"/>
              </a:spcAft>
              <a:buNone/>
            </a:pPr>
            <a:r>
              <a:rPr lang="pt-BR" sz="18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Você só precisa executar este comando uma vez por projeto.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540201C-04A0-9723-6751-D63C11BFBC27}"/>
              </a:ext>
            </a:extLst>
          </p:cNvPr>
          <p:cNvSpPr/>
          <p:nvPr/>
        </p:nvSpPr>
        <p:spPr>
          <a:xfrm>
            <a:off x="874534" y="3711804"/>
            <a:ext cx="4329060" cy="3040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600" err="1">
                <a:solidFill>
                  <a:srgbClr val="FFFF00"/>
                </a:solidFill>
              </a:rPr>
              <a:t>mkdir</a:t>
            </a:r>
            <a:r>
              <a:rPr lang="pt-BR" sz="1600" dirty="0">
                <a:solidFill>
                  <a:srgbClr val="FFFF00"/>
                </a:solidFill>
              </a:rPr>
              <a:t> meu-projeto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0076E0B-6A33-F23E-29D5-F27EF1922594}"/>
              </a:ext>
            </a:extLst>
          </p:cNvPr>
          <p:cNvSpPr/>
          <p:nvPr/>
        </p:nvSpPr>
        <p:spPr>
          <a:xfrm>
            <a:off x="874532" y="5340285"/>
            <a:ext cx="4329062" cy="3040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600" dirty="0">
                <a:solidFill>
                  <a:srgbClr val="FFFF00"/>
                </a:solidFill>
              </a:rPr>
              <a:t>$ </a:t>
            </a:r>
            <a:r>
              <a:rPr lang="pt-BR" sz="1600" err="1">
                <a:solidFill>
                  <a:srgbClr val="FFFF00"/>
                </a:solidFill>
              </a:rPr>
              <a:t>git</a:t>
            </a:r>
            <a:r>
              <a:rPr lang="pt-BR" sz="1600" dirty="0">
                <a:solidFill>
                  <a:srgbClr val="FFFF00"/>
                </a:solidFill>
              </a:rPr>
              <a:t> </a:t>
            </a:r>
            <a:r>
              <a:rPr lang="pt-BR" sz="1600" err="1">
                <a:solidFill>
                  <a:srgbClr val="FFFF00"/>
                </a:solidFill>
              </a:rPr>
              <a:t>init</a:t>
            </a:r>
            <a:endParaRPr lang="pt-BR" sz="1200">
              <a:solidFill>
                <a:srgbClr val="FFFF00"/>
              </a:solidFill>
              <a:cs typeface="Segoe UI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3F97262-0C0E-E915-D16E-1BFCC826FAC8}"/>
              </a:ext>
            </a:extLst>
          </p:cNvPr>
          <p:cNvSpPr/>
          <p:nvPr/>
        </p:nvSpPr>
        <p:spPr>
          <a:xfrm>
            <a:off x="874533" y="4467520"/>
            <a:ext cx="4329061" cy="3040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600" err="1">
                <a:solidFill>
                  <a:srgbClr val="FFFF00"/>
                </a:solidFill>
              </a:rPr>
              <a:t>cd</a:t>
            </a:r>
            <a:r>
              <a:rPr lang="pt-BR" sz="1600" dirty="0">
                <a:solidFill>
                  <a:srgbClr val="FFFF00"/>
                </a:solidFill>
              </a:rPr>
              <a:t> meu-projeto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89673A3-A0EB-2BB1-74A9-11ED5C7CB4ED}"/>
              </a:ext>
            </a:extLst>
          </p:cNvPr>
          <p:cNvSpPr/>
          <p:nvPr/>
        </p:nvSpPr>
        <p:spPr>
          <a:xfrm>
            <a:off x="874535" y="5766391"/>
            <a:ext cx="4329062" cy="4890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dirty="0">
                <a:solidFill>
                  <a:srgbClr val="FFCCCC"/>
                </a:solidFill>
              </a:rPr>
              <a:t># Saída esperada:</a:t>
            </a:r>
          </a:p>
          <a:p>
            <a:r>
              <a:rPr lang="pt-BR" sz="1200" dirty="0" err="1">
                <a:solidFill>
                  <a:srgbClr val="FFCCCC"/>
                </a:solidFill>
              </a:rPr>
              <a:t>Initialized</a:t>
            </a:r>
            <a:r>
              <a:rPr lang="pt-BR" sz="1200" dirty="0">
                <a:solidFill>
                  <a:srgbClr val="FFCCCC"/>
                </a:solidFill>
              </a:rPr>
              <a:t> </a:t>
            </a:r>
            <a:r>
              <a:rPr lang="pt-BR" sz="1200" dirty="0" err="1">
                <a:solidFill>
                  <a:srgbClr val="FFCCCC"/>
                </a:solidFill>
              </a:rPr>
              <a:t>empty</a:t>
            </a:r>
            <a:r>
              <a:rPr lang="pt-BR" sz="1200" dirty="0">
                <a:solidFill>
                  <a:srgbClr val="FFCCCC"/>
                </a:solidFill>
              </a:rPr>
              <a:t> </a:t>
            </a:r>
            <a:r>
              <a:rPr lang="pt-BR" sz="1200" dirty="0" err="1">
                <a:solidFill>
                  <a:srgbClr val="FFCCCC"/>
                </a:solidFill>
              </a:rPr>
              <a:t>Git</a:t>
            </a:r>
            <a:r>
              <a:rPr lang="pt-BR" sz="1200" dirty="0">
                <a:solidFill>
                  <a:srgbClr val="FFCCCC"/>
                </a:solidFill>
              </a:rPr>
              <a:t> </a:t>
            </a:r>
            <a:r>
              <a:rPr lang="pt-BR" sz="1200" dirty="0" err="1">
                <a:solidFill>
                  <a:srgbClr val="FFCCCC"/>
                </a:solidFill>
              </a:rPr>
              <a:t>repository</a:t>
            </a:r>
            <a:r>
              <a:rPr lang="pt-BR" sz="1200" dirty="0">
                <a:solidFill>
                  <a:srgbClr val="FFCCCC"/>
                </a:solidFill>
              </a:rPr>
              <a:t> in /caminho/meu-projeto/.</a:t>
            </a:r>
            <a:r>
              <a:rPr lang="pt-BR" sz="1200" dirty="0" err="1">
                <a:solidFill>
                  <a:srgbClr val="FFCCCC"/>
                </a:solidFill>
              </a:rPr>
              <a:t>git</a:t>
            </a:r>
            <a:r>
              <a:rPr lang="pt-BR" sz="1200" dirty="0">
                <a:solidFill>
                  <a:srgbClr val="FFCCCC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196348063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587DC-9F43-A611-8D90-B2C3C6D9B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82777E6-B333-B920-CCA2-80A04C92624B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9DDC1A-8ED3-5084-11B2-829B69CF1FE6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  <a:cs typeface="Segoe UI"/>
              </a:rPr>
              <a:t>Estado atual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4E4285E-0379-42E6-EA97-EE516DC214D5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 err="1">
                <a:solidFill>
                  <a:schemeClr val="accent5"/>
                </a:solidFill>
              </a:rPr>
              <a:t>Git</a:t>
            </a:r>
            <a:r>
              <a:rPr lang="pt-BR" sz="3200" b="1" dirty="0">
                <a:solidFill>
                  <a:schemeClr val="accent5"/>
                </a:solidFill>
              </a:rPr>
              <a:t> status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84EDACD-4382-0B30-61D5-D6CF0308EE78}"/>
              </a:ext>
            </a:extLst>
          </p:cNvPr>
          <p:cNvSpPr txBox="1"/>
          <p:nvPr/>
        </p:nvSpPr>
        <p:spPr>
          <a:xfrm>
            <a:off x="450848" y="1509558"/>
            <a:ext cx="11245512" cy="500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 err="1">
                <a:solidFill>
                  <a:schemeClr val="accent5"/>
                </a:solidFill>
              </a:rPr>
              <a:t>Git</a:t>
            </a:r>
            <a:r>
              <a:rPr lang="pt-BR" sz="2400" b="1" dirty="0">
                <a:solidFill>
                  <a:schemeClr val="accent5"/>
                </a:solidFill>
              </a:rPr>
              <a:t> status — Verificando o estado atual</a:t>
            </a:r>
          </a:p>
          <a:p>
            <a:endParaRPr lang="pt-BR" b="1" dirty="0">
              <a:solidFill>
                <a:schemeClr val="accent5"/>
              </a:solidFill>
            </a:endParaRPr>
          </a:p>
          <a:p>
            <a:r>
              <a:rPr lang="pt-BR" dirty="0">
                <a:solidFill>
                  <a:schemeClr val="accent5"/>
                </a:solidFill>
              </a:rPr>
              <a:t>O </a:t>
            </a:r>
            <a:r>
              <a:rPr lang="pt-BR" dirty="0" err="1">
                <a:solidFill>
                  <a:schemeClr val="accent5"/>
                </a:solidFill>
              </a:rPr>
              <a:t>git</a:t>
            </a:r>
            <a:r>
              <a:rPr lang="pt-BR" dirty="0">
                <a:solidFill>
                  <a:schemeClr val="accent5"/>
                </a:solidFill>
              </a:rPr>
              <a:t> status é o comando mais usado no dia a dia. </a:t>
            </a:r>
          </a:p>
          <a:p>
            <a:r>
              <a:rPr lang="pt-BR" dirty="0">
                <a:solidFill>
                  <a:schemeClr val="accent5"/>
                </a:solidFill>
              </a:rPr>
              <a:t>Ele mostra exatamente o que está acontecendo no seu repositório: quais arquivos foram modificados, quais estão na </a:t>
            </a:r>
            <a:r>
              <a:rPr lang="pt-BR" b="1" dirty="0" err="1">
                <a:solidFill>
                  <a:schemeClr val="accent5"/>
                </a:solidFill>
              </a:rPr>
              <a:t>Staging</a:t>
            </a:r>
            <a:r>
              <a:rPr lang="pt-BR" b="1" dirty="0">
                <a:solidFill>
                  <a:schemeClr val="accent5"/>
                </a:solidFill>
              </a:rPr>
              <a:t> Area </a:t>
            </a:r>
            <a:r>
              <a:rPr lang="pt-BR" dirty="0">
                <a:solidFill>
                  <a:schemeClr val="accent5"/>
                </a:solidFill>
              </a:rPr>
              <a:t>esperando o </a:t>
            </a:r>
            <a:r>
              <a:rPr lang="pt-BR" dirty="0" err="1">
                <a:solidFill>
                  <a:schemeClr val="accent5"/>
                </a:solidFill>
              </a:rPr>
              <a:t>commit</a:t>
            </a:r>
            <a:r>
              <a:rPr lang="pt-BR" dirty="0">
                <a:solidFill>
                  <a:schemeClr val="accent5"/>
                </a:solidFill>
              </a:rPr>
              <a:t>, e quais arquivos ainda </a:t>
            </a:r>
            <a:r>
              <a:rPr lang="pt-BR" b="1" dirty="0">
                <a:solidFill>
                  <a:schemeClr val="accent5"/>
                </a:solidFill>
              </a:rPr>
              <a:t>não são rastreados</a:t>
            </a:r>
            <a:r>
              <a:rPr lang="pt-BR" dirty="0">
                <a:solidFill>
                  <a:schemeClr val="accent5"/>
                </a:solidFill>
              </a:rPr>
              <a:t> pelo </a:t>
            </a:r>
            <a:r>
              <a:rPr lang="pt-BR" dirty="0" err="1">
                <a:solidFill>
                  <a:schemeClr val="accent5"/>
                </a:solidFill>
              </a:rPr>
              <a:t>Git</a:t>
            </a:r>
            <a:r>
              <a:rPr lang="pt-BR" dirty="0">
                <a:solidFill>
                  <a:schemeClr val="accent5"/>
                </a:solidFill>
              </a:rPr>
              <a:t>.</a:t>
            </a:r>
          </a:p>
          <a:p>
            <a:r>
              <a:rPr lang="pt-BR" dirty="0">
                <a:solidFill>
                  <a:schemeClr val="accent5"/>
                </a:solidFill>
              </a:rPr>
              <a:t> </a:t>
            </a:r>
          </a:p>
          <a:p>
            <a:r>
              <a:rPr lang="pt-BR" dirty="0">
                <a:solidFill>
                  <a:schemeClr val="accent5"/>
                </a:solidFill>
              </a:rPr>
              <a:t>Execute este comando com frequência, ele é sua bússola no </a:t>
            </a:r>
            <a:r>
              <a:rPr lang="pt-BR" dirty="0" err="1">
                <a:solidFill>
                  <a:schemeClr val="accent5"/>
                </a:solidFill>
              </a:rPr>
              <a:t>Git</a:t>
            </a:r>
            <a:r>
              <a:rPr lang="pt-BR" dirty="0">
                <a:solidFill>
                  <a:schemeClr val="accent5"/>
                </a:solidFill>
              </a:rPr>
              <a:t>.</a:t>
            </a:r>
          </a:p>
          <a:p>
            <a:pPr>
              <a:spcAft>
                <a:spcPts val="600"/>
              </a:spcAft>
              <a:buNone/>
            </a:pPr>
            <a:endParaRPr lang="pt-BR" sz="1800" dirty="0">
              <a:solidFill>
                <a:schemeClr val="accent5"/>
              </a:solidFill>
              <a:effectLst/>
              <a:ea typeface="Arial" panose="020B0604020202020204" pitchFamily="34" charset="0"/>
            </a:endParaRPr>
          </a:p>
          <a:p>
            <a:endParaRPr lang="pt-BR" dirty="0">
              <a:solidFill>
                <a:schemeClr val="accent5"/>
              </a:solidFill>
            </a:endParaRPr>
          </a:p>
          <a:p>
            <a:pPr marL="342900" indent="-342900">
              <a:buAutoNum type="arabicPeriod"/>
            </a:pPr>
            <a:endParaRPr lang="pt-BR" dirty="0">
              <a:solidFill>
                <a:schemeClr val="accent5"/>
              </a:solidFill>
            </a:endParaRPr>
          </a:p>
          <a:p>
            <a:r>
              <a:rPr lang="pt-BR" dirty="0">
                <a:solidFill>
                  <a:schemeClr val="accent5"/>
                </a:solidFill>
              </a:rPr>
              <a:t>Exemplo de saída quando há arquivos modificados:</a:t>
            </a:r>
          </a:p>
          <a:p>
            <a:pPr marL="342900" indent="-342900">
              <a:buAutoNum type="arabicPeriod"/>
            </a:pPr>
            <a:endParaRPr lang="pt-BR" dirty="0">
              <a:solidFill>
                <a:schemeClr val="accent5"/>
              </a:solidFill>
            </a:endParaRPr>
          </a:p>
          <a:p>
            <a:pPr marL="342900" indent="-342900">
              <a:buAutoNum type="arabicPeriod"/>
            </a:pPr>
            <a:endParaRPr lang="pt-BR" dirty="0">
              <a:solidFill>
                <a:schemeClr val="accent5"/>
              </a:solidFill>
            </a:endParaRPr>
          </a:p>
          <a:p>
            <a:pPr marL="342900" indent="-342900">
              <a:buAutoNum type="arabicPeriod"/>
            </a:pPr>
            <a:endParaRPr lang="pt-BR" dirty="0">
              <a:solidFill>
                <a:schemeClr val="accent5"/>
              </a:solidFill>
            </a:endParaRPr>
          </a:p>
          <a:p>
            <a:pPr marL="342900" indent="-342900">
              <a:buAutoNum type="arabicPeriod"/>
            </a:pPr>
            <a:endParaRPr lang="pt-BR" dirty="0">
              <a:solidFill>
                <a:srgbClr val="008000"/>
              </a:solidFill>
            </a:endParaRPr>
          </a:p>
          <a:p>
            <a:pPr marL="342900" indent="-342900">
              <a:buAutoNum type="arabicPeriod"/>
            </a:pPr>
            <a:endParaRPr lang="pt-BR" dirty="0">
              <a:solidFill>
                <a:srgbClr val="008000"/>
              </a:solidFill>
            </a:endParaRPr>
          </a:p>
          <a:p>
            <a:pPr>
              <a:spcBef>
                <a:spcPts val="300"/>
              </a:spcBef>
              <a:spcAft>
                <a:spcPts val="600"/>
              </a:spcAft>
              <a:buNone/>
            </a:pPr>
            <a:endParaRPr lang="pt-BR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FB3EF12-7E54-A6BB-DC6F-E71B72176401}"/>
              </a:ext>
            </a:extLst>
          </p:cNvPr>
          <p:cNvSpPr/>
          <p:nvPr/>
        </p:nvSpPr>
        <p:spPr>
          <a:xfrm>
            <a:off x="571054" y="3710077"/>
            <a:ext cx="4329062" cy="3040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600" dirty="0">
                <a:solidFill>
                  <a:srgbClr val="FFFF00"/>
                </a:solidFill>
              </a:rPr>
              <a:t>$ </a:t>
            </a:r>
            <a:r>
              <a:rPr lang="pt-BR" sz="1600" dirty="0" err="1">
                <a:solidFill>
                  <a:srgbClr val="FFFF00"/>
                </a:solidFill>
              </a:rPr>
              <a:t>git</a:t>
            </a:r>
            <a:r>
              <a:rPr lang="pt-BR" sz="1600" dirty="0">
                <a:solidFill>
                  <a:srgbClr val="FFFF00"/>
                </a:solidFill>
              </a:rPr>
              <a:t> status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20BAF35-6483-87AB-78BE-F49209C8B72F}"/>
              </a:ext>
            </a:extLst>
          </p:cNvPr>
          <p:cNvSpPr/>
          <p:nvPr/>
        </p:nvSpPr>
        <p:spPr>
          <a:xfrm>
            <a:off x="571054" y="4834416"/>
            <a:ext cx="4329062" cy="14575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100" dirty="0" err="1">
                <a:solidFill>
                  <a:srgbClr val="FFCCCC"/>
                </a:solidFill>
              </a:rPr>
              <a:t>On</a:t>
            </a:r>
            <a:r>
              <a:rPr lang="pt-BR" sz="1100" dirty="0">
                <a:solidFill>
                  <a:srgbClr val="FFCCCC"/>
                </a:solidFill>
              </a:rPr>
              <a:t> </a:t>
            </a:r>
            <a:r>
              <a:rPr lang="pt-BR" sz="1100" dirty="0" err="1">
                <a:solidFill>
                  <a:srgbClr val="FFCCCC"/>
                </a:solidFill>
              </a:rPr>
              <a:t>branch</a:t>
            </a:r>
            <a:r>
              <a:rPr lang="pt-BR" sz="1100" dirty="0">
                <a:solidFill>
                  <a:srgbClr val="FFCCCC"/>
                </a:solidFill>
              </a:rPr>
              <a:t> </a:t>
            </a:r>
            <a:r>
              <a:rPr lang="pt-BR" sz="1100" dirty="0" err="1">
                <a:solidFill>
                  <a:srgbClr val="FFCCCC"/>
                </a:solidFill>
              </a:rPr>
              <a:t>main</a:t>
            </a:r>
            <a:endParaRPr lang="pt-BR" sz="1100" dirty="0">
              <a:solidFill>
                <a:srgbClr val="FFCCCC"/>
              </a:solidFill>
            </a:endParaRPr>
          </a:p>
          <a:p>
            <a:r>
              <a:rPr lang="pt-BR" sz="1100" dirty="0">
                <a:solidFill>
                  <a:srgbClr val="FFCCCC"/>
                </a:solidFill>
              </a:rPr>
              <a:t>        </a:t>
            </a:r>
            <a:r>
              <a:rPr lang="pt-BR" sz="1100" dirty="0" err="1">
                <a:solidFill>
                  <a:srgbClr val="FFCCCC"/>
                </a:solidFill>
              </a:rPr>
              <a:t>Changes</a:t>
            </a:r>
            <a:r>
              <a:rPr lang="pt-BR" sz="1100" dirty="0">
                <a:solidFill>
                  <a:srgbClr val="FFCCCC"/>
                </a:solidFill>
              </a:rPr>
              <a:t> </a:t>
            </a:r>
            <a:r>
              <a:rPr lang="pt-BR" sz="1100" dirty="0" err="1">
                <a:solidFill>
                  <a:srgbClr val="FFCCCC"/>
                </a:solidFill>
              </a:rPr>
              <a:t>not</a:t>
            </a:r>
            <a:r>
              <a:rPr lang="pt-BR" sz="1100" dirty="0">
                <a:solidFill>
                  <a:srgbClr val="FFCCCC"/>
                </a:solidFill>
              </a:rPr>
              <a:t> </a:t>
            </a:r>
            <a:r>
              <a:rPr lang="pt-BR" sz="1100" dirty="0" err="1">
                <a:solidFill>
                  <a:srgbClr val="FFCCCC"/>
                </a:solidFill>
              </a:rPr>
              <a:t>staged</a:t>
            </a:r>
            <a:r>
              <a:rPr lang="pt-BR" sz="1100" dirty="0">
                <a:solidFill>
                  <a:srgbClr val="FFCCCC"/>
                </a:solidFill>
              </a:rPr>
              <a:t> for </a:t>
            </a:r>
            <a:r>
              <a:rPr lang="pt-BR" sz="1100" dirty="0" err="1">
                <a:solidFill>
                  <a:srgbClr val="FFCCCC"/>
                </a:solidFill>
              </a:rPr>
              <a:t>commit</a:t>
            </a:r>
            <a:r>
              <a:rPr lang="pt-BR" sz="1100" dirty="0">
                <a:solidFill>
                  <a:srgbClr val="FFCCCC"/>
                </a:solidFill>
              </a:rPr>
              <a:t>:</a:t>
            </a:r>
          </a:p>
          <a:p>
            <a:r>
              <a:rPr lang="pt-BR" sz="1100" dirty="0">
                <a:solidFill>
                  <a:srgbClr val="FFCCCC"/>
                </a:solidFill>
              </a:rPr>
              <a:t>        </a:t>
            </a:r>
            <a:r>
              <a:rPr lang="pt-BR" sz="1100" dirty="0" err="1">
                <a:solidFill>
                  <a:srgbClr val="FFCCCC"/>
                </a:solidFill>
              </a:rPr>
              <a:t>modified</a:t>
            </a:r>
            <a:r>
              <a:rPr lang="pt-BR" sz="1100" dirty="0">
                <a:solidFill>
                  <a:srgbClr val="FFCCCC"/>
                </a:solidFill>
              </a:rPr>
              <a:t>:   index.js</a:t>
            </a:r>
          </a:p>
          <a:p>
            <a:r>
              <a:rPr lang="pt-BR" sz="1100" dirty="0">
                <a:solidFill>
                  <a:srgbClr val="FFCCCC"/>
                </a:solidFill>
              </a:rPr>
              <a:t> </a:t>
            </a:r>
          </a:p>
          <a:p>
            <a:r>
              <a:rPr lang="pt-BR" sz="1100" dirty="0" err="1">
                <a:solidFill>
                  <a:srgbClr val="FFCCCC"/>
                </a:solidFill>
              </a:rPr>
              <a:t>Untracked</a:t>
            </a:r>
            <a:r>
              <a:rPr lang="pt-BR" sz="1100" dirty="0">
                <a:solidFill>
                  <a:srgbClr val="FFCCCC"/>
                </a:solidFill>
              </a:rPr>
              <a:t> files:</a:t>
            </a:r>
          </a:p>
          <a:p>
            <a:r>
              <a:rPr lang="pt-BR" sz="1100" dirty="0">
                <a:solidFill>
                  <a:srgbClr val="FFCCCC"/>
                </a:solidFill>
              </a:rPr>
              <a:t>        novo-arquivo.js</a:t>
            </a:r>
            <a:endParaRPr lang="pt-BR" sz="900" dirty="0">
              <a:solidFill>
                <a:srgbClr val="FF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2793111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AE683-6C8C-8F00-22DA-FB36ED8BA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22438BDB-F77C-DDB9-F329-F969E37F9857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72701A3-0CE0-EEEA-0C1D-C7B14F705613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 err="1">
                <a:solidFill>
                  <a:schemeClr val="accent3">
                    <a:lumMod val="49000"/>
                  </a:schemeClr>
                </a:solidFill>
              </a:rPr>
              <a:t>Subtitulo</a:t>
            </a:r>
            <a:endParaRPr lang="pt-BR" sz="2000" dirty="0">
              <a:solidFill>
                <a:schemeClr val="accent3">
                  <a:lumMod val="49000"/>
                </a:schemeClr>
              </a:solidFill>
              <a:cs typeface="Segoe U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465431E-FD5B-CF42-74A7-DA95227ABBBF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>
                <a:solidFill>
                  <a:schemeClr val="accent5"/>
                </a:solidFill>
              </a:rPr>
              <a:t>Versionamento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3E61688-152A-A0DC-3CAE-97F308BE7B83}"/>
              </a:ext>
            </a:extLst>
          </p:cNvPr>
          <p:cNvSpPr txBox="1"/>
          <p:nvPr/>
        </p:nvSpPr>
        <p:spPr>
          <a:xfrm>
            <a:off x="450848" y="1802018"/>
            <a:ext cx="11245512" cy="4447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 err="1">
                <a:solidFill>
                  <a:schemeClr val="accent5"/>
                </a:solidFill>
              </a:rPr>
              <a:t>Git</a:t>
            </a:r>
            <a:r>
              <a:rPr lang="pt-BR" sz="2000" b="1" dirty="0">
                <a:solidFill>
                  <a:schemeClr val="accent5"/>
                </a:solidFill>
              </a:rPr>
              <a:t> </a:t>
            </a:r>
            <a:r>
              <a:rPr lang="pt-BR" sz="2000" b="1" dirty="0" err="1">
                <a:solidFill>
                  <a:schemeClr val="accent5"/>
                </a:solidFill>
              </a:rPr>
              <a:t>add</a:t>
            </a:r>
            <a:r>
              <a:rPr lang="pt-BR" sz="2000" b="1" dirty="0">
                <a:solidFill>
                  <a:schemeClr val="accent5"/>
                </a:solidFill>
              </a:rPr>
              <a:t> — Adicionando à </a:t>
            </a:r>
            <a:r>
              <a:rPr lang="pt-BR" sz="2000" b="1" dirty="0" err="1">
                <a:solidFill>
                  <a:schemeClr val="accent5"/>
                </a:solidFill>
              </a:rPr>
              <a:t>Staging</a:t>
            </a:r>
            <a:r>
              <a:rPr lang="pt-BR" sz="2000" b="1" dirty="0">
                <a:solidFill>
                  <a:schemeClr val="accent5"/>
                </a:solidFill>
              </a:rPr>
              <a:t> Area</a:t>
            </a:r>
          </a:p>
          <a:p>
            <a:endParaRPr lang="pt-BR" sz="2000" b="1" dirty="0">
              <a:solidFill>
                <a:schemeClr val="accent5"/>
              </a:solidFill>
            </a:endParaRPr>
          </a:p>
          <a:p>
            <a:r>
              <a:rPr lang="pt-BR" sz="2000" dirty="0">
                <a:solidFill>
                  <a:schemeClr val="accent5"/>
                </a:solidFill>
              </a:rPr>
              <a:t>O comando </a:t>
            </a:r>
            <a:r>
              <a:rPr lang="pt-BR" sz="2000" dirty="0" err="1">
                <a:solidFill>
                  <a:schemeClr val="accent5"/>
                </a:solidFill>
              </a:rPr>
              <a:t>git</a:t>
            </a:r>
            <a:r>
              <a:rPr lang="pt-BR" sz="2000" dirty="0">
                <a:solidFill>
                  <a:schemeClr val="accent5"/>
                </a:solidFill>
              </a:rPr>
              <a:t> </a:t>
            </a:r>
            <a:r>
              <a:rPr lang="pt-BR" sz="2000" dirty="0" err="1">
                <a:solidFill>
                  <a:schemeClr val="accent5"/>
                </a:solidFill>
              </a:rPr>
              <a:t>add</a:t>
            </a:r>
            <a:r>
              <a:rPr lang="pt-BR" sz="2000" dirty="0">
                <a:solidFill>
                  <a:schemeClr val="accent5"/>
                </a:solidFill>
              </a:rPr>
              <a:t> move mudanças do </a:t>
            </a:r>
            <a:r>
              <a:rPr lang="pt-BR" sz="2000" b="1" dirty="0" err="1">
                <a:solidFill>
                  <a:schemeClr val="accent5"/>
                </a:solidFill>
              </a:rPr>
              <a:t>Working</a:t>
            </a:r>
            <a:r>
              <a:rPr lang="pt-BR" sz="2000" b="1" dirty="0">
                <a:solidFill>
                  <a:schemeClr val="accent5"/>
                </a:solidFill>
              </a:rPr>
              <a:t> </a:t>
            </a:r>
            <a:r>
              <a:rPr lang="pt-BR" sz="2000" b="1" dirty="0" err="1">
                <a:solidFill>
                  <a:schemeClr val="accent5"/>
                </a:solidFill>
              </a:rPr>
              <a:t>Directory</a:t>
            </a:r>
            <a:r>
              <a:rPr lang="pt-BR" sz="2000" dirty="0">
                <a:solidFill>
                  <a:schemeClr val="accent5"/>
                </a:solidFill>
              </a:rPr>
              <a:t> para a </a:t>
            </a:r>
            <a:r>
              <a:rPr lang="pt-BR" sz="2000" b="1" dirty="0" err="1">
                <a:solidFill>
                  <a:schemeClr val="accent5"/>
                </a:solidFill>
              </a:rPr>
              <a:t>Staging</a:t>
            </a:r>
            <a:r>
              <a:rPr lang="pt-BR" sz="2000" b="1" dirty="0">
                <a:solidFill>
                  <a:schemeClr val="accent5"/>
                </a:solidFill>
              </a:rPr>
              <a:t> Area</a:t>
            </a:r>
            <a:r>
              <a:rPr lang="pt-BR" sz="2000" dirty="0">
                <a:solidFill>
                  <a:schemeClr val="accent5"/>
                </a:solidFill>
              </a:rPr>
              <a:t>. </a:t>
            </a:r>
          </a:p>
          <a:p>
            <a:r>
              <a:rPr lang="pt-BR" sz="2000" dirty="0">
                <a:solidFill>
                  <a:schemeClr val="accent5"/>
                </a:solidFill>
              </a:rPr>
              <a:t>Você pode adicionar arquivos específicos ou usar o ponto (.) para adicionar todos os arquivos modificados de uma vez.</a:t>
            </a:r>
          </a:p>
          <a:p>
            <a:pPr>
              <a:spcAft>
                <a:spcPts val="600"/>
              </a:spcAft>
              <a:buNone/>
            </a:pPr>
            <a:endParaRPr lang="pt-BR" sz="2000" dirty="0">
              <a:solidFill>
                <a:schemeClr val="accent5"/>
              </a:solidFill>
              <a:effectLst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5"/>
                </a:solidFill>
              </a:rPr>
              <a:t>Adicionar um arquivo específico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5"/>
                </a:solidFill>
              </a:rPr>
              <a:t>Adicionar múltiplos arquivos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5"/>
                </a:solidFill>
              </a:rPr>
              <a:t>Adicionar todos os arquivos modificados de uma vez</a:t>
            </a:r>
          </a:p>
          <a:p>
            <a:pPr marL="342900" indent="-342900">
              <a:buAutoNum type="arabicPeriod"/>
            </a:pPr>
            <a:endParaRPr lang="pt-BR" dirty="0">
              <a:solidFill>
                <a:srgbClr val="008000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D26DF74-35E8-7D14-B4FA-4C5F60327177}"/>
              </a:ext>
            </a:extLst>
          </p:cNvPr>
          <p:cNvSpPr/>
          <p:nvPr/>
        </p:nvSpPr>
        <p:spPr>
          <a:xfrm>
            <a:off x="887594" y="4192069"/>
            <a:ext cx="4329060" cy="3040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600" dirty="0">
                <a:solidFill>
                  <a:srgbClr val="FFFF00"/>
                </a:solidFill>
              </a:rPr>
              <a:t>$ </a:t>
            </a:r>
            <a:r>
              <a:rPr lang="pt-BR" sz="1600" err="1">
                <a:solidFill>
                  <a:srgbClr val="FFFF00"/>
                </a:solidFill>
              </a:rPr>
              <a:t>git</a:t>
            </a:r>
            <a:r>
              <a:rPr lang="pt-BR" sz="1600" dirty="0">
                <a:solidFill>
                  <a:srgbClr val="FFFF00"/>
                </a:solidFill>
              </a:rPr>
              <a:t> </a:t>
            </a:r>
            <a:r>
              <a:rPr lang="pt-BR" sz="1600" err="1">
                <a:solidFill>
                  <a:srgbClr val="FFFF00"/>
                </a:solidFill>
              </a:rPr>
              <a:t>add</a:t>
            </a:r>
            <a:r>
              <a:rPr lang="pt-BR" sz="1600" dirty="0">
                <a:solidFill>
                  <a:srgbClr val="FFFF00"/>
                </a:solidFill>
              </a:rPr>
              <a:t> index.js</a:t>
            </a:r>
            <a:endParaRPr lang="pt-BR" sz="1200" dirty="0">
              <a:solidFill>
                <a:srgbClr val="FFFF00"/>
              </a:solidFill>
              <a:cs typeface="Segoe UI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779A7DD-CF80-10ED-C9A8-EDC2AB0FE008}"/>
              </a:ext>
            </a:extLst>
          </p:cNvPr>
          <p:cNvSpPr/>
          <p:nvPr/>
        </p:nvSpPr>
        <p:spPr>
          <a:xfrm>
            <a:off x="887594" y="5062196"/>
            <a:ext cx="4329060" cy="3040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600" dirty="0">
                <a:solidFill>
                  <a:srgbClr val="FFFF00"/>
                </a:solidFill>
              </a:rPr>
              <a:t>$ </a:t>
            </a:r>
            <a:r>
              <a:rPr lang="pt-BR" sz="1600" dirty="0" err="1">
                <a:solidFill>
                  <a:srgbClr val="FFFF00"/>
                </a:solidFill>
              </a:rPr>
              <a:t>git</a:t>
            </a:r>
            <a:r>
              <a:rPr lang="pt-BR" sz="1600" dirty="0">
                <a:solidFill>
                  <a:srgbClr val="FFFF00"/>
                </a:solidFill>
              </a:rPr>
              <a:t> </a:t>
            </a:r>
            <a:r>
              <a:rPr lang="pt-BR" sz="1600" dirty="0" err="1">
                <a:solidFill>
                  <a:srgbClr val="FFFF00"/>
                </a:solidFill>
              </a:rPr>
              <a:t>add</a:t>
            </a:r>
            <a:r>
              <a:rPr lang="pt-BR" sz="1600" dirty="0">
                <a:solidFill>
                  <a:srgbClr val="FFFF00"/>
                </a:solidFill>
              </a:rPr>
              <a:t> index.js style.css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6A6D233-82D0-9064-145E-85923E33474D}"/>
              </a:ext>
            </a:extLst>
          </p:cNvPr>
          <p:cNvSpPr/>
          <p:nvPr/>
        </p:nvSpPr>
        <p:spPr>
          <a:xfrm>
            <a:off x="887594" y="6022206"/>
            <a:ext cx="4329060" cy="3040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600" dirty="0">
                <a:solidFill>
                  <a:srgbClr val="FFFF00"/>
                </a:solidFill>
              </a:rPr>
              <a:t>$ </a:t>
            </a:r>
            <a:r>
              <a:rPr lang="pt-BR" sz="1600" err="1">
                <a:solidFill>
                  <a:srgbClr val="FFFF00"/>
                </a:solidFill>
              </a:rPr>
              <a:t>git</a:t>
            </a:r>
            <a:r>
              <a:rPr lang="pt-BR" sz="1600" dirty="0">
                <a:solidFill>
                  <a:srgbClr val="FFFF00"/>
                </a:solidFill>
              </a:rPr>
              <a:t> </a:t>
            </a:r>
            <a:r>
              <a:rPr lang="pt-BR" sz="1600" err="1">
                <a:solidFill>
                  <a:srgbClr val="FFFF00"/>
                </a:solidFill>
              </a:rPr>
              <a:t>add</a:t>
            </a:r>
            <a:r>
              <a:rPr lang="pt-BR" sz="1600" dirty="0">
                <a:solidFill>
                  <a:srgbClr val="FFFF00"/>
                </a:solidFill>
              </a:rPr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397152032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5C805-6BB9-49B0-B06C-8A7F1A251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7C8813BA-82F8-BDD0-BB78-D4B5754B3160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920611C-4CFA-6955-9D16-9DA5A663BB58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  <a:cs typeface="Segoe UI"/>
              </a:rPr>
              <a:t>Confirmação de envio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AEEEBC1-954C-6FBF-0EF4-3BF111E38750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 err="1">
                <a:solidFill>
                  <a:schemeClr val="accent5"/>
                </a:solidFill>
              </a:rPr>
              <a:t>Git</a:t>
            </a:r>
            <a:r>
              <a:rPr lang="pt-BR" sz="3200" b="1" dirty="0">
                <a:solidFill>
                  <a:schemeClr val="accent5"/>
                </a:solidFill>
              </a:rPr>
              <a:t> </a:t>
            </a:r>
            <a:r>
              <a:rPr lang="pt-BR" sz="3200" b="1" dirty="0" err="1">
                <a:solidFill>
                  <a:schemeClr val="accent5"/>
                </a:solidFill>
              </a:rPr>
              <a:t>commit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82C8259-3E56-847B-7B7D-CA7382F81E67}"/>
              </a:ext>
            </a:extLst>
          </p:cNvPr>
          <p:cNvSpPr txBox="1"/>
          <p:nvPr/>
        </p:nvSpPr>
        <p:spPr>
          <a:xfrm>
            <a:off x="450848" y="1405369"/>
            <a:ext cx="1124551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chemeClr val="accent5"/>
                </a:solidFill>
              </a:rPr>
              <a:t>Git</a:t>
            </a:r>
            <a:r>
              <a:rPr lang="pt-BR" b="1" dirty="0">
                <a:solidFill>
                  <a:schemeClr val="accent5"/>
                </a:solidFill>
              </a:rPr>
              <a:t> </a:t>
            </a:r>
            <a:r>
              <a:rPr lang="pt-BR" b="1" dirty="0" err="1">
                <a:solidFill>
                  <a:schemeClr val="accent5"/>
                </a:solidFill>
              </a:rPr>
              <a:t>commit</a:t>
            </a:r>
            <a:r>
              <a:rPr lang="pt-BR" b="1" dirty="0">
                <a:solidFill>
                  <a:schemeClr val="accent5"/>
                </a:solidFill>
              </a:rPr>
              <a:t> — Registrando um snapshot local</a:t>
            </a:r>
          </a:p>
          <a:p>
            <a:r>
              <a:rPr lang="pt-BR" dirty="0">
                <a:solidFill>
                  <a:schemeClr val="accent5"/>
                </a:solidFill>
              </a:rPr>
              <a:t>O </a:t>
            </a:r>
            <a:r>
              <a:rPr lang="pt-BR" dirty="0" err="1">
                <a:solidFill>
                  <a:schemeClr val="accent5"/>
                </a:solidFill>
              </a:rPr>
              <a:t>git</a:t>
            </a:r>
            <a:r>
              <a:rPr lang="pt-BR" dirty="0">
                <a:solidFill>
                  <a:schemeClr val="accent5"/>
                </a:solidFill>
              </a:rPr>
              <a:t> </a:t>
            </a:r>
            <a:r>
              <a:rPr lang="pt-BR" dirty="0" err="1">
                <a:solidFill>
                  <a:schemeClr val="accent5"/>
                </a:solidFill>
              </a:rPr>
              <a:t>commit</a:t>
            </a:r>
            <a:r>
              <a:rPr lang="pt-BR" dirty="0">
                <a:solidFill>
                  <a:schemeClr val="accent5"/>
                </a:solidFill>
              </a:rPr>
              <a:t> pega tudo o que está na </a:t>
            </a:r>
            <a:r>
              <a:rPr lang="pt-BR" dirty="0" err="1">
                <a:solidFill>
                  <a:schemeClr val="accent5"/>
                </a:solidFill>
              </a:rPr>
              <a:t>Staging</a:t>
            </a:r>
            <a:r>
              <a:rPr lang="pt-BR" dirty="0">
                <a:solidFill>
                  <a:schemeClr val="accent5"/>
                </a:solidFill>
              </a:rPr>
              <a:t> Area e cria um registro permanente no repositório local da sua máquina. </a:t>
            </a:r>
          </a:p>
          <a:p>
            <a:r>
              <a:rPr lang="pt-BR" dirty="0">
                <a:solidFill>
                  <a:schemeClr val="accent5"/>
                </a:solidFill>
              </a:rPr>
              <a:t>A flag -m permite escrever a mensagem do </a:t>
            </a:r>
            <a:r>
              <a:rPr lang="pt-BR" dirty="0" err="1">
                <a:solidFill>
                  <a:schemeClr val="accent5"/>
                </a:solidFill>
              </a:rPr>
              <a:t>commit</a:t>
            </a:r>
            <a:r>
              <a:rPr lang="pt-BR" dirty="0">
                <a:solidFill>
                  <a:schemeClr val="accent5"/>
                </a:solidFill>
              </a:rPr>
              <a:t> diretamente na linha de comando</a:t>
            </a:r>
          </a:p>
          <a:p>
            <a:endParaRPr lang="pt-BR" dirty="0"/>
          </a:p>
          <a:p>
            <a:endParaRPr lang="pt-BR" dirty="0">
              <a:solidFill>
                <a:schemeClr val="accent5"/>
              </a:solidFill>
              <a:effectLst/>
              <a:ea typeface="Arial" panose="020B0604020202020204" pitchFamily="34" charset="0"/>
            </a:endParaRPr>
          </a:p>
          <a:p>
            <a:r>
              <a:rPr lang="pt-BR" dirty="0">
                <a:solidFill>
                  <a:schemeClr val="accent5"/>
                </a:solidFill>
              </a:rPr>
              <a:t>Confirmação de envio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/>
              </a:solidFill>
            </a:endParaRPr>
          </a:p>
          <a:p>
            <a:r>
              <a:rPr lang="pt-BR" dirty="0">
                <a:solidFill>
                  <a:schemeClr val="accent5"/>
                </a:solidFill>
              </a:rPr>
              <a:t>Saída esperada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/>
              </a:solidFill>
            </a:endParaRPr>
          </a:p>
          <a:p>
            <a:r>
              <a:rPr lang="pt-BR" b="1" dirty="0">
                <a:solidFill>
                  <a:schemeClr val="accent5"/>
                </a:solidFill>
              </a:rPr>
              <a:t>É importante entender: </a:t>
            </a:r>
            <a:r>
              <a:rPr lang="pt-BR" b="1" dirty="0">
                <a:solidFill>
                  <a:srgbClr val="C00000"/>
                </a:solidFill>
              </a:rPr>
              <a:t>o </a:t>
            </a:r>
            <a:r>
              <a:rPr lang="pt-BR" b="1" dirty="0" err="1">
                <a:solidFill>
                  <a:srgbClr val="C00000"/>
                </a:solidFill>
              </a:rPr>
              <a:t>commit</a:t>
            </a:r>
            <a:r>
              <a:rPr lang="pt-BR" b="1" dirty="0">
                <a:solidFill>
                  <a:srgbClr val="C00000"/>
                </a:solidFill>
              </a:rPr>
              <a:t> NÃO envia nada ao GitHub. </a:t>
            </a:r>
          </a:p>
          <a:p>
            <a:r>
              <a:rPr lang="pt-BR" b="1" dirty="0">
                <a:solidFill>
                  <a:schemeClr val="accent5"/>
                </a:solidFill>
              </a:rPr>
              <a:t>Ele </a:t>
            </a:r>
            <a:r>
              <a:rPr lang="pt-BR" b="1" dirty="0">
                <a:solidFill>
                  <a:srgbClr val="C00000"/>
                </a:solidFill>
              </a:rPr>
              <a:t>apenas grava o snapshot localmente. </a:t>
            </a:r>
            <a:r>
              <a:rPr lang="pt-BR" b="1" dirty="0">
                <a:solidFill>
                  <a:schemeClr val="accent5"/>
                </a:solidFill>
              </a:rPr>
              <a:t>Para enviar ao GitHub, </a:t>
            </a:r>
            <a:r>
              <a:rPr lang="pt-BR" b="1" dirty="0">
                <a:solidFill>
                  <a:srgbClr val="C00000"/>
                </a:solidFill>
              </a:rPr>
              <a:t>você precisará do </a:t>
            </a:r>
            <a:r>
              <a:rPr lang="pt-BR" b="1" dirty="0" err="1">
                <a:solidFill>
                  <a:srgbClr val="C00000"/>
                </a:solidFill>
              </a:rPr>
              <a:t>git</a:t>
            </a:r>
            <a:r>
              <a:rPr lang="pt-BR" b="1" dirty="0">
                <a:solidFill>
                  <a:srgbClr val="C00000"/>
                </a:solidFill>
              </a:rPr>
              <a:t> </a:t>
            </a:r>
            <a:r>
              <a:rPr lang="pt-BR" b="1" dirty="0" err="1">
                <a:solidFill>
                  <a:srgbClr val="C00000"/>
                </a:solidFill>
              </a:rPr>
              <a:t>push</a:t>
            </a:r>
            <a:r>
              <a:rPr lang="pt-BR" b="1" dirty="0">
                <a:solidFill>
                  <a:srgbClr val="C00000"/>
                </a:solidFill>
              </a:rPr>
              <a:t> </a:t>
            </a:r>
            <a:r>
              <a:rPr lang="pt-BR" b="1" dirty="0">
                <a:solidFill>
                  <a:schemeClr val="accent5"/>
                </a:solidFill>
              </a:rPr>
              <a:t>depois. 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49FA19E-800F-A6B9-A5FB-763B0B8AFB6A}"/>
              </a:ext>
            </a:extLst>
          </p:cNvPr>
          <p:cNvSpPr/>
          <p:nvPr/>
        </p:nvSpPr>
        <p:spPr>
          <a:xfrm>
            <a:off x="567082" y="3429000"/>
            <a:ext cx="4329060" cy="3040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200" dirty="0">
                <a:solidFill>
                  <a:srgbClr val="FFFF00"/>
                </a:solidFill>
              </a:rPr>
              <a:t>$ </a:t>
            </a:r>
            <a:r>
              <a:rPr lang="pt-BR" sz="1200" err="1">
                <a:solidFill>
                  <a:srgbClr val="FFFF00"/>
                </a:solidFill>
              </a:rPr>
              <a:t>git</a:t>
            </a:r>
            <a:r>
              <a:rPr lang="pt-BR" sz="1200" dirty="0">
                <a:solidFill>
                  <a:srgbClr val="FFFF00"/>
                </a:solidFill>
              </a:rPr>
              <a:t> </a:t>
            </a:r>
            <a:r>
              <a:rPr lang="pt-BR" sz="1200" err="1">
                <a:solidFill>
                  <a:srgbClr val="FFFF00"/>
                </a:solidFill>
              </a:rPr>
              <a:t>commit</a:t>
            </a:r>
            <a:r>
              <a:rPr lang="pt-BR" sz="1200" dirty="0">
                <a:solidFill>
                  <a:srgbClr val="FFFF00"/>
                </a:solidFill>
              </a:rPr>
              <a:t> -m "Adiciona formulário de login"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F8B6183-8806-B1D6-E656-DE30FC84E4AC}"/>
              </a:ext>
            </a:extLst>
          </p:cNvPr>
          <p:cNvSpPr/>
          <p:nvPr/>
        </p:nvSpPr>
        <p:spPr>
          <a:xfrm>
            <a:off x="567082" y="4314685"/>
            <a:ext cx="4329060" cy="4367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100" dirty="0">
                <a:solidFill>
                  <a:srgbClr val="FFCCCC"/>
                </a:solidFill>
              </a:rPr>
              <a:t>[</a:t>
            </a:r>
            <a:r>
              <a:rPr lang="pt-BR" sz="1100" dirty="0" err="1">
                <a:solidFill>
                  <a:srgbClr val="FFCCCC"/>
                </a:solidFill>
              </a:rPr>
              <a:t>main</a:t>
            </a:r>
            <a:r>
              <a:rPr lang="pt-BR" sz="1100" dirty="0">
                <a:solidFill>
                  <a:srgbClr val="FFCCCC"/>
                </a:solidFill>
              </a:rPr>
              <a:t> 3f2e1a4] Adiciona formulário de login</a:t>
            </a:r>
          </a:p>
          <a:p>
            <a:r>
              <a:rPr lang="pt-BR" sz="1100" dirty="0">
                <a:solidFill>
                  <a:srgbClr val="FFCCCC"/>
                </a:solidFill>
              </a:rPr>
              <a:t> 2 files </a:t>
            </a:r>
            <a:r>
              <a:rPr lang="pt-BR" sz="1100" dirty="0" err="1">
                <a:solidFill>
                  <a:srgbClr val="FFCCCC"/>
                </a:solidFill>
              </a:rPr>
              <a:t>changed</a:t>
            </a:r>
            <a:r>
              <a:rPr lang="pt-BR" sz="1100" dirty="0">
                <a:solidFill>
                  <a:srgbClr val="FFCCCC"/>
                </a:solidFill>
              </a:rPr>
              <a:t>, 45 </a:t>
            </a:r>
            <a:r>
              <a:rPr lang="pt-BR" sz="1100" dirty="0" err="1">
                <a:solidFill>
                  <a:srgbClr val="FFCCCC"/>
                </a:solidFill>
              </a:rPr>
              <a:t>insertions</a:t>
            </a:r>
            <a:r>
              <a:rPr lang="pt-BR" sz="1100" dirty="0">
                <a:solidFill>
                  <a:srgbClr val="FFCCCC"/>
                </a:solidFill>
              </a:rPr>
              <a:t>(+), 3 </a:t>
            </a:r>
            <a:r>
              <a:rPr lang="pt-BR" sz="1100" dirty="0" err="1">
                <a:solidFill>
                  <a:srgbClr val="FFCCCC"/>
                </a:solidFill>
              </a:rPr>
              <a:t>deletions</a:t>
            </a:r>
            <a:r>
              <a:rPr lang="pt-BR" sz="1100" dirty="0">
                <a:solidFill>
                  <a:srgbClr val="FFCCCC"/>
                </a:solidFill>
              </a:rPr>
              <a:t>(-)</a:t>
            </a:r>
            <a:endParaRPr lang="pt-BR" sz="900" dirty="0">
              <a:solidFill>
                <a:srgbClr val="FF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975609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B6793-141C-4D37-FADF-A8C28AB9A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D6A01EB-2976-1991-77E7-996BF74C2994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08BB221-C429-DAB9-70BA-90B38B681A7E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</a:rPr>
              <a:t>Certo e errado</a:t>
            </a:r>
            <a:endParaRPr lang="pt-BR" sz="2000" dirty="0">
              <a:solidFill>
                <a:schemeClr val="accent3">
                  <a:lumMod val="49000"/>
                </a:schemeClr>
              </a:solidFill>
              <a:cs typeface="Segoe U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F74959A-772F-2F30-52B2-4B28E5E0A616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>
                <a:solidFill>
                  <a:schemeClr val="accent5"/>
                </a:solidFill>
              </a:rPr>
              <a:t>GIT </a:t>
            </a:r>
            <a:r>
              <a:rPr lang="pt-BR" sz="3200" b="1" dirty="0" err="1">
                <a:solidFill>
                  <a:schemeClr val="accent5"/>
                </a:solidFill>
              </a:rPr>
              <a:t>commit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127E1E1-1C18-64EF-9DBB-B6646FFFAF56}"/>
              </a:ext>
            </a:extLst>
          </p:cNvPr>
          <p:cNvSpPr txBox="1"/>
          <p:nvPr/>
        </p:nvSpPr>
        <p:spPr>
          <a:xfrm>
            <a:off x="424872" y="1559446"/>
            <a:ext cx="1124551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chemeClr val="accent5"/>
                </a:solidFill>
              </a:rPr>
              <a:t>A mensagem do </a:t>
            </a:r>
            <a:r>
              <a:rPr lang="pt-BR" sz="2000" dirty="0" err="1">
                <a:solidFill>
                  <a:schemeClr val="accent5"/>
                </a:solidFill>
              </a:rPr>
              <a:t>commit</a:t>
            </a:r>
            <a:r>
              <a:rPr lang="pt-BR" sz="2000" dirty="0">
                <a:solidFill>
                  <a:schemeClr val="accent5"/>
                </a:solidFill>
              </a:rPr>
              <a:t> é extremamente importante. </a:t>
            </a:r>
          </a:p>
          <a:p>
            <a:r>
              <a:rPr lang="pt-BR" sz="2000" dirty="0">
                <a:solidFill>
                  <a:schemeClr val="accent5"/>
                </a:solidFill>
              </a:rPr>
              <a:t>Ela deve descrever o que foi feito de forma clara e objetiva. </a:t>
            </a:r>
          </a:p>
          <a:p>
            <a:r>
              <a:rPr lang="pt-BR" sz="2000" b="1" i="1" dirty="0">
                <a:solidFill>
                  <a:schemeClr val="accent5"/>
                </a:solidFill>
              </a:rPr>
              <a:t>Use sempre verbos no imperativo:</a:t>
            </a:r>
          </a:p>
          <a:p>
            <a:endParaRPr lang="pt-BR" sz="2000" dirty="0">
              <a:solidFill>
                <a:schemeClr val="accent5"/>
              </a:solidFill>
            </a:endParaRPr>
          </a:p>
          <a:p>
            <a:endParaRPr lang="pt-BR" sz="2000" dirty="0">
              <a:solidFill>
                <a:schemeClr val="accent5"/>
              </a:solidFill>
            </a:endParaRPr>
          </a:p>
          <a:p>
            <a:r>
              <a:rPr lang="pt-BR" sz="2400" b="1" dirty="0">
                <a:solidFill>
                  <a:schemeClr val="accent5"/>
                </a:solidFill>
              </a:rPr>
              <a:t>Certo</a:t>
            </a:r>
            <a:endParaRPr lang="pt-BR" sz="2000" dirty="0"/>
          </a:p>
          <a:p>
            <a:pPr lvl="0"/>
            <a:r>
              <a:rPr lang="pt-BR" sz="2000" dirty="0">
                <a:solidFill>
                  <a:schemeClr val="accent3">
                    <a:lumMod val="50000"/>
                  </a:schemeClr>
                </a:solidFill>
              </a:rPr>
              <a:t>✅ "Adiciona validação de e-mail no cadastro"</a:t>
            </a:r>
          </a:p>
          <a:p>
            <a:pPr lvl="0"/>
            <a:r>
              <a:rPr lang="pt-BR" sz="2000" dirty="0">
                <a:solidFill>
                  <a:schemeClr val="accent3">
                    <a:lumMod val="50000"/>
                  </a:schemeClr>
                </a:solidFill>
              </a:rPr>
              <a:t>✅ "Corrige bug de login com caracteres especiais"</a:t>
            </a:r>
          </a:p>
          <a:p>
            <a:pPr lvl="0"/>
            <a:r>
              <a:rPr lang="pt-BR" sz="2000" dirty="0">
                <a:solidFill>
                  <a:schemeClr val="accent3">
                    <a:lumMod val="50000"/>
                  </a:schemeClr>
                </a:solidFill>
              </a:rPr>
              <a:t>✅ "Remove dependência não utilizada“</a:t>
            </a:r>
          </a:p>
          <a:p>
            <a:pPr lvl="0"/>
            <a:endParaRPr lang="pt-BR" dirty="0">
              <a:solidFill>
                <a:schemeClr val="accent3">
                  <a:lumMod val="50000"/>
                </a:schemeClr>
              </a:solidFill>
            </a:endParaRPr>
          </a:p>
          <a:p>
            <a:pPr lvl="0"/>
            <a:endParaRPr lang="pt-BR" dirty="0">
              <a:solidFill>
                <a:schemeClr val="accent3">
                  <a:lumMod val="50000"/>
                </a:schemeClr>
              </a:solidFill>
            </a:endParaRPr>
          </a:p>
          <a:p>
            <a:pPr lvl="0"/>
            <a:r>
              <a:rPr lang="pt-BR" sz="2400" b="1" dirty="0">
                <a:solidFill>
                  <a:schemeClr val="accent5"/>
                </a:solidFill>
              </a:rPr>
              <a:t>Errado</a:t>
            </a:r>
            <a:endParaRPr lang="pt-BR" sz="2000" dirty="0">
              <a:solidFill>
                <a:schemeClr val="accent3">
                  <a:lumMod val="50000"/>
                </a:schemeClr>
              </a:solidFill>
            </a:endParaRPr>
          </a:p>
          <a:p>
            <a:pPr lvl="0"/>
            <a:r>
              <a:rPr lang="pt-BR" sz="2000" dirty="0">
                <a:solidFill>
                  <a:srgbClr val="C00000"/>
                </a:solidFill>
              </a:rPr>
              <a:t>❌ "</a:t>
            </a:r>
            <a:r>
              <a:rPr lang="pt-BR" sz="2000" dirty="0" err="1">
                <a:solidFill>
                  <a:srgbClr val="C00000"/>
                </a:solidFill>
              </a:rPr>
              <a:t>fix</a:t>
            </a:r>
            <a:r>
              <a:rPr lang="pt-BR" sz="2000" dirty="0">
                <a:solidFill>
                  <a:srgbClr val="C00000"/>
                </a:solidFill>
              </a:rPr>
              <a:t>" — muito vago, não diz o que foi corrigido</a:t>
            </a:r>
          </a:p>
          <a:p>
            <a:pPr lvl="0"/>
            <a:r>
              <a:rPr lang="pt-BR" sz="2000" dirty="0">
                <a:solidFill>
                  <a:srgbClr val="C00000"/>
                </a:solidFill>
              </a:rPr>
              <a:t>❌ "alterações" — não descreve nada</a:t>
            </a:r>
          </a:p>
          <a:p>
            <a:pPr lvl="0"/>
            <a:r>
              <a:rPr lang="pt-BR" sz="2000" dirty="0">
                <a:solidFill>
                  <a:srgbClr val="C00000"/>
                </a:solidFill>
              </a:rPr>
              <a:t>❌ "</a:t>
            </a:r>
            <a:r>
              <a:rPr lang="pt-BR" sz="2000" dirty="0" err="1">
                <a:solidFill>
                  <a:srgbClr val="C00000"/>
                </a:solidFill>
              </a:rPr>
              <a:t>wip</a:t>
            </a:r>
            <a:r>
              <a:rPr lang="pt-BR" sz="2000" dirty="0">
                <a:solidFill>
                  <a:srgbClr val="C00000"/>
                </a:solidFill>
              </a:rPr>
              <a:t>" — (</a:t>
            </a:r>
            <a:r>
              <a:rPr lang="pt-BR" sz="2000" dirty="0" err="1">
                <a:solidFill>
                  <a:srgbClr val="C00000"/>
                </a:solidFill>
              </a:rPr>
              <a:t>work</a:t>
            </a:r>
            <a:r>
              <a:rPr lang="pt-BR" sz="2000" dirty="0">
                <a:solidFill>
                  <a:srgbClr val="C00000"/>
                </a:solidFill>
              </a:rPr>
              <a:t> in </a:t>
            </a:r>
            <a:r>
              <a:rPr lang="pt-BR" sz="2000" dirty="0" err="1">
                <a:solidFill>
                  <a:srgbClr val="C00000"/>
                </a:solidFill>
              </a:rPr>
              <a:t>progress</a:t>
            </a:r>
            <a:r>
              <a:rPr lang="pt-BR" sz="2000" dirty="0">
                <a:solidFill>
                  <a:srgbClr val="C00000"/>
                </a:solidFill>
              </a:rPr>
              <a:t>) não deve ir para o repositório principal</a:t>
            </a:r>
          </a:p>
        </p:txBody>
      </p:sp>
    </p:spTree>
    <p:extLst>
      <p:ext uri="{BB962C8B-B14F-4D97-AF65-F5344CB8AC3E}">
        <p14:creationId xmlns:p14="http://schemas.microsoft.com/office/powerpoint/2010/main" val="423239665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C799A-F107-A8EE-3C28-71C80676A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3E34740-8F28-3D1D-A17D-249E5056D493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9CEE057-9C3A-827E-C13B-577587C6FC74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  <a:cs typeface="Segoe UI"/>
              </a:rPr>
              <a:t>Sincronização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065BA7-A6F4-DC3E-D455-BE867D55702E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 err="1">
                <a:solidFill>
                  <a:schemeClr val="accent5"/>
                </a:solidFill>
              </a:rPr>
              <a:t>Git</a:t>
            </a:r>
            <a:r>
              <a:rPr lang="pt-BR" sz="3200" b="1" dirty="0">
                <a:solidFill>
                  <a:schemeClr val="accent5"/>
                </a:solidFill>
              </a:rPr>
              <a:t> </a:t>
            </a:r>
            <a:r>
              <a:rPr lang="pt-BR" sz="3200" b="1" dirty="0" err="1">
                <a:solidFill>
                  <a:schemeClr val="accent5"/>
                </a:solidFill>
              </a:rPr>
              <a:t>push</a:t>
            </a:r>
            <a:r>
              <a:rPr lang="pt-BR" sz="3200" b="1" dirty="0">
                <a:solidFill>
                  <a:schemeClr val="accent5"/>
                </a:solidFill>
              </a:rPr>
              <a:t> e </a:t>
            </a:r>
            <a:r>
              <a:rPr lang="pt-BR" sz="3200" b="1" dirty="0" err="1">
                <a:solidFill>
                  <a:schemeClr val="accent5"/>
                </a:solidFill>
              </a:rPr>
              <a:t>git</a:t>
            </a:r>
            <a:r>
              <a:rPr lang="pt-BR" sz="3200" b="1" dirty="0">
                <a:solidFill>
                  <a:schemeClr val="accent5"/>
                </a:solidFill>
              </a:rPr>
              <a:t> </a:t>
            </a:r>
            <a:r>
              <a:rPr lang="pt-BR" sz="3200" b="1" dirty="0" err="1">
                <a:solidFill>
                  <a:schemeClr val="accent5"/>
                </a:solidFill>
              </a:rPr>
              <a:t>pull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986BCA5-C843-CEE8-E9FB-13BE46451E50}"/>
              </a:ext>
            </a:extLst>
          </p:cNvPr>
          <p:cNvSpPr txBox="1"/>
          <p:nvPr/>
        </p:nvSpPr>
        <p:spPr>
          <a:xfrm>
            <a:off x="450847" y="1405369"/>
            <a:ext cx="11446921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 err="1">
                <a:solidFill>
                  <a:schemeClr val="accent5"/>
                </a:solidFill>
              </a:rPr>
              <a:t>git</a:t>
            </a:r>
            <a:r>
              <a:rPr lang="pt-BR" sz="2400" b="1" dirty="0">
                <a:solidFill>
                  <a:schemeClr val="accent5"/>
                </a:solidFill>
              </a:rPr>
              <a:t> </a:t>
            </a:r>
            <a:r>
              <a:rPr lang="pt-BR" sz="2400" b="1" dirty="0" err="1">
                <a:solidFill>
                  <a:schemeClr val="accent5"/>
                </a:solidFill>
              </a:rPr>
              <a:t>push</a:t>
            </a:r>
            <a:r>
              <a:rPr lang="pt-BR" sz="2400" b="1" dirty="0">
                <a:solidFill>
                  <a:schemeClr val="accent5"/>
                </a:solidFill>
              </a:rPr>
              <a:t> e </a:t>
            </a:r>
            <a:r>
              <a:rPr lang="pt-BR" sz="2400" b="1" dirty="0" err="1">
                <a:solidFill>
                  <a:schemeClr val="accent5"/>
                </a:solidFill>
              </a:rPr>
              <a:t>git</a:t>
            </a:r>
            <a:r>
              <a:rPr lang="pt-BR" sz="2400" b="1" dirty="0">
                <a:solidFill>
                  <a:schemeClr val="accent5"/>
                </a:solidFill>
              </a:rPr>
              <a:t> </a:t>
            </a:r>
            <a:r>
              <a:rPr lang="pt-BR" sz="2400" b="1" dirty="0" err="1">
                <a:solidFill>
                  <a:schemeClr val="accent5"/>
                </a:solidFill>
              </a:rPr>
              <a:t>pull</a:t>
            </a:r>
            <a:r>
              <a:rPr lang="pt-BR" sz="2400" b="1" dirty="0">
                <a:solidFill>
                  <a:schemeClr val="accent5"/>
                </a:solidFill>
              </a:rPr>
              <a:t> — Sincronizando com o GitHub</a:t>
            </a:r>
          </a:p>
          <a:p>
            <a:endParaRPr lang="pt-BR" b="1" dirty="0">
              <a:solidFill>
                <a:schemeClr val="accent5"/>
              </a:solidFill>
            </a:endParaRPr>
          </a:p>
          <a:p>
            <a:r>
              <a:rPr lang="pt-BR" dirty="0">
                <a:solidFill>
                  <a:schemeClr val="accent5"/>
                </a:solidFill>
              </a:rPr>
              <a:t>Estes dois comandos sincronizam o seu repositório local com o repositório remoto. </a:t>
            </a:r>
          </a:p>
          <a:p>
            <a:endParaRPr lang="pt-BR" dirty="0">
              <a:solidFill>
                <a:schemeClr val="accent5"/>
              </a:solidFill>
            </a:endParaRPr>
          </a:p>
          <a:p>
            <a:r>
              <a:rPr lang="pt-BR" b="1" dirty="0" err="1">
                <a:solidFill>
                  <a:schemeClr val="accent5"/>
                </a:solidFill>
              </a:rPr>
              <a:t>Git</a:t>
            </a:r>
            <a:r>
              <a:rPr lang="pt-BR" b="1" dirty="0">
                <a:solidFill>
                  <a:schemeClr val="accent5"/>
                </a:solidFill>
              </a:rPr>
              <a:t> </a:t>
            </a:r>
            <a:r>
              <a:rPr lang="pt-BR" b="1" dirty="0" err="1">
                <a:solidFill>
                  <a:schemeClr val="accent5"/>
                </a:solidFill>
              </a:rPr>
              <a:t>push</a:t>
            </a:r>
            <a:endParaRPr lang="pt-BR" b="1" dirty="0">
              <a:solidFill>
                <a:schemeClr val="accent5"/>
              </a:solidFill>
            </a:endParaRPr>
          </a:p>
          <a:p>
            <a:r>
              <a:rPr lang="pt-BR" dirty="0">
                <a:solidFill>
                  <a:schemeClr val="accent5"/>
                </a:solidFill>
              </a:rPr>
              <a:t>Comando que de fato </a:t>
            </a:r>
            <a:r>
              <a:rPr lang="pt-BR" b="1" i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ENVIA</a:t>
            </a:r>
            <a:r>
              <a:rPr lang="pt-BR" dirty="0">
                <a:solidFill>
                  <a:schemeClr val="accent5"/>
                </a:solidFill>
              </a:rPr>
              <a:t> seus </a:t>
            </a:r>
            <a:r>
              <a:rPr lang="pt-BR" dirty="0" err="1">
                <a:solidFill>
                  <a:schemeClr val="accent5"/>
                </a:solidFill>
              </a:rPr>
              <a:t>commits</a:t>
            </a:r>
            <a:r>
              <a:rPr lang="pt-BR" dirty="0">
                <a:solidFill>
                  <a:schemeClr val="accent5"/>
                </a:solidFill>
              </a:rPr>
              <a:t> ao GitHub (sem ele, todo o trabalho que você “</a:t>
            </a:r>
            <a:r>
              <a:rPr lang="pt-BR" dirty="0" err="1">
                <a:solidFill>
                  <a:schemeClr val="accent5"/>
                </a:solidFill>
              </a:rPr>
              <a:t>commitou</a:t>
            </a:r>
            <a:r>
              <a:rPr lang="pt-BR" dirty="0">
                <a:solidFill>
                  <a:schemeClr val="accent5"/>
                </a:solidFill>
              </a:rPr>
              <a:t>” continua existindo apenas na sua máquina). </a:t>
            </a:r>
          </a:p>
          <a:p>
            <a:r>
              <a:rPr lang="pt-BR" b="1" dirty="0" err="1">
                <a:solidFill>
                  <a:schemeClr val="accent5"/>
                </a:solidFill>
              </a:rPr>
              <a:t>Git</a:t>
            </a:r>
            <a:r>
              <a:rPr lang="pt-BR" b="1" dirty="0">
                <a:solidFill>
                  <a:schemeClr val="accent5"/>
                </a:solidFill>
              </a:rPr>
              <a:t> </a:t>
            </a:r>
            <a:r>
              <a:rPr lang="pt-BR" b="1" dirty="0" err="1">
                <a:solidFill>
                  <a:schemeClr val="accent5"/>
                </a:solidFill>
              </a:rPr>
              <a:t>pull</a:t>
            </a:r>
            <a:endParaRPr lang="pt-BR" b="1" dirty="0">
              <a:solidFill>
                <a:schemeClr val="accent5"/>
              </a:solidFill>
            </a:endParaRPr>
          </a:p>
          <a:p>
            <a:r>
              <a:rPr lang="pt-BR" dirty="0">
                <a:solidFill>
                  <a:schemeClr val="accent5"/>
                </a:solidFill>
              </a:rPr>
              <a:t>Baixa </a:t>
            </a:r>
            <a:r>
              <a:rPr lang="pt-BR" dirty="0" err="1">
                <a:solidFill>
                  <a:schemeClr val="accent5"/>
                </a:solidFill>
              </a:rPr>
              <a:t>commits</a:t>
            </a:r>
            <a:r>
              <a:rPr lang="pt-BR" dirty="0">
                <a:solidFill>
                  <a:schemeClr val="accent5"/>
                </a:solidFill>
              </a:rPr>
              <a:t> do GitHub que ainda não estão na sua máquina (essencial quando outras pessoas estão trabalhando no mesmo projeto).</a:t>
            </a:r>
          </a:p>
          <a:p>
            <a:endParaRPr lang="pt-BR" dirty="0"/>
          </a:p>
          <a:p>
            <a:endParaRPr lang="pt-BR" dirty="0">
              <a:solidFill>
                <a:schemeClr val="accent5"/>
              </a:solidFill>
              <a:effectLst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5"/>
                </a:solidFill>
              </a:rPr>
              <a:t>Enviar </a:t>
            </a:r>
            <a:r>
              <a:rPr lang="pt-BR" sz="2000" b="1" dirty="0" err="1">
                <a:solidFill>
                  <a:schemeClr val="accent5"/>
                </a:solidFill>
              </a:rPr>
              <a:t>commits</a:t>
            </a:r>
            <a:r>
              <a:rPr lang="pt-BR" sz="2000" b="1" dirty="0">
                <a:solidFill>
                  <a:schemeClr val="accent5"/>
                </a:solidFill>
              </a:rPr>
              <a:t> para o GitHub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chemeClr val="accent5"/>
              </a:solidFill>
            </a:endParaRPr>
          </a:p>
          <a:p>
            <a:endParaRPr lang="pt-BR" sz="22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5"/>
                </a:solidFill>
              </a:rPr>
              <a:t>Baixar e integrar mudanças do GitHub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E553205-356D-0C45-77A7-B40413BDC685}"/>
              </a:ext>
            </a:extLst>
          </p:cNvPr>
          <p:cNvSpPr/>
          <p:nvPr/>
        </p:nvSpPr>
        <p:spPr>
          <a:xfrm>
            <a:off x="910422" y="5300624"/>
            <a:ext cx="4329060" cy="3040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400" dirty="0">
                <a:solidFill>
                  <a:srgbClr val="FFFF00"/>
                </a:solidFill>
              </a:rPr>
              <a:t>$ </a:t>
            </a:r>
            <a:r>
              <a:rPr lang="pt-BR" sz="1400" err="1">
                <a:solidFill>
                  <a:srgbClr val="FFFF00"/>
                </a:solidFill>
              </a:rPr>
              <a:t>git</a:t>
            </a:r>
            <a:r>
              <a:rPr lang="pt-BR" sz="1400" dirty="0">
                <a:solidFill>
                  <a:srgbClr val="FFFF00"/>
                </a:solidFill>
              </a:rPr>
              <a:t> </a:t>
            </a:r>
            <a:r>
              <a:rPr lang="pt-BR" sz="1400" err="1">
                <a:solidFill>
                  <a:srgbClr val="FFFF00"/>
                </a:solidFill>
              </a:rPr>
              <a:t>push</a:t>
            </a:r>
            <a:r>
              <a:rPr lang="pt-BR" sz="1400" dirty="0">
                <a:solidFill>
                  <a:srgbClr val="FFFF00"/>
                </a:solidFill>
              </a:rPr>
              <a:t> </a:t>
            </a:r>
            <a:r>
              <a:rPr lang="pt-BR" sz="1400" err="1">
                <a:solidFill>
                  <a:srgbClr val="FFFF00"/>
                </a:solidFill>
              </a:rPr>
              <a:t>origin</a:t>
            </a:r>
            <a:r>
              <a:rPr lang="pt-BR" sz="1400" dirty="0">
                <a:solidFill>
                  <a:srgbClr val="FFFF00"/>
                </a:solidFill>
              </a:rPr>
              <a:t> </a:t>
            </a:r>
            <a:r>
              <a:rPr lang="pt-BR" sz="1400" err="1">
                <a:solidFill>
                  <a:srgbClr val="FFFF00"/>
                </a:solidFill>
              </a:rPr>
              <a:t>main</a:t>
            </a:r>
            <a:endParaRPr lang="pt-BR" sz="1400">
              <a:solidFill>
                <a:srgbClr val="FFFF00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F4063F9-BEB5-5F01-0644-0CB4A96B805D}"/>
              </a:ext>
            </a:extLst>
          </p:cNvPr>
          <p:cNvSpPr/>
          <p:nvPr/>
        </p:nvSpPr>
        <p:spPr>
          <a:xfrm>
            <a:off x="910422" y="6199466"/>
            <a:ext cx="4329060" cy="3040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400" dirty="0">
                <a:solidFill>
                  <a:srgbClr val="FFFF00"/>
                </a:solidFill>
              </a:rPr>
              <a:t>$ </a:t>
            </a:r>
            <a:r>
              <a:rPr lang="pt-BR" sz="1400" dirty="0" err="1">
                <a:solidFill>
                  <a:srgbClr val="FFFF00"/>
                </a:solidFill>
              </a:rPr>
              <a:t>git</a:t>
            </a:r>
            <a:r>
              <a:rPr lang="pt-BR" sz="1400" dirty="0">
                <a:solidFill>
                  <a:srgbClr val="FFFF00"/>
                </a:solidFill>
              </a:rPr>
              <a:t> </a:t>
            </a:r>
            <a:r>
              <a:rPr lang="pt-BR" sz="1400" dirty="0" err="1">
                <a:solidFill>
                  <a:srgbClr val="FFFF00"/>
                </a:solidFill>
              </a:rPr>
              <a:t>pull</a:t>
            </a:r>
            <a:r>
              <a:rPr lang="pt-BR" sz="1400" dirty="0">
                <a:solidFill>
                  <a:srgbClr val="FFFF00"/>
                </a:solidFill>
              </a:rPr>
              <a:t> </a:t>
            </a:r>
            <a:r>
              <a:rPr lang="pt-BR" sz="1400" dirty="0" err="1">
                <a:solidFill>
                  <a:srgbClr val="FFFF00"/>
                </a:solidFill>
              </a:rPr>
              <a:t>origin</a:t>
            </a:r>
            <a:r>
              <a:rPr lang="pt-BR" sz="1400" dirty="0">
                <a:solidFill>
                  <a:srgbClr val="FFFF00"/>
                </a:solidFill>
              </a:rPr>
              <a:t> </a:t>
            </a:r>
            <a:r>
              <a:rPr lang="pt-BR" sz="1400" dirty="0" err="1">
                <a:solidFill>
                  <a:srgbClr val="FFFF00"/>
                </a:solidFill>
              </a:rPr>
              <a:t>main</a:t>
            </a:r>
            <a:endParaRPr lang="pt-BR" sz="1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538335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751C5-769D-17A5-42CA-EFF176C0B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7BB84D3F-FD00-49D5-5122-E3E155E59577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9398EF0-3C08-24C1-950E-7FE437A04BD6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  <a:cs typeface="Segoe UI"/>
              </a:rPr>
              <a:t>Copia projeto existente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3544B32-D036-07B0-905D-70DC9246364D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 err="1">
                <a:solidFill>
                  <a:schemeClr val="accent5"/>
                </a:solidFill>
              </a:rPr>
              <a:t>Git</a:t>
            </a:r>
            <a:r>
              <a:rPr lang="pt-BR" sz="3200" b="1" dirty="0">
                <a:solidFill>
                  <a:schemeClr val="accent5"/>
                </a:solidFill>
              </a:rPr>
              <a:t> clone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8ABE660-11A6-3B28-AE8F-495726CCAF78}"/>
              </a:ext>
            </a:extLst>
          </p:cNvPr>
          <p:cNvSpPr txBox="1"/>
          <p:nvPr/>
        </p:nvSpPr>
        <p:spPr>
          <a:xfrm>
            <a:off x="450848" y="1820072"/>
            <a:ext cx="1146463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 err="1">
                <a:solidFill>
                  <a:schemeClr val="accent5"/>
                </a:solidFill>
              </a:rPr>
              <a:t>git</a:t>
            </a:r>
            <a:r>
              <a:rPr lang="pt-BR" sz="2400" b="1" dirty="0">
                <a:solidFill>
                  <a:schemeClr val="accent5"/>
                </a:solidFill>
              </a:rPr>
              <a:t> clone — Copiando um repositório</a:t>
            </a:r>
          </a:p>
          <a:p>
            <a:endParaRPr lang="pt-BR" sz="2000" b="1" dirty="0">
              <a:solidFill>
                <a:schemeClr val="accent5"/>
              </a:solidFill>
            </a:endParaRPr>
          </a:p>
          <a:p>
            <a:r>
              <a:rPr lang="pt-BR" sz="2000" dirty="0">
                <a:solidFill>
                  <a:schemeClr val="accent5"/>
                </a:solidFill>
              </a:rPr>
              <a:t>O </a:t>
            </a:r>
            <a:r>
              <a:rPr lang="pt-BR" sz="2000" dirty="0" err="1">
                <a:solidFill>
                  <a:schemeClr val="accent5"/>
                </a:solidFill>
              </a:rPr>
              <a:t>git</a:t>
            </a:r>
            <a:r>
              <a:rPr lang="pt-BR" sz="2000" dirty="0">
                <a:solidFill>
                  <a:schemeClr val="accent5"/>
                </a:solidFill>
              </a:rPr>
              <a:t> clone baixa uma cópia completa de um repositório remoto para a sua máquina. </a:t>
            </a:r>
          </a:p>
          <a:p>
            <a:r>
              <a:rPr lang="pt-BR" sz="2000" dirty="0">
                <a:solidFill>
                  <a:schemeClr val="accent5"/>
                </a:solidFill>
              </a:rPr>
              <a:t>Toda a estrutura de pastas, o histórico completo de </a:t>
            </a:r>
            <a:r>
              <a:rPr lang="pt-BR" sz="2000" dirty="0" err="1">
                <a:solidFill>
                  <a:schemeClr val="accent5"/>
                </a:solidFill>
              </a:rPr>
              <a:t>commits</a:t>
            </a:r>
            <a:r>
              <a:rPr lang="pt-BR" sz="2000" dirty="0">
                <a:solidFill>
                  <a:schemeClr val="accent5"/>
                </a:solidFill>
              </a:rPr>
              <a:t> e todas as </a:t>
            </a:r>
            <a:r>
              <a:rPr lang="pt-BR" sz="2000" dirty="0" err="1">
                <a:solidFill>
                  <a:schemeClr val="accent5"/>
                </a:solidFill>
              </a:rPr>
              <a:t>branches</a:t>
            </a:r>
            <a:r>
              <a:rPr lang="pt-BR" sz="2000" dirty="0">
                <a:solidFill>
                  <a:schemeClr val="accent5"/>
                </a:solidFill>
              </a:rPr>
              <a:t> são copiados. </a:t>
            </a:r>
          </a:p>
          <a:p>
            <a:r>
              <a:rPr lang="pt-BR" sz="2000" b="1" dirty="0">
                <a:solidFill>
                  <a:schemeClr val="accent5"/>
                </a:solidFill>
              </a:rPr>
              <a:t>Você usa este comando quando vai trabalhar em um projeto que já existe no GitHub.</a:t>
            </a:r>
          </a:p>
          <a:p>
            <a:endParaRPr lang="pt-BR" sz="2000" dirty="0">
              <a:solidFill>
                <a:schemeClr val="accent5"/>
              </a:solidFill>
              <a:effectLst/>
              <a:ea typeface="Arial" panose="020B0604020202020204" pitchFamily="34" charset="0"/>
            </a:endParaRPr>
          </a:p>
          <a:p>
            <a:endParaRPr lang="pt-BR" sz="2000" dirty="0">
              <a:solidFill>
                <a:schemeClr val="accent5"/>
              </a:solidFill>
              <a:effectLst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accent5"/>
                </a:solidFill>
              </a:rPr>
              <a:t>Clonar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/>
              </a:solidFill>
            </a:endParaRPr>
          </a:p>
          <a:p>
            <a:endParaRPr lang="pt-BR" dirty="0">
              <a:solidFill>
                <a:schemeClr val="accent5"/>
              </a:solidFill>
            </a:endParaRPr>
          </a:p>
          <a:p>
            <a:r>
              <a:rPr lang="pt-BR" sz="2000" dirty="0">
                <a:solidFill>
                  <a:schemeClr val="accent5"/>
                </a:solidFill>
              </a:rPr>
              <a:t>     O </a:t>
            </a:r>
            <a:r>
              <a:rPr lang="pt-BR" sz="2000" dirty="0" err="1">
                <a:solidFill>
                  <a:schemeClr val="accent5"/>
                </a:solidFill>
              </a:rPr>
              <a:t>Git</a:t>
            </a:r>
            <a:r>
              <a:rPr lang="pt-BR" sz="2000" dirty="0">
                <a:solidFill>
                  <a:schemeClr val="accent5"/>
                </a:solidFill>
              </a:rPr>
              <a:t> cria uma pasta com o nome do repositório </a:t>
            </a:r>
          </a:p>
          <a:p>
            <a:r>
              <a:rPr lang="pt-BR" sz="2000" dirty="0">
                <a:solidFill>
                  <a:schemeClr val="accent5"/>
                </a:solidFill>
              </a:rPr>
              <a:t>     e já configura a conexão com o remoto automaticamente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4ACBEEF-CAC1-C848-506D-75A41C52999D}"/>
              </a:ext>
            </a:extLst>
          </p:cNvPr>
          <p:cNvSpPr/>
          <p:nvPr/>
        </p:nvSpPr>
        <p:spPr>
          <a:xfrm>
            <a:off x="907279" y="4489843"/>
            <a:ext cx="5509232" cy="3040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400" dirty="0">
                <a:solidFill>
                  <a:srgbClr val="FFFF00"/>
                </a:solidFill>
              </a:rPr>
              <a:t>$ </a:t>
            </a:r>
            <a:r>
              <a:rPr lang="pt-BR" sz="1400" dirty="0" err="1">
                <a:solidFill>
                  <a:srgbClr val="FFFF00"/>
                </a:solidFill>
              </a:rPr>
              <a:t>git</a:t>
            </a:r>
            <a:r>
              <a:rPr lang="pt-BR" sz="1400" dirty="0">
                <a:solidFill>
                  <a:srgbClr val="FFFF00"/>
                </a:solidFill>
              </a:rPr>
              <a:t> clone https://github.com/usuario/nome-do-repositorio.git</a:t>
            </a:r>
          </a:p>
        </p:txBody>
      </p:sp>
    </p:spTree>
    <p:extLst>
      <p:ext uri="{BB962C8B-B14F-4D97-AF65-F5344CB8AC3E}">
        <p14:creationId xmlns:p14="http://schemas.microsoft.com/office/powerpoint/2010/main" val="4290865436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36FB3-3848-77F3-00B0-ABD9DBDF3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27C15949-A911-3A94-5EE9-271DFB3B27B0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052A874-43D7-E780-B5F4-B212B7C1DEC3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  <a:cs typeface="Segoe UI"/>
              </a:rPr>
              <a:t>Desfazer mudanças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C051BF1-896C-EF4A-71D2-644D6245C253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 err="1">
                <a:solidFill>
                  <a:schemeClr val="accent5"/>
                </a:solidFill>
              </a:rPr>
              <a:t>Git</a:t>
            </a:r>
            <a:r>
              <a:rPr lang="pt-BR" sz="3200" b="1" dirty="0">
                <a:solidFill>
                  <a:schemeClr val="accent5"/>
                </a:solidFill>
              </a:rPr>
              <a:t> </a:t>
            </a:r>
            <a:r>
              <a:rPr lang="pt-BR" sz="3200" b="1" dirty="0" err="1">
                <a:solidFill>
                  <a:schemeClr val="accent5"/>
                </a:solidFill>
              </a:rPr>
              <a:t>restore</a:t>
            </a:r>
            <a:r>
              <a:rPr lang="pt-BR" sz="3200" b="1" dirty="0">
                <a:solidFill>
                  <a:schemeClr val="accent5"/>
                </a:solidFill>
              </a:rPr>
              <a:t> e </a:t>
            </a:r>
            <a:r>
              <a:rPr lang="pt-BR" sz="3200" b="1" dirty="0" err="1">
                <a:solidFill>
                  <a:schemeClr val="accent5"/>
                </a:solidFill>
              </a:rPr>
              <a:t>revert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EC509DD-FB35-2E92-E8CB-7052A7E49D4F}"/>
              </a:ext>
            </a:extLst>
          </p:cNvPr>
          <p:cNvSpPr txBox="1"/>
          <p:nvPr/>
        </p:nvSpPr>
        <p:spPr>
          <a:xfrm>
            <a:off x="450848" y="1820072"/>
            <a:ext cx="11464632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accent5"/>
                </a:solidFill>
              </a:rPr>
              <a:t>Desfazendo mudanças</a:t>
            </a:r>
          </a:p>
          <a:p>
            <a:r>
              <a:rPr lang="pt-BR" sz="2000" dirty="0">
                <a:solidFill>
                  <a:schemeClr val="accent5"/>
                </a:solidFill>
              </a:rPr>
              <a:t>Inevitavelmente, você vai precisar desfazer algo. </a:t>
            </a:r>
          </a:p>
          <a:p>
            <a:r>
              <a:rPr lang="pt-BR" sz="2000" dirty="0">
                <a:solidFill>
                  <a:schemeClr val="accent5"/>
                </a:solidFill>
              </a:rPr>
              <a:t>O </a:t>
            </a:r>
            <a:r>
              <a:rPr lang="pt-BR" sz="2000" dirty="0" err="1">
                <a:solidFill>
                  <a:schemeClr val="accent5"/>
                </a:solidFill>
              </a:rPr>
              <a:t>Git</a:t>
            </a:r>
            <a:r>
              <a:rPr lang="pt-BR" sz="2000" dirty="0">
                <a:solidFill>
                  <a:schemeClr val="accent5"/>
                </a:solidFill>
              </a:rPr>
              <a:t> oferece várias formas de fazer isso dependendo do que você precisa desfazer: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5"/>
                </a:solidFill>
              </a:rPr>
              <a:t>Desfazer mudanças em um arquivo (antes do </a:t>
            </a:r>
            <a:r>
              <a:rPr lang="pt-BR" sz="2000" dirty="0" err="1">
                <a:solidFill>
                  <a:schemeClr val="accent5"/>
                </a:solidFill>
              </a:rPr>
              <a:t>git</a:t>
            </a:r>
            <a:r>
              <a:rPr lang="pt-BR" sz="2000" dirty="0">
                <a:solidFill>
                  <a:schemeClr val="accent5"/>
                </a:solidFill>
              </a:rPr>
              <a:t> </a:t>
            </a:r>
            <a:r>
              <a:rPr lang="pt-BR" sz="2000" dirty="0" err="1">
                <a:solidFill>
                  <a:schemeClr val="accent5"/>
                </a:solidFill>
              </a:rPr>
              <a:t>add</a:t>
            </a:r>
            <a:r>
              <a:rPr lang="pt-BR" sz="2000" dirty="0">
                <a:solidFill>
                  <a:schemeClr val="accent5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accent5"/>
              </a:solidFill>
            </a:endParaRPr>
          </a:p>
          <a:p>
            <a:endParaRPr lang="pt-BR" sz="2000" dirty="0">
              <a:solidFill>
                <a:schemeClr val="accent5"/>
              </a:solidFill>
            </a:endParaRPr>
          </a:p>
          <a:p>
            <a:endParaRPr lang="pt-BR" sz="20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5"/>
                </a:solidFill>
              </a:rPr>
              <a:t>Remover um arquivo da </a:t>
            </a:r>
            <a:r>
              <a:rPr lang="pt-BR" sz="2000" dirty="0" err="1">
                <a:solidFill>
                  <a:schemeClr val="accent5"/>
                </a:solidFill>
              </a:rPr>
              <a:t>Staging</a:t>
            </a:r>
            <a:r>
              <a:rPr lang="pt-BR" sz="2000" dirty="0">
                <a:solidFill>
                  <a:schemeClr val="accent5"/>
                </a:solidFill>
              </a:rPr>
              <a:t> Area (sem perder as mudanças)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accent5"/>
              </a:solidFill>
            </a:endParaRPr>
          </a:p>
          <a:p>
            <a:endParaRPr lang="pt-BR" sz="20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5"/>
                </a:solidFill>
              </a:rPr>
              <a:t>Criar um novo </a:t>
            </a:r>
            <a:r>
              <a:rPr lang="pt-BR" sz="2000" dirty="0" err="1">
                <a:solidFill>
                  <a:schemeClr val="accent5"/>
                </a:solidFill>
              </a:rPr>
              <a:t>commit</a:t>
            </a:r>
            <a:r>
              <a:rPr lang="pt-BR" sz="2000" dirty="0">
                <a:solidFill>
                  <a:schemeClr val="accent5"/>
                </a:solidFill>
              </a:rPr>
              <a:t> que desfaz um </a:t>
            </a:r>
            <a:r>
              <a:rPr lang="pt-BR" sz="2000" dirty="0" err="1">
                <a:solidFill>
                  <a:schemeClr val="accent5"/>
                </a:solidFill>
              </a:rPr>
              <a:t>commit</a:t>
            </a:r>
            <a:r>
              <a:rPr lang="pt-BR" sz="2000" dirty="0">
                <a:solidFill>
                  <a:schemeClr val="accent5"/>
                </a:solidFill>
              </a:rPr>
              <a:t> anterior (seguro)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903E6ED-BB14-8631-910F-CB7577901C50}"/>
              </a:ext>
            </a:extLst>
          </p:cNvPr>
          <p:cNvSpPr/>
          <p:nvPr/>
        </p:nvSpPr>
        <p:spPr>
          <a:xfrm>
            <a:off x="879984" y="3783086"/>
            <a:ext cx="5509232" cy="6178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400" dirty="0">
                <a:solidFill>
                  <a:srgbClr val="FFFF00"/>
                </a:solidFill>
              </a:rPr>
              <a:t># Atenção: isso APAGA as mudanças permanentemente</a:t>
            </a:r>
            <a:endParaRPr lang="pt-BR" sz="1400" dirty="0">
              <a:solidFill>
                <a:srgbClr val="FFFF00"/>
              </a:solidFill>
              <a:cs typeface="Segoe UI"/>
            </a:endParaRPr>
          </a:p>
          <a:p>
            <a:r>
              <a:rPr lang="pt-BR" sz="1400" dirty="0">
                <a:solidFill>
                  <a:srgbClr val="FFFF00"/>
                </a:solidFill>
              </a:rPr>
              <a:t>$ </a:t>
            </a:r>
            <a:r>
              <a:rPr lang="pt-BR" sz="1400" err="1">
                <a:solidFill>
                  <a:srgbClr val="FFFF00"/>
                </a:solidFill>
              </a:rPr>
              <a:t>git</a:t>
            </a:r>
            <a:r>
              <a:rPr lang="pt-BR" sz="1400" dirty="0">
                <a:solidFill>
                  <a:srgbClr val="FFFF00"/>
                </a:solidFill>
              </a:rPr>
              <a:t> </a:t>
            </a:r>
            <a:r>
              <a:rPr lang="pt-BR" sz="1400" err="1">
                <a:solidFill>
                  <a:srgbClr val="FFFF00"/>
                </a:solidFill>
              </a:rPr>
              <a:t>restore</a:t>
            </a:r>
            <a:r>
              <a:rPr lang="pt-BR" sz="1400" dirty="0">
                <a:solidFill>
                  <a:srgbClr val="FFFF00"/>
                </a:solidFill>
              </a:rPr>
              <a:t> index.js</a:t>
            </a:r>
            <a:endParaRPr lang="pt-BR" sz="1400" dirty="0">
              <a:solidFill>
                <a:srgbClr val="FFFF00"/>
              </a:solidFill>
              <a:cs typeface="Segoe UI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47624FA-1F1C-CC48-380A-0F50A54DB1DE}"/>
              </a:ext>
            </a:extLst>
          </p:cNvPr>
          <p:cNvSpPr/>
          <p:nvPr/>
        </p:nvSpPr>
        <p:spPr>
          <a:xfrm>
            <a:off x="879984" y="4967030"/>
            <a:ext cx="5509232" cy="40011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400" dirty="0">
                <a:solidFill>
                  <a:srgbClr val="FFFF00"/>
                </a:solidFill>
              </a:rPr>
              <a:t>$ </a:t>
            </a:r>
            <a:r>
              <a:rPr lang="pt-BR" sz="1400" dirty="0" err="1">
                <a:solidFill>
                  <a:srgbClr val="FFFF00"/>
                </a:solidFill>
              </a:rPr>
              <a:t>git</a:t>
            </a:r>
            <a:r>
              <a:rPr lang="pt-BR" sz="1400" dirty="0">
                <a:solidFill>
                  <a:srgbClr val="FFFF00"/>
                </a:solidFill>
              </a:rPr>
              <a:t> </a:t>
            </a:r>
            <a:r>
              <a:rPr lang="pt-BR" sz="1400" dirty="0" err="1">
                <a:solidFill>
                  <a:srgbClr val="FFFF00"/>
                </a:solidFill>
              </a:rPr>
              <a:t>restore</a:t>
            </a:r>
            <a:r>
              <a:rPr lang="pt-BR" sz="1400" dirty="0">
                <a:solidFill>
                  <a:srgbClr val="FFFF00"/>
                </a:solidFill>
              </a:rPr>
              <a:t> --</a:t>
            </a:r>
            <a:r>
              <a:rPr lang="pt-BR" sz="1400" dirty="0" err="1">
                <a:solidFill>
                  <a:srgbClr val="FFFF00"/>
                </a:solidFill>
              </a:rPr>
              <a:t>staged</a:t>
            </a:r>
            <a:r>
              <a:rPr lang="pt-BR" sz="1400" dirty="0">
                <a:solidFill>
                  <a:srgbClr val="FFFF00"/>
                </a:solidFill>
              </a:rPr>
              <a:t> index.js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6976BC0-A9B5-7B2A-AC5B-CD3F47E17977}"/>
              </a:ext>
            </a:extLst>
          </p:cNvPr>
          <p:cNvSpPr/>
          <p:nvPr/>
        </p:nvSpPr>
        <p:spPr>
          <a:xfrm>
            <a:off x="879984" y="5933255"/>
            <a:ext cx="5509232" cy="61783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400" dirty="0">
                <a:solidFill>
                  <a:srgbClr val="FFFF00"/>
                </a:solidFill>
              </a:rPr>
              <a:t># Use o </a:t>
            </a:r>
            <a:r>
              <a:rPr lang="pt-BR" sz="1400" dirty="0" err="1">
                <a:solidFill>
                  <a:srgbClr val="FFFF00"/>
                </a:solidFill>
              </a:rPr>
              <a:t>hash</a:t>
            </a:r>
            <a:r>
              <a:rPr lang="pt-BR" sz="1400" dirty="0">
                <a:solidFill>
                  <a:srgbClr val="FFFF00"/>
                </a:solidFill>
              </a:rPr>
              <a:t> do </a:t>
            </a:r>
            <a:r>
              <a:rPr lang="pt-BR" sz="1400" dirty="0" err="1">
                <a:solidFill>
                  <a:srgbClr val="FFFF00"/>
                </a:solidFill>
              </a:rPr>
              <a:t>commit</a:t>
            </a:r>
            <a:r>
              <a:rPr lang="pt-BR" sz="1400" dirty="0">
                <a:solidFill>
                  <a:srgbClr val="FFFF00"/>
                </a:solidFill>
              </a:rPr>
              <a:t> que aparece no </a:t>
            </a:r>
            <a:r>
              <a:rPr lang="pt-BR" sz="1400" dirty="0" err="1">
                <a:solidFill>
                  <a:srgbClr val="FFFF00"/>
                </a:solidFill>
              </a:rPr>
              <a:t>git</a:t>
            </a:r>
            <a:r>
              <a:rPr lang="pt-BR" sz="1400" dirty="0">
                <a:solidFill>
                  <a:srgbClr val="FFFF00"/>
                </a:solidFill>
              </a:rPr>
              <a:t> log --</a:t>
            </a:r>
            <a:r>
              <a:rPr lang="pt-BR" sz="1400" dirty="0" err="1">
                <a:solidFill>
                  <a:srgbClr val="FFFF00"/>
                </a:solidFill>
              </a:rPr>
              <a:t>oneline</a:t>
            </a:r>
            <a:endParaRPr lang="pt-BR" sz="1400" dirty="0">
              <a:solidFill>
                <a:srgbClr val="FFFF00"/>
              </a:solidFill>
              <a:cs typeface="Segoe UI"/>
            </a:endParaRPr>
          </a:p>
          <a:p>
            <a:r>
              <a:rPr lang="pt-BR" sz="1400" dirty="0">
                <a:solidFill>
                  <a:srgbClr val="FFFF00"/>
                </a:solidFill>
              </a:rPr>
              <a:t>$ </a:t>
            </a:r>
            <a:r>
              <a:rPr lang="pt-BR" sz="1400" dirty="0" err="1">
                <a:solidFill>
                  <a:srgbClr val="FFFF00"/>
                </a:solidFill>
              </a:rPr>
              <a:t>git</a:t>
            </a:r>
            <a:r>
              <a:rPr lang="pt-BR" sz="1400" dirty="0">
                <a:solidFill>
                  <a:srgbClr val="FFFF00"/>
                </a:solidFill>
              </a:rPr>
              <a:t> </a:t>
            </a:r>
            <a:r>
              <a:rPr lang="pt-BR" sz="1400" dirty="0" err="1">
                <a:solidFill>
                  <a:srgbClr val="FFFF00"/>
                </a:solidFill>
              </a:rPr>
              <a:t>revert</a:t>
            </a:r>
            <a:r>
              <a:rPr lang="pt-BR" sz="1400" dirty="0">
                <a:solidFill>
                  <a:srgbClr val="FFFF00"/>
                </a:solidFill>
              </a:rPr>
              <a:t> a1b2c3d</a:t>
            </a:r>
            <a:endParaRPr lang="pt-BR" sz="800" dirty="0">
              <a:solidFill>
                <a:srgbClr val="008000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03197180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F68D5CD-DF5A-ADD9-1F63-BB9FD26B5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940493"/>
              </p:ext>
            </p:extLst>
          </p:nvPr>
        </p:nvGraphicFramePr>
        <p:xfrm>
          <a:off x="450847" y="1725105"/>
          <a:ext cx="11285523" cy="4657349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2348914">
                  <a:extLst>
                    <a:ext uri="{9D8B030D-6E8A-4147-A177-3AD203B41FA5}">
                      <a16:colId xmlns:a16="http://schemas.microsoft.com/office/drawing/2014/main" val="3082798849"/>
                    </a:ext>
                  </a:extLst>
                </a:gridCol>
                <a:gridCol w="8936609">
                  <a:extLst>
                    <a:ext uri="{9D8B030D-6E8A-4147-A177-3AD203B41FA5}">
                      <a16:colId xmlns:a16="http://schemas.microsoft.com/office/drawing/2014/main" val="3290592082"/>
                    </a:ext>
                  </a:extLst>
                </a:gridCol>
              </a:tblGrid>
              <a:tr h="2447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effectLst/>
                        </a:rPr>
                        <a:t>Comando</a:t>
                      </a:r>
                      <a:endParaRPr lang="pt-BR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7341" marB="2734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effectLst/>
                        </a:rPr>
                        <a:t>O que faz</a:t>
                      </a:r>
                      <a:endParaRPr lang="pt-BR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7341" marB="27341"/>
                </a:tc>
                <a:extLst>
                  <a:ext uri="{0D108BD9-81ED-4DB2-BD59-A6C34878D82A}">
                    <a16:rowId xmlns:a16="http://schemas.microsoft.com/office/drawing/2014/main" val="3868508300"/>
                  </a:ext>
                </a:extLst>
              </a:tr>
              <a:tr h="232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 dirty="0" err="1">
                          <a:solidFill>
                            <a:schemeClr val="accent5"/>
                          </a:solidFill>
                          <a:effectLst/>
                        </a:rPr>
                        <a:t>git</a:t>
                      </a:r>
                      <a:r>
                        <a:rPr lang="pt-BR" sz="1600" b="1" dirty="0">
                          <a:solidFill>
                            <a:schemeClr val="accent5"/>
                          </a:solidFill>
                          <a:effectLst/>
                        </a:rPr>
                        <a:t> </a:t>
                      </a:r>
                      <a:r>
                        <a:rPr lang="pt-BR" sz="1600" b="1" dirty="0" err="1">
                          <a:solidFill>
                            <a:schemeClr val="accent5"/>
                          </a:solidFill>
                          <a:effectLst/>
                        </a:rPr>
                        <a:t>init</a:t>
                      </a:r>
                      <a:endParaRPr lang="pt-BR" sz="1600" b="1" dirty="0">
                        <a:solidFill>
                          <a:schemeClr val="accent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1873" marB="2187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effectLst/>
                        </a:rPr>
                        <a:t>Inicializa um repositório </a:t>
                      </a:r>
                      <a:r>
                        <a:rPr lang="pt-BR" sz="1600" dirty="0" err="1">
                          <a:effectLst/>
                        </a:rPr>
                        <a:t>Git</a:t>
                      </a:r>
                      <a:r>
                        <a:rPr lang="pt-BR" sz="1600" dirty="0">
                          <a:effectLst/>
                        </a:rPr>
                        <a:t> na pasta atual</a:t>
                      </a:r>
                      <a:endParaRPr lang="pt-BR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1873" marB="21873"/>
                </a:tc>
                <a:extLst>
                  <a:ext uri="{0D108BD9-81ED-4DB2-BD59-A6C34878D82A}">
                    <a16:rowId xmlns:a16="http://schemas.microsoft.com/office/drawing/2014/main" val="1764340635"/>
                  </a:ext>
                </a:extLst>
              </a:tr>
              <a:tr h="4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 dirty="0" err="1">
                          <a:solidFill>
                            <a:schemeClr val="accent5"/>
                          </a:solidFill>
                          <a:effectLst/>
                        </a:rPr>
                        <a:t>git</a:t>
                      </a:r>
                      <a:r>
                        <a:rPr lang="pt-BR" sz="1600" b="1" dirty="0">
                          <a:solidFill>
                            <a:schemeClr val="accent5"/>
                          </a:solidFill>
                          <a:effectLst/>
                        </a:rPr>
                        <a:t> status</a:t>
                      </a:r>
                      <a:endParaRPr lang="pt-BR" sz="1600" b="1" dirty="0">
                        <a:solidFill>
                          <a:schemeClr val="accent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1873" marB="2187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effectLst/>
                        </a:rPr>
                        <a:t>Mostra o estado atual: arquivos modificados, </a:t>
                      </a:r>
                      <a:r>
                        <a:rPr lang="pt-BR" sz="1600" dirty="0" err="1">
                          <a:effectLst/>
                        </a:rPr>
                        <a:t>staged</a:t>
                      </a:r>
                      <a:r>
                        <a:rPr lang="pt-BR" sz="1600" dirty="0">
                          <a:effectLst/>
                        </a:rPr>
                        <a:t>, não rastreados</a:t>
                      </a:r>
                      <a:endParaRPr lang="pt-BR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1873" marB="21873"/>
                </a:tc>
                <a:extLst>
                  <a:ext uri="{0D108BD9-81ED-4DB2-BD59-A6C34878D82A}">
                    <a16:rowId xmlns:a16="http://schemas.microsoft.com/office/drawing/2014/main" val="1032345946"/>
                  </a:ext>
                </a:extLst>
              </a:tr>
              <a:tr h="232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 dirty="0" err="1">
                          <a:solidFill>
                            <a:schemeClr val="accent5"/>
                          </a:solidFill>
                          <a:effectLst/>
                        </a:rPr>
                        <a:t>git</a:t>
                      </a:r>
                      <a:r>
                        <a:rPr lang="pt-BR" sz="1600" b="1" dirty="0">
                          <a:solidFill>
                            <a:schemeClr val="accent5"/>
                          </a:solidFill>
                          <a:effectLst/>
                        </a:rPr>
                        <a:t> </a:t>
                      </a:r>
                      <a:r>
                        <a:rPr lang="pt-BR" sz="1600" b="1" dirty="0" err="1">
                          <a:solidFill>
                            <a:schemeClr val="accent5"/>
                          </a:solidFill>
                          <a:effectLst/>
                        </a:rPr>
                        <a:t>add</a:t>
                      </a:r>
                      <a:r>
                        <a:rPr lang="pt-BR" sz="1600" b="1" dirty="0">
                          <a:solidFill>
                            <a:schemeClr val="accent5"/>
                          </a:solidFill>
                          <a:effectLst/>
                        </a:rPr>
                        <a:t> &lt;arquivo&gt;</a:t>
                      </a:r>
                      <a:endParaRPr lang="pt-BR" sz="1600" b="1" dirty="0">
                        <a:solidFill>
                          <a:schemeClr val="accent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1873" marB="2187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effectLst/>
                        </a:rPr>
                        <a:t>Adiciona um arquivo específico à Staging Area</a:t>
                      </a:r>
                      <a:endParaRPr lang="pt-BR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1873" marB="21873"/>
                </a:tc>
                <a:extLst>
                  <a:ext uri="{0D108BD9-81ED-4DB2-BD59-A6C34878D82A}">
                    <a16:rowId xmlns:a16="http://schemas.microsoft.com/office/drawing/2014/main" val="1003844230"/>
                  </a:ext>
                </a:extLst>
              </a:tr>
              <a:tr h="232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>
                          <a:solidFill>
                            <a:schemeClr val="accent5"/>
                          </a:solidFill>
                          <a:effectLst/>
                        </a:rPr>
                        <a:t>git add .</a:t>
                      </a:r>
                      <a:endParaRPr lang="pt-BR" sz="1600" b="1">
                        <a:solidFill>
                          <a:schemeClr val="accent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1873" marB="2187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effectLst/>
                        </a:rPr>
                        <a:t>Adiciona todos os arquivos modificados à Staging Area</a:t>
                      </a:r>
                      <a:endParaRPr lang="pt-BR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1873" marB="21873"/>
                </a:tc>
                <a:extLst>
                  <a:ext uri="{0D108BD9-81ED-4DB2-BD59-A6C34878D82A}">
                    <a16:rowId xmlns:a16="http://schemas.microsoft.com/office/drawing/2014/main" val="3513847676"/>
                  </a:ext>
                </a:extLst>
              </a:tr>
              <a:tr h="4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>
                          <a:solidFill>
                            <a:schemeClr val="accent5"/>
                          </a:solidFill>
                          <a:effectLst/>
                        </a:rPr>
                        <a:t>git commit -m "msg"</a:t>
                      </a:r>
                      <a:endParaRPr lang="pt-BR" sz="1600" b="1">
                        <a:solidFill>
                          <a:schemeClr val="accent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1873" marB="2187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effectLst/>
                        </a:rPr>
                        <a:t>Registra um snapshot no repositório LOCAL com a mensagem informada. Não envia ao GitHub.</a:t>
                      </a:r>
                      <a:endParaRPr lang="pt-BR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1873" marB="21873"/>
                </a:tc>
                <a:extLst>
                  <a:ext uri="{0D108BD9-81ED-4DB2-BD59-A6C34878D82A}">
                    <a16:rowId xmlns:a16="http://schemas.microsoft.com/office/drawing/2014/main" val="3623572962"/>
                  </a:ext>
                </a:extLst>
              </a:tr>
              <a:tr h="211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>
                          <a:solidFill>
                            <a:schemeClr val="accent5"/>
                          </a:solidFill>
                          <a:effectLst/>
                        </a:rPr>
                        <a:t>git log --oneline</a:t>
                      </a:r>
                      <a:endParaRPr lang="pt-BR" sz="1600" b="1">
                        <a:solidFill>
                          <a:schemeClr val="accent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1873" marB="2187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effectLst/>
                        </a:rPr>
                        <a:t>Exibe o histórico de commits de forma resumida</a:t>
                      </a:r>
                      <a:endParaRPr lang="pt-BR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1873" marB="21873"/>
                </a:tc>
                <a:extLst>
                  <a:ext uri="{0D108BD9-81ED-4DB2-BD59-A6C34878D82A}">
                    <a16:rowId xmlns:a16="http://schemas.microsoft.com/office/drawing/2014/main" val="4246389240"/>
                  </a:ext>
                </a:extLst>
              </a:tr>
              <a:tr h="4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>
                          <a:solidFill>
                            <a:schemeClr val="accent5"/>
                          </a:solidFill>
                          <a:effectLst/>
                        </a:rPr>
                        <a:t>git diff</a:t>
                      </a:r>
                      <a:endParaRPr lang="pt-BR" sz="1600" b="1">
                        <a:solidFill>
                          <a:schemeClr val="accent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1873" marB="2187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effectLst/>
                        </a:rPr>
                        <a:t>Mostra as mudanças ainda não adicionadas à Staging Area</a:t>
                      </a:r>
                      <a:endParaRPr lang="pt-BR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1873" marB="21873"/>
                </a:tc>
                <a:extLst>
                  <a:ext uri="{0D108BD9-81ED-4DB2-BD59-A6C34878D82A}">
                    <a16:rowId xmlns:a16="http://schemas.microsoft.com/office/drawing/2014/main" val="4117603179"/>
                  </a:ext>
                </a:extLst>
              </a:tr>
              <a:tr h="4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>
                          <a:solidFill>
                            <a:schemeClr val="accent5"/>
                          </a:solidFill>
                          <a:effectLst/>
                        </a:rPr>
                        <a:t>git push origin main</a:t>
                      </a:r>
                      <a:endParaRPr lang="pt-BR" sz="1600" b="1">
                        <a:solidFill>
                          <a:schemeClr val="accent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1873" marB="2187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effectLst/>
                        </a:rPr>
                        <a:t>ENVIA os commits locais para o repositório remoto no GitHub</a:t>
                      </a:r>
                      <a:endParaRPr lang="pt-BR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1873" marB="21873"/>
                </a:tc>
                <a:extLst>
                  <a:ext uri="{0D108BD9-81ED-4DB2-BD59-A6C34878D82A}">
                    <a16:rowId xmlns:a16="http://schemas.microsoft.com/office/drawing/2014/main" val="3960092801"/>
                  </a:ext>
                </a:extLst>
              </a:tr>
              <a:tr h="232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>
                          <a:solidFill>
                            <a:schemeClr val="accent5"/>
                          </a:solidFill>
                          <a:effectLst/>
                        </a:rPr>
                        <a:t>git pull origin main</a:t>
                      </a:r>
                      <a:endParaRPr lang="pt-BR" sz="1600" b="1">
                        <a:solidFill>
                          <a:schemeClr val="accent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1873" marB="2187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effectLst/>
                        </a:rPr>
                        <a:t>Baixa e integra commits do GitHub na branch atual</a:t>
                      </a:r>
                      <a:endParaRPr lang="pt-BR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1873" marB="21873"/>
                </a:tc>
                <a:extLst>
                  <a:ext uri="{0D108BD9-81ED-4DB2-BD59-A6C34878D82A}">
                    <a16:rowId xmlns:a16="http://schemas.microsoft.com/office/drawing/2014/main" val="4192231538"/>
                  </a:ext>
                </a:extLst>
              </a:tr>
              <a:tr h="4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>
                          <a:solidFill>
                            <a:schemeClr val="accent5"/>
                          </a:solidFill>
                          <a:effectLst/>
                        </a:rPr>
                        <a:t>git clone &lt;url&gt;</a:t>
                      </a:r>
                      <a:endParaRPr lang="pt-BR" sz="1600" b="1">
                        <a:solidFill>
                          <a:schemeClr val="accent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1873" marB="2187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effectLst/>
                        </a:rPr>
                        <a:t>Copia um repositório remoto completo para a máquina</a:t>
                      </a:r>
                      <a:endParaRPr lang="pt-BR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1873" marB="21873"/>
                </a:tc>
                <a:extLst>
                  <a:ext uri="{0D108BD9-81ED-4DB2-BD59-A6C34878D82A}">
                    <a16:rowId xmlns:a16="http://schemas.microsoft.com/office/drawing/2014/main" val="1247992115"/>
                  </a:ext>
                </a:extLst>
              </a:tr>
              <a:tr h="4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>
                          <a:solidFill>
                            <a:schemeClr val="accent5"/>
                          </a:solidFill>
                          <a:effectLst/>
                        </a:rPr>
                        <a:t>git restore &lt;arquivo&gt;</a:t>
                      </a:r>
                      <a:endParaRPr lang="pt-BR" sz="1600" b="1">
                        <a:solidFill>
                          <a:schemeClr val="accent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1873" marB="2187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effectLst/>
                        </a:rPr>
                        <a:t>Descarta mudanças de um arquivo no </a:t>
                      </a:r>
                      <a:r>
                        <a:rPr lang="pt-BR" sz="1600" dirty="0" err="1">
                          <a:effectLst/>
                        </a:rPr>
                        <a:t>Working</a:t>
                      </a:r>
                      <a:r>
                        <a:rPr lang="pt-BR" sz="1600" dirty="0">
                          <a:effectLst/>
                        </a:rPr>
                        <a:t> </a:t>
                      </a:r>
                      <a:r>
                        <a:rPr lang="pt-BR" sz="1600" dirty="0" err="1">
                          <a:effectLst/>
                        </a:rPr>
                        <a:t>Directory</a:t>
                      </a:r>
                      <a:endParaRPr lang="pt-BR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1873" marB="21873"/>
                </a:tc>
                <a:extLst>
                  <a:ext uri="{0D108BD9-81ED-4DB2-BD59-A6C34878D82A}">
                    <a16:rowId xmlns:a16="http://schemas.microsoft.com/office/drawing/2014/main" val="4128148166"/>
                  </a:ext>
                </a:extLst>
              </a:tr>
              <a:tr h="4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 dirty="0" err="1">
                          <a:solidFill>
                            <a:schemeClr val="accent5"/>
                          </a:solidFill>
                          <a:effectLst/>
                        </a:rPr>
                        <a:t>git</a:t>
                      </a:r>
                      <a:r>
                        <a:rPr lang="pt-BR" sz="1600" b="1" dirty="0">
                          <a:solidFill>
                            <a:schemeClr val="accent5"/>
                          </a:solidFill>
                          <a:effectLst/>
                        </a:rPr>
                        <a:t> </a:t>
                      </a:r>
                      <a:r>
                        <a:rPr lang="pt-BR" sz="1600" b="1" dirty="0" err="1">
                          <a:solidFill>
                            <a:schemeClr val="accent5"/>
                          </a:solidFill>
                          <a:effectLst/>
                        </a:rPr>
                        <a:t>revert</a:t>
                      </a:r>
                      <a:r>
                        <a:rPr lang="pt-BR" sz="1600" b="1" dirty="0">
                          <a:solidFill>
                            <a:schemeClr val="accent5"/>
                          </a:solidFill>
                          <a:effectLst/>
                        </a:rPr>
                        <a:t> &lt;</a:t>
                      </a:r>
                      <a:r>
                        <a:rPr lang="pt-BR" sz="1600" b="1" dirty="0" err="1">
                          <a:solidFill>
                            <a:schemeClr val="accent5"/>
                          </a:solidFill>
                          <a:effectLst/>
                        </a:rPr>
                        <a:t>hash</a:t>
                      </a:r>
                      <a:r>
                        <a:rPr lang="pt-BR" sz="1600" b="1" dirty="0">
                          <a:solidFill>
                            <a:schemeClr val="accent5"/>
                          </a:solidFill>
                          <a:effectLst/>
                        </a:rPr>
                        <a:t>&gt;</a:t>
                      </a:r>
                      <a:endParaRPr lang="pt-BR" sz="1600" b="1" dirty="0">
                        <a:solidFill>
                          <a:schemeClr val="accent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1873" marB="2187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effectLst/>
                        </a:rPr>
                        <a:t>Cria um </a:t>
                      </a:r>
                      <a:r>
                        <a:rPr lang="pt-BR" sz="1600" dirty="0" err="1">
                          <a:effectLst/>
                        </a:rPr>
                        <a:t>commit</a:t>
                      </a:r>
                      <a:r>
                        <a:rPr lang="pt-BR" sz="1600" dirty="0">
                          <a:effectLst/>
                        </a:rPr>
                        <a:t> que desfaz as mudanças de um </a:t>
                      </a:r>
                      <a:r>
                        <a:rPr lang="pt-BR" sz="1600" dirty="0" err="1">
                          <a:effectLst/>
                        </a:rPr>
                        <a:t>commit</a:t>
                      </a:r>
                      <a:r>
                        <a:rPr lang="pt-BR" sz="1600" dirty="0">
                          <a:effectLst/>
                        </a:rPr>
                        <a:t> anterior</a:t>
                      </a:r>
                      <a:endParaRPr lang="pt-BR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1873" marB="21873"/>
                </a:tc>
                <a:extLst>
                  <a:ext uri="{0D108BD9-81ED-4DB2-BD59-A6C34878D82A}">
                    <a16:rowId xmlns:a16="http://schemas.microsoft.com/office/drawing/2014/main" val="217209729"/>
                  </a:ext>
                </a:extLst>
              </a:tr>
            </a:tbl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6D689F9D-C5CE-DAC9-A2DA-39301B801A13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51F18CC-48B1-5663-B06D-0574EF4B5209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  <a:cs typeface="Segoe UI"/>
              </a:rPr>
              <a:t>Tabela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36F055-CED1-152B-5F75-6233D4E8FD71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>
                <a:solidFill>
                  <a:schemeClr val="accent5"/>
                </a:solidFill>
              </a:rPr>
              <a:t>Comandos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017447601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7FC1DD-CEA9-C48E-986B-7D4B2BB15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F402488-0726-ACD7-0CE5-30114ADEE074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E467C34-463C-0D91-E19E-2141872DF2F3}"/>
              </a:ext>
            </a:extLst>
          </p:cNvPr>
          <p:cNvSpPr txBox="1"/>
          <p:nvPr/>
        </p:nvSpPr>
        <p:spPr>
          <a:xfrm>
            <a:off x="450848" y="269680"/>
            <a:ext cx="11873808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latin typeface="Segoe UI"/>
                <a:cs typeface="Segoe UI Semibold"/>
              </a:rPr>
              <a:t>Branch e merge</a:t>
            </a:r>
            <a:endParaRPr lang="pt-BR" sz="3600" b="1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6438DE1-7C32-60C1-03C3-03C5EC20670D}"/>
              </a:ext>
            </a:extLst>
          </p:cNvPr>
          <p:cNvSpPr txBox="1"/>
          <p:nvPr/>
        </p:nvSpPr>
        <p:spPr>
          <a:xfrm>
            <a:off x="450848" y="822767"/>
            <a:ext cx="6160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 err="1">
                <a:solidFill>
                  <a:srgbClr val="F4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Galhos</a:t>
            </a:r>
            <a:r>
              <a:rPr lang="en-US" sz="2000" i="1" dirty="0">
                <a:solidFill>
                  <a:srgbClr val="F4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000" i="1" dirty="0" err="1">
                <a:solidFill>
                  <a:srgbClr val="F4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2000" i="1" dirty="0">
                <a:solidFill>
                  <a:srgbClr val="F4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i="1" dirty="0" err="1">
                <a:solidFill>
                  <a:srgbClr val="F4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</a:t>
            </a:r>
            <a:endParaRPr lang="en-US" sz="2000" dirty="0"/>
          </a:p>
        </p:txBody>
      </p:sp>
      <p:pic>
        <p:nvPicPr>
          <p:cNvPr id="2" name="Gráfico 1" descr="Árvore murcha com preenchimento sólido">
            <a:extLst>
              <a:ext uri="{FF2B5EF4-FFF2-40B4-BE49-F238E27FC236}">
                <a16:creationId xmlns:a16="http://schemas.microsoft.com/office/drawing/2014/main" id="{676C4343-7615-CAE4-D66C-6CA236DCE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0849" y="1846123"/>
            <a:ext cx="4490301" cy="449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134458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22F76-7CFD-C10A-1EF6-6D440B022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940D3F4A-2CE9-931C-5815-D4ECEFBD765A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EB74076-1C0B-729B-4469-07BE6F947905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  <a:cs typeface="Segoe UI"/>
              </a:rPr>
              <a:t>Desfazer mudanças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1EF4E00-51CF-5A85-1733-5F4182721042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 err="1">
                <a:solidFill>
                  <a:schemeClr val="accent5"/>
                </a:solidFill>
              </a:rPr>
              <a:t>Git</a:t>
            </a:r>
            <a:r>
              <a:rPr lang="pt-BR" sz="3200" b="1" dirty="0">
                <a:solidFill>
                  <a:schemeClr val="accent5"/>
                </a:solidFill>
              </a:rPr>
              <a:t> </a:t>
            </a:r>
            <a:r>
              <a:rPr lang="pt-BR" sz="3200" b="1" dirty="0" err="1">
                <a:solidFill>
                  <a:schemeClr val="accent5"/>
                </a:solidFill>
              </a:rPr>
              <a:t>branch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A0D712E-B9BD-EFE8-0C89-7283978F3B16}"/>
              </a:ext>
            </a:extLst>
          </p:cNvPr>
          <p:cNvSpPr txBox="1"/>
          <p:nvPr/>
        </p:nvSpPr>
        <p:spPr>
          <a:xfrm>
            <a:off x="450848" y="1484154"/>
            <a:ext cx="1132323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5"/>
                </a:solidFill>
              </a:rPr>
              <a:t>O que é uma </a:t>
            </a:r>
            <a:r>
              <a:rPr lang="pt-BR" sz="2400" b="1" dirty="0" err="1">
                <a:solidFill>
                  <a:schemeClr val="accent5"/>
                </a:solidFill>
              </a:rPr>
              <a:t>branch</a:t>
            </a:r>
            <a:r>
              <a:rPr lang="pt-BR" sz="2400" b="1" dirty="0">
                <a:solidFill>
                  <a:schemeClr val="accent5"/>
                </a:solidFill>
              </a:rPr>
              <a:t>?</a:t>
            </a:r>
          </a:p>
          <a:p>
            <a:endParaRPr lang="pt-BR" b="1" dirty="0">
              <a:solidFill>
                <a:schemeClr val="accent5"/>
              </a:solidFill>
            </a:endParaRPr>
          </a:p>
          <a:p>
            <a:r>
              <a:rPr lang="pt-BR" dirty="0">
                <a:solidFill>
                  <a:schemeClr val="accent5"/>
                </a:solidFill>
              </a:rPr>
              <a:t>Uma </a:t>
            </a:r>
            <a:r>
              <a:rPr lang="pt-BR" dirty="0" err="1">
                <a:solidFill>
                  <a:schemeClr val="accent5"/>
                </a:solidFill>
              </a:rPr>
              <a:t>branch</a:t>
            </a:r>
            <a:r>
              <a:rPr lang="pt-BR" dirty="0">
                <a:solidFill>
                  <a:schemeClr val="accent5"/>
                </a:solidFill>
              </a:rPr>
              <a:t> (ramificação) é uma linha de desenvolvimento independente dentro de um mesmo repositório. Por padrão, todo repositório começa com uma </a:t>
            </a:r>
            <a:r>
              <a:rPr lang="pt-BR" dirty="0" err="1">
                <a:solidFill>
                  <a:schemeClr val="accent5"/>
                </a:solidFill>
              </a:rPr>
              <a:t>branch</a:t>
            </a:r>
            <a:r>
              <a:rPr lang="pt-BR" dirty="0">
                <a:solidFill>
                  <a:schemeClr val="accent5"/>
                </a:solidFill>
              </a:rPr>
              <a:t> chamada </a:t>
            </a:r>
            <a:r>
              <a:rPr lang="pt-BR" b="1" dirty="0" err="1">
                <a:solidFill>
                  <a:schemeClr val="accent5"/>
                </a:solidFill>
              </a:rPr>
              <a:t>main</a:t>
            </a:r>
            <a:r>
              <a:rPr lang="pt-BR" dirty="0">
                <a:solidFill>
                  <a:schemeClr val="accent5"/>
                </a:solidFill>
              </a:rPr>
              <a:t> (antigamente chamada </a:t>
            </a:r>
            <a:r>
              <a:rPr lang="pt-BR" b="1" dirty="0">
                <a:solidFill>
                  <a:schemeClr val="accent5"/>
                </a:solidFill>
              </a:rPr>
              <a:t>master</a:t>
            </a:r>
            <a:r>
              <a:rPr lang="pt-BR" dirty="0">
                <a:solidFill>
                  <a:schemeClr val="accent5"/>
                </a:solidFill>
              </a:rPr>
              <a:t>). A partir dela, você pode criar quantas </a:t>
            </a:r>
            <a:r>
              <a:rPr lang="pt-BR" dirty="0" err="1">
                <a:solidFill>
                  <a:schemeClr val="accent5"/>
                </a:solidFill>
              </a:rPr>
              <a:t>branches</a:t>
            </a:r>
            <a:r>
              <a:rPr lang="pt-BR" dirty="0">
                <a:solidFill>
                  <a:schemeClr val="accent5"/>
                </a:solidFill>
              </a:rPr>
              <a:t> quiser.</a:t>
            </a:r>
          </a:p>
          <a:p>
            <a:endParaRPr lang="pt-BR" dirty="0">
              <a:solidFill>
                <a:schemeClr val="accent5"/>
              </a:solidFill>
            </a:endParaRPr>
          </a:p>
          <a:p>
            <a:endParaRPr lang="pt-BR" dirty="0">
              <a:solidFill>
                <a:schemeClr val="accent5"/>
              </a:solidFill>
            </a:endParaRPr>
          </a:p>
        </p:txBody>
      </p:sp>
      <p:pic>
        <p:nvPicPr>
          <p:cNvPr id="9" name="Gráfico 8" descr="Árvore murcha com preenchimento sólido">
            <a:extLst>
              <a:ext uri="{FF2B5EF4-FFF2-40B4-BE49-F238E27FC236}">
                <a16:creationId xmlns:a16="http://schemas.microsoft.com/office/drawing/2014/main" id="{F88F56D5-962D-1C93-5799-2673A1A22B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6842" y="2932842"/>
            <a:ext cx="3925158" cy="3925158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C9679BCF-EF68-566A-75A8-863A0B4CE209}"/>
              </a:ext>
            </a:extLst>
          </p:cNvPr>
          <p:cNvSpPr txBox="1"/>
          <p:nvPr/>
        </p:nvSpPr>
        <p:spPr>
          <a:xfrm>
            <a:off x="450847" y="3429000"/>
            <a:ext cx="818410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accent5"/>
                </a:solidFill>
              </a:rPr>
              <a:t>Imagine o histórico de </a:t>
            </a:r>
            <a:r>
              <a:rPr lang="pt-BR" b="1" dirty="0" err="1">
                <a:solidFill>
                  <a:schemeClr val="accent5"/>
                </a:solidFill>
              </a:rPr>
              <a:t>commits</a:t>
            </a:r>
            <a:r>
              <a:rPr lang="pt-BR" b="1" dirty="0">
                <a:solidFill>
                  <a:schemeClr val="accent5"/>
                </a:solidFill>
              </a:rPr>
              <a:t> como uma árvore.</a:t>
            </a:r>
          </a:p>
          <a:p>
            <a:endParaRPr lang="pt-BR" b="1" dirty="0">
              <a:solidFill>
                <a:schemeClr val="accent5"/>
              </a:solidFill>
            </a:endParaRPr>
          </a:p>
          <a:p>
            <a:r>
              <a:rPr lang="pt-BR" dirty="0">
                <a:solidFill>
                  <a:schemeClr val="accent5"/>
                </a:solidFill>
              </a:rPr>
              <a:t>Quando você cria uma </a:t>
            </a:r>
            <a:r>
              <a:rPr lang="pt-BR" dirty="0" err="1">
                <a:solidFill>
                  <a:schemeClr val="accent5"/>
                </a:solidFill>
              </a:rPr>
              <a:t>branch</a:t>
            </a:r>
            <a:r>
              <a:rPr lang="pt-BR" dirty="0">
                <a:solidFill>
                  <a:schemeClr val="accent5"/>
                </a:solidFill>
              </a:rPr>
              <a:t>, está criando um novo galho dessa árvore. Nesse novo galho, você pode fazer </a:t>
            </a:r>
            <a:r>
              <a:rPr lang="pt-BR" dirty="0" err="1">
                <a:solidFill>
                  <a:schemeClr val="accent5"/>
                </a:solidFill>
              </a:rPr>
              <a:t>commits</a:t>
            </a:r>
            <a:r>
              <a:rPr lang="pt-BR" dirty="0">
                <a:solidFill>
                  <a:schemeClr val="accent5"/>
                </a:solidFill>
              </a:rPr>
              <a:t> sem alterar o tronco principal. </a:t>
            </a:r>
          </a:p>
          <a:p>
            <a:endParaRPr lang="pt-BR" dirty="0">
              <a:solidFill>
                <a:schemeClr val="accent5"/>
              </a:solidFill>
            </a:endParaRPr>
          </a:p>
          <a:p>
            <a:r>
              <a:rPr lang="pt-BR" dirty="0">
                <a:solidFill>
                  <a:schemeClr val="accent5"/>
                </a:solidFill>
              </a:rPr>
              <a:t>Quando terminar o trabalho, você pode: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5"/>
                </a:solidFill>
              </a:rPr>
              <a:t>Unir esse galho ao tronco, juntando as duas linhas de desenvolvimento.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5"/>
                </a:solidFill>
              </a:rPr>
              <a:t>Ou, se não gostar do resultado, simplesmente remover esse galho sem afetar o tronco.</a:t>
            </a:r>
            <a:endParaRPr lang="pt-BR" dirty="0">
              <a:solidFill>
                <a:schemeClr val="accent5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18219232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805A8-56AB-6D30-7B8B-8B3E598D0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2CE424B-9E3B-69CF-1689-0D77B2E8E260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20517EF-A953-BC44-1E47-EC88BF03104B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  <a:cs typeface="Segoe UI"/>
              </a:rPr>
              <a:t>Desfazer mudanças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9F68C72-9803-1B12-CEE7-3327C150571C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 err="1">
                <a:solidFill>
                  <a:schemeClr val="accent5"/>
                </a:solidFill>
              </a:rPr>
              <a:t>Git</a:t>
            </a:r>
            <a:r>
              <a:rPr lang="pt-BR" sz="3200" b="1" dirty="0">
                <a:solidFill>
                  <a:schemeClr val="accent5"/>
                </a:solidFill>
              </a:rPr>
              <a:t> </a:t>
            </a:r>
            <a:r>
              <a:rPr lang="pt-BR" sz="3200" b="1" dirty="0" err="1">
                <a:solidFill>
                  <a:schemeClr val="accent5"/>
                </a:solidFill>
              </a:rPr>
              <a:t>branch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6F1F892-1A45-380C-9A94-71F5219F8D21}"/>
              </a:ext>
            </a:extLst>
          </p:cNvPr>
          <p:cNvSpPr txBox="1"/>
          <p:nvPr/>
        </p:nvSpPr>
        <p:spPr>
          <a:xfrm>
            <a:off x="450848" y="1490934"/>
            <a:ext cx="101260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accent5"/>
                </a:solidFill>
              </a:rPr>
              <a:t>📌 Convenção de nomes</a:t>
            </a:r>
          </a:p>
          <a:p>
            <a:endParaRPr lang="pt-BR" sz="2000" dirty="0">
              <a:solidFill>
                <a:schemeClr val="accent5"/>
              </a:solidFill>
            </a:endParaRPr>
          </a:p>
          <a:p>
            <a:r>
              <a:rPr lang="pt-BR" sz="2000" dirty="0">
                <a:solidFill>
                  <a:schemeClr val="accent5"/>
                </a:solidFill>
              </a:rPr>
              <a:t>É uma boa prática nomear </a:t>
            </a:r>
            <a:r>
              <a:rPr lang="pt-BR" sz="2000" dirty="0" err="1">
                <a:solidFill>
                  <a:schemeClr val="accent5"/>
                </a:solidFill>
              </a:rPr>
              <a:t>branches</a:t>
            </a:r>
            <a:r>
              <a:rPr lang="pt-BR" sz="2000" dirty="0">
                <a:solidFill>
                  <a:schemeClr val="accent5"/>
                </a:solidFill>
              </a:rPr>
              <a:t> de forma descritiva usando o padrão tipo/</a:t>
            </a:r>
            <a:r>
              <a:rPr lang="pt-BR" sz="2000" dirty="0" err="1">
                <a:solidFill>
                  <a:schemeClr val="accent5"/>
                </a:solidFill>
              </a:rPr>
              <a:t>descricao</a:t>
            </a:r>
            <a:r>
              <a:rPr lang="pt-BR" sz="2000" dirty="0">
                <a:solidFill>
                  <a:schemeClr val="accent5"/>
                </a:solidFill>
              </a:rPr>
              <a:t>. </a:t>
            </a:r>
          </a:p>
          <a:p>
            <a:r>
              <a:rPr lang="pt-BR" sz="2000" dirty="0">
                <a:solidFill>
                  <a:schemeClr val="accent5"/>
                </a:solidFill>
              </a:rPr>
              <a:t>Isso deixa claro para toda a equipe o que cada </a:t>
            </a:r>
            <a:r>
              <a:rPr lang="pt-BR" sz="2000" dirty="0" err="1">
                <a:solidFill>
                  <a:schemeClr val="accent5"/>
                </a:solidFill>
              </a:rPr>
              <a:t>branch</a:t>
            </a:r>
            <a:r>
              <a:rPr lang="pt-BR" sz="2000" dirty="0">
                <a:solidFill>
                  <a:schemeClr val="accent5"/>
                </a:solidFill>
              </a:rPr>
              <a:t> contém.</a:t>
            </a:r>
          </a:p>
          <a:p>
            <a:endParaRPr lang="pt-BR" sz="2000" dirty="0">
              <a:solidFill>
                <a:schemeClr val="accent5"/>
              </a:solidFill>
            </a:endParaRPr>
          </a:p>
          <a:p>
            <a:r>
              <a:rPr lang="pt-BR" sz="2000" dirty="0">
                <a:solidFill>
                  <a:schemeClr val="accent5"/>
                </a:solidFill>
              </a:rPr>
              <a:t>Por exemplo: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5"/>
                </a:solidFill>
              </a:rPr>
              <a:t>feature/pagina-de-login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accent5"/>
                </a:solidFill>
              </a:rPr>
              <a:t>bugfix</a:t>
            </a:r>
            <a:r>
              <a:rPr lang="pt-BR" sz="2000" dirty="0">
                <a:solidFill>
                  <a:schemeClr val="accent5"/>
                </a:solidFill>
              </a:rPr>
              <a:t>/erro-de-</a:t>
            </a:r>
            <a:r>
              <a:rPr lang="pt-BR" sz="2000" dirty="0" err="1">
                <a:solidFill>
                  <a:schemeClr val="accent5"/>
                </a:solidFill>
              </a:rPr>
              <a:t>autenticacao</a:t>
            </a:r>
            <a:r>
              <a:rPr lang="pt-BR" sz="2000" dirty="0">
                <a:solidFill>
                  <a:schemeClr val="accent5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accent5"/>
                </a:solidFill>
              </a:rPr>
              <a:t>hotfix</a:t>
            </a:r>
            <a:r>
              <a:rPr lang="pt-BR" sz="2000" dirty="0">
                <a:solidFill>
                  <a:schemeClr val="accent5"/>
                </a:solidFill>
              </a:rPr>
              <a:t>/crash-na-home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4A52E52-C933-79AF-7582-3CCB429CAD6A}"/>
              </a:ext>
            </a:extLst>
          </p:cNvPr>
          <p:cNvSpPr txBox="1"/>
          <p:nvPr/>
        </p:nvSpPr>
        <p:spPr>
          <a:xfrm rot="19484014">
            <a:off x="3781573" y="4687811"/>
            <a:ext cx="852657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1" dirty="0" err="1">
                <a:solidFill>
                  <a:schemeClr val="accent2"/>
                </a:solidFill>
              </a:rPr>
              <a:t>bugfix</a:t>
            </a:r>
            <a:endParaRPr lang="pt-BR" sz="1600" b="1" dirty="0">
              <a:solidFill>
                <a:schemeClr val="accent2"/>
              </a:solidFill>
            </a:endParaRP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73524B1-0B27-48B5-E146-0BB2F5E55415}"/>
              </a:ext>
            </a:extLst>
          </p:cNvPr>
          <p:cNvCxnSpPr>
            <a:cxnSpLocks/>
          </p:cNvCxnSpPr>
          <p:nvPr/>
        </p:nvCxnSpPr>
        <p:spPr>
          <a:xfrm>
            <a:off x="1717878" y="5452700"/>
            <a:ext cx="8630082" cy="0"/>
          </a:xfrm>
          <a:prstGeom prst="line">
            <a:avLst/>
          </a:prstGeom>
          <a:ln w="76200">
            <a:solidFill>
              <a:srgbClr val="66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775424F9-8F0E-846D-9287-37BDE4BB64D9}"/>
              </a:ext>
            </a:extLst>
          </p:cNvPr>
          <p:cNvCxnSpPr>
            <a:cxnSpLocks/>
          </p:cNvCxnSpPr>
          <p:nvPr/>
        </p:nvCxnSpPr>
        <p:spPr>
          <a:xfrm flipV="1">
            <a:off x="3649744" y="4587355"/>
            <a:ext cx="1280475" cy="870765"/>
          </a:xfrm>
          <a:prstGeom prst="line">
            <a:avLst/>
          </a:prstGeom>
          <a:ln w="76200">
            <a:solidFill>
              <a:srgbClr val="66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ED5D432D-92F5-D990-BA4A-9A4DE5A5EA35}"/>
              </a:ext>
            </a:extLst>
          </p:cNvPr>
          <p:cNvCxnSpPr>
            <a:cxnSpLocks/>
          </p:cNvCxnSpPr>
          <p:nvPr/>
        </p:nvCxnSpPr>
        <p:spPr>
          <a:xfrm>
            <a:off x="4666939" y="5470036"/>
            <a:ext cx="1184318" cy="924880"/>
          </a:xfrm>
          <a:prstGeom prst="line">
            <a:avLst/>
          </a:prstGeom>
          <a:ln w="76200">
            <a:solidFill>
              <a:srgbClr val="66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00BB9EF5-14EF-CE67-79DC-AC9BDBC3693E}"/>
              </a:ext>
            </a:extLst>
          </p:cNvPr>
          <p:cNvCxnSpPr>
            <a:cxnSpLocks/>
          </p:cNvCxnSpPr>
          <p:nvPr/>
        </p:nvCxnSpPr>
        <p:spPr>
          <a:xfrm flipV="1">
            <a:off x="5851257" y="4599271"/>
            <a:ext cx="1235007" cy="853429"/>
          </a:xfrm>
          <a:prstGeom prst="line">
            <a:avLst/>
          </a:prstGeom>
          <a:ln w="76200">
            <a:solidFill>
              <a:srgbClr val="66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BD86830-C9FE-C950-30C4-3E0D2EE2C8C0}"/>
              </a:ext>
            </a:extLst>
          </p:cNvPr>
          <p:cNvSpPr txBox="1"/>
          <p:nvPr/>
        </p:nvSpPr>
        <p:spPr>
          <a:xfrm rot="19484014">
            <a:off x="5870753" y="4736411"/>
            <a:ext cx="852657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1" dirty="0" err="1">
                <a:solidFill>
                  <a:schemeClr val="accent2"/>
                </a:solidFill>
              </a:rPr>
              <a:t>hotfix</a:t>
            </a:r>
            <a:endParaRPr lang="pt-BR" sz="1600" b="1" dirty="0">
              <a:solidFill>
                <a:schemeClr val="accent2"/>
              </a:solidFill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BA44CDB-63E7-FFCA-80A7-50423189C001}"/>
              </a:ext>
            </a:extLst>
          </p:cNvPr>
          <p:cNvSpPr txBox="1"/>
          <p:nvPr/>
        </p:nvSpPr>
        <p:spPr>
          <a:xfrm rot="2343591">
            <a:off x="4571759" y="5798239"/>
            <a:ext cx="939355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accent2"/>
                </a:solidFill>
              </a:rPr>
              <a:t>feature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88CA63C-4DCE-60C7-148C-4F49E594286A}"/>
              </a:ext>
            </a:extLst>
          </p:cNvPr>
          <p:cNvSpPr txBox="1"/>
          <p:nvPr/>
        </p:nvSpPr>
        <p:spPr>
          <a:xfrm>
            <a:off x="1617931" y="5131482"/>
            <a:ext cx="852657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accent2"/>
                </a:solidFill>
              </a:rPr>
              <a:t>MAIN</a:t>
            </a:r>
          </a:p>
        </p:txBody>
      </p:sp>
    </p:spTree>
    <p:extLst>
      <p:ext uri="{BB962C8B-B14F-4D97-AF65-F5344CB8AC3E}">
        <p14:creationId xmlns:p14="http://schemas.microsoft.com/office/powerpoint/2010/main" val="1389836939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92AA1-3F4B-16D8-16EA-139A4D4EF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BF56210-27CA-D1A0-74BF-5A79E326C697}"/>
              </a:ext>
            </a:extLst>
          </p:cNvPr>
          <p:cNvSpPr txBox="1"/>
          <p:nvPr/>
        </p:nvSpPr>
        <p:spPr>
          <a:xfrm>
            <a:off x="5866687" y="2548802"/>
            <a:ext cx="610856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accent5"/>
                </a:solidFill>
              </a:rPr>
              <a:t>4. Envie a </a:t>
            </a:r>
            <a:r>
              <a:rPr lang="pt-BR" sz="1800" dirty="0" err="1">
                <a:solidFill>
                  <a:schemeClr val="accent5"/>
                </a:solidFill>
              </a:rPr>
              <a:t>branch</a:t>
            </a:r>
            <a:r>
              <a:rPr lang="pt-BR" sz="1800" dirty="0">
                <a:solidFill>
                  <a:schemeClr val="accent5"/>
                </a:solidFill>
              </a:rPr>
              <a:t> para o GitHub (os </a:t>
            </a:r>
            <a:r>
              <a:rPr lang="pt-BR" sz="1800" dirty="0" err="1">
                <a:solidFill>
                  <a:schemeClr val="accent5"/>
                </a:solidFill>
              </a:rPr>
              <a:t>commits</a:t>
            </a:r>
            <a:r>
              <a:rPr lang="pt-BR" sz="1800" dirty="0">
                <a:solidFill>
                  <a:schemeClr val="accent5"/>
                </a:solidFill>
              </a:rPr>
              <a:t> ainda estão só na sua máquina!)</a:t>
            </a:r>
          </a:p>
          <a:p>
            <a:endParaRPr lang="pt-BR" dirty="0">
              <a:solidFill>
                <a:schemeClr val="accent5"/>
              </a:solidFill>
            </a:endParaRPr>
          </a:p>
          <a:p>
            <a:endParaRPr lang="pt-BR" sz="1800" dirty="0">
              <a:solidFill>
                <a:schemeClr val="accent5"/>
              </a:solidFill>
            </a:endParaRPr>
          </a:p>
          <a:p>
            <a:endParaRPr lang="pt-BR" sz="1800" dirty="0">
              <a:solidFill>
                <a:schemeClr val="accent5"/>
              </a:solidFill>
            </a:endParaRPr>
          </a:p>
          <a:p>
            <a:r>
              <a:rPr lang="pt-BR" sz="1800" dirty="0">
                <a:solidFill>
                  <a:schemeClr val="accent5"/>
                </a:solidFill>
              </a:rPr>
              <a:t>5. Quando terminar, volte para a </a:t>
            </a:r>
            <a:r>
              <a:rPr lang="pt-BR" sz="1800" dirty="0" err="1">
                <a:solidFill>
                  <a:schemeClr val="accent5"/>
                </a:solidFill>
              </a:rPr>
              <a:t>main</a:t>
            </a:r>
            <a:r>
              <a:rPr lang="pt-BR" sz="1800" dirty="0">
                <a:solidFill>
                  <a:schemeClr val="accent5"/>
                </a:solidFill>
              </a:rPr>
              <a:t> e faça o merge</a:t>
            </a:r>
          </a:p>
          <a:p>
            <a:endParaRPr lang="pt-BR" sz="1800" dirty="0">
              <a:solidFill>
                <a:schemeClr val="accent5"/>
              </a:solidFill>
            </a:endParaRPr>
          </a:p>
          <a:p>
            <a:endParaRPr lang="pt-BR" dirty="0">
              <a:solidFill>
                <a:schemeClr val="accent5"/>
              </a:solidFill>
            </a:endParaRPr>
          </a:p>
          <a:p>
            <a:r>
              <a:rPr lang="pt-BR" sz="1800" dirty="0">
                <a:solidFill>
                  <a:schemeClr val="accent5"/>
                </a:solidFill>
              </a:rPr>
              <a:t> </a:t>
            </a:r>
          </a:p>
          <a:p>
            <a:endParaRPr lang="pt-BR" sz="1800" dirty="0">
              <a:solidFill>
                <a:schemeClr val="accent5"/>
              </a:solidFill>
            </a:endParaRPr>
          </a:p>
          <a:p>
            <a:r>
              <a:rPr lang="pt-BR" sz="1800" dirty="0">
                <a:solidFill>
                  <a:schemeClr val="accent5"/>
                </a:solidFill>
              </a:rPr>
              <a:t>6. Delete a </a:t>
            </a:r>
            <a:r>
              <a:rPr lang="pt-BR" sz="1800" dirty="0" err="1">
                <a:solidFill>
                  <a:schemeClr val="accent5"/>
                </a:solidFill>
              </a:rPr>
              <a:t>branch</a:t>
            </a:r>
            <a:r>
              <a:rPr lang="pt-BR" sz="1800" dirty="0">
                <a:solidFill>
                  <a:schemeClr val="accent5"/>
                </a:solidFill>
              </a:rPr>
              <a:t> local (ela já cumpriu seu papel)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199A430-77FB-A0DE-3968-B6C0C8FD9498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3BEF263-9650-7BAA-75E3-E4E28FC6BF70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  <a:cs typeface="Segoe UI"/>
              </a:rPr>
              <a:t>Exemplo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DC72174-1527-55F9-7A58-CF47D17AB80C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>
                <a:solidFill>
                  <a:schemeClr val="accent5"/>
                </a:solidFill>
              </a:rPr>
              <a:t>Fluxo completo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530BC28-1E69-E2D4-EF48-08FB91012E2D}"/>
              </a:ext>
            </a:extLst>
          </p:cNvPr>
          <p:cNvSpPr txBox="1"/>
          <p:nvPr/>
        </p:nvSpPr>
        <p:spPr>
          <a:xfrm>
            <a:off x="450848" y="1484154"/>
            <a:ext cx="534538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accent5"/>
                </a:solidFill>
              </a:rPr>
              <a:t>O fluxo de trabalho com </a:t>
            </a:r>
            <a:r>
              <a:rPr lang="pt-BR" b="1" dirty="0" err="1">
                <a:solidFill>
                  <a:schemeClr val="accent5"/>
                </a:solidFill>
              </a:rPr>
              <a:t>branches</a:t>
            </a:r>
            <a:endParaRPr lang="pt-BR" b="1" dirty="0">
              <a:solidFill>
                <a:schemeClr val="accent5"/>
              </a:solidFill>
            </a:endParaRPr>
          </a:p>
          <a:p>
            <a:r>
              <a:rPr lang="pt-BR" dirty="0">
                <a:solidFill>
                  <a:schemeClr val="accent5"/>
                </a:solidFill>
              </a:rPr>
              <a:t>O fluxo típico de trabalho com </a:t>
            </a:r>
            <a:r>
              <a:rPr lang="pt-BR" dirty="0" err="1">
                <a:solidFill>
                  <a:schemeClr val="accent5"/>
                </a:solidFill>
              </a:rPr>
              <a:t>branches</a:t>
            </a:r>
            <a:r>
              <a:rPr lang="pt-BR" dirty="0">
                <a:solidFill>
                  <a:schemeClr val="accent5"/>
                </a:solidFill>
              </a:rPr>
              <a:t> segue este padrão:</a:t>
            </a:r>
          </a:p>
          <a:p>
            <a:endParaRPr lang="pt-BR" dirty="0">
              <a:solidFill>
                <a:schemeClr val="accent5"/>
              </a:solidFill>
            </a:endParaRPr>
          </a:p>
          <a:p>
            <a:r>
              <a:rPr lang="pt-BR" dirty="0">
                <a:solidFill>
                  <a:schemeClr val="accent5"/>
                </a:solidFill>
              </a:rPr>
              <a:t>1. Certifique-se de estar na </a:t>
            </a:r>
            <a:r>
              <a:rPr lang="pt-BR" dirty="0" err="1">
                <a:solidFill>
                  <a:schemeClr val="accent5"/>
                </a:solidFill>
              </a:rPr>
              <a:t>main</a:t>
            </a:r>
            <a:r>
              <a:rPr lang="pt-BR" dirty="0">
                <a:solidFill>
                  <a:schemeClr val="accent5"/>
                </a:solidFill>
              </a:rPr>
              <a:t> atualizada</a:t>
            </a:r>
          </a:p>
          <a:p>
            <a:r>
              <a:rPr lang="pt-BR" dirty="0">
                <a:solidFill>
                  <a:schemeClr val="accent5"/>
                </a:solidFill>
              </a:rPr>
              <a:t> </a:t>
            </a:r>
          </a:p>
          <a:p>
            <a:endParaRPr lang="pt-BR" dirty="0">
              <a:solidFill>
                <a:schemeClr val="accent5"/>
              </a:solidFill>
            </a:endParaRPr>
          </a:p>
          <a:p>
            <a:endParaRPr lang="pt-BR" dirty="0">
              <a:solidFill>
                <a:schemeClr val="accent5"/>
              </a:solidFill>
            </a:endParaRPr>
          </a:p>
          <a:p>
            <a:endParaRPr lang="pt-BR" dirty="0">
              <a:solidFill>
                <a:schemeClr val="accent5"/>
              </a:solidFill>
            </a:endParaRPr>
          </a:p>
          <a:p>
            <a:r>
              <a:rPr lang="pt-BR" dirty="0">
                <a:solidFill>
                  <a:schemeClr val="accent5"/>
                </a:solidFill>
              </a:rPr>
              <a:t>2. Crie uma nova </a:t>
            </a:r>
            <a:r>
              <a:rPr lang="pt-BR" dirty="0" err="1">
                <a:solidFill>
                  <a:schemeClr val="accent5"/>
                </a:solidFill>
              </a:rPr>
              <a:t>branch</a:t>
            </a:r>
            <a:r>
              <a:rPr lang="pt-BR" dirty="0">
                <a:solidFill>
                  <a:schemeClr val="accent5"/>
                </a:solidFill>
              </a:rPr>
              <a:t> para a sua tarefa</a:t>
            </a:r>
          </a:p>
          <a:p>
            <a:r>
              <a:rPr lang="pt-BR" dirty="0">
                <a:solidFill>
                  <a:schemeClr val="accent5"/>
                </a:solidFill>
              </a:rPr>
              <a:t> </a:t>
            </a:r>
          </a:p>
          <a:p>
            <a:endParaRPr lang="pt-BR" dirty="0">
              <a:solidFill>
                <a:schemeClr val="accent5"/>
              </a:solidFill>
            </a:endParaRPr>
          </a:p>
          <a:p>
            <a:endParaRPr lang="pt-BR" dirty="0">
              <a:solidFill>
                <a:schemeClr val="accent5"/>
              </a:solidFill>
            </a:endParaRPr>
          </a:p>
          <a:p>
            <a:r>
              <a:rPr lang="pt-BR" dirty="0">
                <a:solidFill>
                  <a:schemeClr val="accent5"/>
                </a:solidFill>
              </a:rPr>
              <a:t>3. Desenvolva normalmente, fazendo </a:t>
            </a:r>
            <a:r>
              <a:rPr lang="pt-BR" dirty="0" err="1">
                <a:solidFill>
                  <a:schemeClr val="accent5"/>
                </a:solidFill>
              </a:rPr>
              <a:t>commits</a:t>
            </a:r>
            <a:r>
              <a:rPr lang="pt-BR" dirty="0">
                <a:solidFill>
                  <a:schemeClr val="accent5"/>
                </a:solidFill>
              </a:rPr>
              <a:t> locais</a:t>
            </a:r>
          </a:p>
          <a:p>
            <a:r>
              <a:rPr lang="pt-BR" dirty="0">
                <a:solidFill>
                  <a:schemeClr val="accent5"/>
                </a:solidFill>
              </a:rPr>
              <a:t> 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E7A015E-F3AE-8C45-2C2E-9B6069F5C05E}"/>
              </a:ext>
            </a:extLst>
          </p:cNvPr>
          <p:cNvSpPr/>
          <p:nvPr/>
        </p:nvSpPr>
        <p:spPr>
          <a:xfrm>
            <a:off x="521306" y="3120085"/>
            <a:ext cx="5005717" cy="6178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600" dirty="0">
                <a:solidFill>
                  <a:srgbClr val="FFFF00"/>
                </a:solidFill>
              </a:rPr>
              <a:t>$ </a:t>
            </a:r>
            <a:r>
              <a:rPr lang="pt-BR" sz="1600" dirty="0" err="1">
                <a:solidFill>
                  <a:srgbClr val="FFFF00"/>
                </a:solidFill>
              </a:rPr>
              <a:t>git</a:t>
            </a:r>
            <a:r>
              <a:rPr lang="pt-BR" sz="1600" dirty="0">
                <a:solidFill>
                  <a:srgbClr val="FFFF00"/>
                </a:solidFill>
              </a:rPr>
              <a:t> checkout </a:t>
            </a:r>
            <a:r>
              <a:rPr lang="pt-BR" sz="1600" dirty="0" err="1">
                <a:solidFill>
                  <a:srgbClr val="FFFF00"/>
                </a:solidFill>
              </a:rPr>
              <a:t>main</a:t>
            </a:r>
            <a:endParaRPr lang="pt-BR" sz="1600">
              <a:solidFill>
                <a:srgbClr val="FFFF00"/>
              </a:solidFill>
              <a:cs typeface="Segoe UI"/>
            </a:endParaRPr>
          </a:p>
          <a:p>
            <a:r>
              <a:rPr lang="pt-BR" sz="1600" dirty="0">
                <a:solidFill>
                  <a:srgbClr val="FFFF00"/>
                </a:solidFill>
              </a:rPr>
              <a:t>$ </a:t>
            </a:r>
            <a:r>
              <a:rPr lang="pt-BR" sz="1600" err="1">
                <a:solidFill>
                  <a:srgbClr val="FFFF00"/>
                </a:solidFill>
              </a:rPr>
              <a:t>git</a:t>
            </a:r>
            <a:r>
              <a:rPr lang="pt-BR" sz="1600" dirty="0">
                <a:solidFill>
                  <a:srgbClr val="FFFF00"/>
                </a:solidFill>
              </a:rPr>
              <a:t> </a:t>
            </a:r>
            <a:r>
              <a:rPr lang="pt-BR" sz="1600" err="1">
                <a:solidFill>
                  <a:srgbClr val="FFFF00"/>
                </a:solidFill>
              </a:rPr>
              <a:t>pull</a:t>
            </a:r>
            <a:r>
              <a:rPr lang="pt-BR" sz="1600" dirty="0">
                <a:solidFill>
                  <a:srgbClr val="FFFF00"/>
                </a:solidFill>
              </a:rPr>
              <a:t> </a:t>
            </a:r>
            <a:r>
              <a:rPr lang="pt-BR" sz="1600" err="1">
                <a:solidFill>
                  <a:srgbClr val="FFFF00"/>
                </a:solidFill>
              </a:rPr>
              <a:t>origin</a:t>
            </a:r>
            <a:r>
              <a:rPr lang="pt-BR" sz="1600" dirty="0">
                <a:solidFill>
                  <a:srgbClr val="FFFF00"/>
                </a:solidFill>
              </a:rPr>
              <a:t> </a:t>
            </a:r>
            <a:r>
              <a:rPr lang="pt-BR" sz="1600" err="1">
                <a:solidFill>
                  <a:srgbClr val="FFFF00"/>
                </a:solidFill>
              </a:rPr>
              <a:t>main</a:t>
            </a:r>
            <a:endParaRPr lang="pt-BR" sz="1600">
              <a:solidFill>
                <a:srgbClr val="008000"/>
              </a:solidFill>
              <a:cs typeface="Segoe UI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6F75F3F-613F-ADFE-BE7D-30A3E0D7EA22}"/>
              </a:ext>
            </a:extLst>
          </p:cNvPr>
          <p:cNvSpPr/>
          <p:nvPr/>
        </p:nvSpPr>
        <p:spPr>
          <a:xfrm>
            <a:off x="521305" y="4482214"/>
            <a:ext cx="5005717" cy="3348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600" dirty="0">
                <a:solidFill>
                  <a:srgbClr val="FFFF00"/>
                </a:solidFill>
              </a:rPr>
              <a:t>$ </a:t>
            </a:r>
            <a:r>
              <a:rPr lang="pt-BR" sz="1600" dirty="0" err="1">
                <a:solidFill>
                  <a:srgbClr val="FFFF00"/>
                </a:solidFill>
              </a:rPr>
              <a:t>git</a:t>
            </a:r>
            <a:r>
              <a:rPr lang="pt-BR" sz="1600" dirty="0">
                <a:solidFill>
                  <a:srgbClr val="FFFF00"/>
                </a:solidFill>
              </a:rPr>
              <a:t> checkout -b feature/</a:t>
            </a:r>
            <a:r>
              <a:rPr lang="pt-BR" sz="1600" dirty="0" err="1">
                <a:solidFill>
                  <a:srgbClr val="FFFF00"/>
                </a:solidFill>
              </a:rPr>
              <a:t>formulario</a:t>
            </a:r>
            <a:r>
              <a:rPr lang="pt-BR" sz="1600" dirty="0">
                <a:solidFill>
                  <a:srgbClr val="FFFF00"/>
                </a:solidFill>
              </a:rPr>
              <a:t>-de-contato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D10FAD1-320F-4D25-1395-6EF774E59199}"/>
              </a:ext>
            </a:extLst>
          </p:cNvPr>
          <p:cNvSpPr/>
          <p:nvPr/>
        </p:nvSpPr>
        <p:spPr>
          <a:xfrm>
            <a:off x="521304" y="5762788"/>
            <a:ext cx="5005717" cy="6178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200" dirty="0">
                <a:solidFill>
                  <a:srgbClr val="FFFF00"/>
                </a:solidFill>
              </a:rPr>
              <a:t>$ </a:t>
            </a:r>
            <a:r>
              <a:rPr lang="pt-BR" sz="1200" err="1">
                <a:solidFill>
                  <a:srgbClr val="FFFF00"/>
                </a:solidFill>
              </a:rPr>
              <a:t>git</a:t>
            </a:r>
            <a:r>
              <a:rPr lang="pt-BR" sz="1200" dirty="0">
                <a:solidFill>
                  <a:srgbClr val="FFFF00"/>
                </a:solidFill>
              </a:rPr>
              <a:t> </a:t>
            </a:r>
            <a:r>
              <a:rPr lang="pt-BR" sz="1200" err="1">
                <a:solidFill>
                  <a:srgbClr val="FFFF00"/>
                </a:solidFill>
              </a:rPr>
              <a:t>add</a:t>
            </a:r>
            <a:r>
              <a:rPr lang="pt-BR" sz="1200" dirty="0">
                <a:solidFill>
                  <a:srgbClr val="FFFF00"/>
                </a:solidFill>
              </a:rPr>
              <a:t> .</a:t>
            </a:r>
            <a:endParaRPr lang="pt-BR" sz="1200">
              <a:solidFill>
                <a:srgbClr val="FFFF00"/>
              </a:solidFill>
              <a:cs typeface="Segoe UI"/>
            </a:endParaRPr>
          </a:p>
          <a:p>
            <a:r>
              <a:rPr lang="pt-BR" sz="1200" dirty="0">
                <a:solidFill>
                  <a:srgbClr val="FFFF00"/>
                </a:solidFill>
              </a:rPr>
              <a:t>$ </a:t>
            </a:r>
            <a:r>
              <a:rPr lang="pt-BR" sz="1200" err="1">
                <a:solidFill>
                  <a:srgbClr val="FFFF00"/>
                </a:solidFill>
              </a:rPr>
              <a:t>git</a:t>
            </a:r>
            <a:r>
              <a:rPr lang="pt-BR" sz="1200" dirty="0">
                <a:solidFill>
                  <a:srgbClr val="FFFF00"/>
                </a:solidFill>
              </a:rPr>
              <a:t> </a:t>
            </a:r>
            <a:r>
              <a:rPr lang="pt-BR" sz="1200" err="1">
                <a:solidFill>
                  <a:srgbClr val="FFFF00"/>
                </a:solidFill>
              </a:rPr>
              <a:t>commit</a:t>
            </a:r>
            <a:r>
              <a:rPr lang="pt-BR" sz="1200" dirty="0">
                <a:solidFill>
                  <a:srgbClr val="FFFF00"/>
                </a:solidFill>
              </a:rPr>
              <a:t> -m "Adiciona HTML do formulário de contato"</a:t>
            </a:r>
            <a:endParaRPr lang="pt-BR" sz="1200">
              <a:solidFill>
                <a:srgbClr val="FFFF00"/>
              </a:solidFill>
              <a:cs typeface="Segoe UI"/>
            </a:endParaRPr>
          </a:p>
          <a:p>
            <a:r>
              <a:rPr lang="pt-BR" sz="1200" dirty="0">
                <a:solidFill>
                  <a:srgbClr val="FFFF00"/>
                </a:solidFill>
              </a:rPr>
              <a:t>$ </a:t>
            </a:r>
            <a:r>
              <a:rPr lang="pt-BR" sz="1200" err="1">
                <a:solidFill>
                  <a:srgbClr val="FFFF00"/>
                </a:solidFill>
              </a:rPr>
              <a:t>git</a:t>
            </a:r>
            <a:r>
              <a:rPr lang="pt-BR" sz="1200" dirty="0">
                <a:solidFill>
                  <a:srgbClr val="FFFF00"/>
                </a:solidFill>
              </a:rPr>
              <a:t> </a:t>
            </a:r>
            <a:r>
              <a:rPr lang="pt-BR" sz="1200" err="1">
                <a:solidFill>
                  <a:srgbClr val="FFFF00"/>
                </a:solidFill>
              </a:rPr>
              <a:t>commit</a:t>
            </a:r>
            <a:r>
              <a:rPr lang="pt-BR" sz="1200" dirty="0">
                <a:solidFill>
                  <a:srgbClr val="FFFF00"/>
                </a:solidFill>
              </a:rPr>
              <a:t> -m "Adiciona validação dos campos do formulário"</a:t>
            </a:r>
            <a:endParaRPr lang="pt-BR" sz="1200" dirty="0">
              <a:solidFill>
                <a:srgbClr val="FFFF00"/>
              </a:solidFill>
              <a:cs typeface="Segoe UI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79E2EEC-C8D4-E13B-A5EB-55273E758A2F}"/>
              </a:ext>
            </a:extLst>
          </p:cNvPr>
          <p:cNvSpPr/>
          <p:nvPr/>
        </p:nvSpPr>
        <p:spPr>
          <a:xfrm>
            <a:off x="5939689" y="4446747"/>
            <a:ext cx="5509232" cy="6178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600" dirty="0">
                <a:solidFill>
                  <a:srgbClr val="FFFF00"/>
                </a:solidFill>
              </a:rPr>
              <a:t>$ </a:t>
            </a:r>
            <a:r>
              <a:rPr lang="pt-BR" sz="1600" dirty="0" err="1">
                <a:solidFill>
                  <a:srgbClr val="FFFF00"/>
                </a:solidFill>
              </a:rPr>
              <a:t>git</a:t>
            </a:r>
            <a:r>
              <a:rPr lang="pt-BR" sz="1600" dirty="0">
                <a:solidFill>
                  <a:srgbClr val="FFFF00"/>
                </a:solidFill>
              </a:rPr>
              <a:t> checkout </a:t>
            </a:r>
            <a:r>
              <a:rPr lang="pt-BR" sz="1600" dirty="0" err="1">
                <a:solidFill>
                  <a:srgbClr val="FFFF00"/>
                </a:solidFill>
              </a:rPr>
              <a:t>main</a:t>
            </a:r>
            <a:endParaRPr lang="pt-BR" sz="1600" dirty="0">
              <a:solidFill>
                <a:srgbClr val="FFFF00"/>
              </a:solidFill>
              <a:cs typeface="Segoe UI"/>
            </a:endParaRPr>
          </a:p>
          <a:p>
            <a:r>
              <a:rPr lang="pt-BR" sz="1600" dirty="0">
                <a:solidFill>
                  <a:srgbClr val="FFFF00"/>
                </a:solidFill>
              </a:rPr>
              <a:t>$ </a:t>
            </a:r>
            <a:r>
              <a:rPr lang="pt-BR" sz="1600" err="1">
                <a:solidFill>
                  <a:srgbClr val="FFFF00"/>
                </a:solidFill>
              </a:rPr>
              <a:t>git</a:t>
            </a:r>
            <a:r>
              <a:rPr lang="pt-BR" sz="1600" dirty="0">
                <a:solidFill>
                  <a:srgbClr val="FFFF00"/>
                </a:solidFill>
              </a:rPr>
              <a:t> merge feature/</a:t>
            </a:r>
            <a:r>
              <a:rPr lang="pt-BR" sz="1600" err="1">
                <a:solidFill>
                  <a:srgbClr val="FFFF00"/>
                </a:solidFill>
              </a:rPr>
              <a:t>formulario</a:t>
            </a:r>
            <a:r>
              <a:rPr lang="pt-BR" sz="1600" dirty="0">
                <a:solidFill>
                  <a:srgbClr val="FFFF00"/>
                </a:solidFill>
              </a:rPr>
              <a:t>-de-contato</a:t>
            </a:r>
            <a:endParaRPr lang="pt-BR" sz="1600" dirty="0">
              <a:solidFill>
                <a:srgbClr val="FFFF00"/>
              </a:solidFill>
              <a:cs typeface="Segoe UI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1F21B05-BDAE-1E2A-4ABE-A986610F18BE}"/>
              </a:ext>
            </a:extLst>
          </p:cNvPr>
          <p:cNvSpPr/>
          <p:nvPr/>
        </p:nvSpPr>
        <p:spPr>
          <a:xfrm>
            <a:off x="5939689" y="5782032"/>
            <a:ext cx="5509232" cy="6178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600" dirty="0">
                <a:solidFill>
                  <a:srgbClr val="FFFF00"/>
                </a:solidFill>
              </a:rPr>
              <a:t>$ </a:t>
            </a:r>
            <a:r>
              <a:rPr lang="pt-BR" sz="1600" err="1">
                <a:solidFill>
                  <a:srgbClr val="FFFF00"/>
                </a:solidFill>
              </a:rPr>
              <a:t>git</a:t>
            </a:r>
            <a:r>
              <a:rPr lang="pt-BR" sz="1600" dirty="0">
                <a:solidFill>
                  <a:srgbClr val="FFFF00"/>
                </a:solidFill>
              </a:rPr>
              <a:t> </a:t>
            </a:r>
            <a:r>
              <a:rPr lang="pt-BR" sz="1600" err="1">
                <a:solidFill>
                  <a:srgbClr val="FFFF00"/>
                </a:solidFill>
              </a:rPr>
              <a:t>branch</a:t>
            </a:r>
            <a:r>
              <a:rPr lang="pt-BR" sz="1600" dirty="0">
                <a:solidFill>
                  <a:srgbClr val="FFFF00"/>
                </a:solidFill>
              </a:rPr>
              <a:t> -d feature/</a:t>
            </a:r>
            <a:r>
              <a:rPr lang="pt-BR" sz="1600" err="1">
                <a:solidFill>
                  <a:srgbClr val="FFFF00"/>
                </a:solidFill>
              </a:rPr>
              <a:t>formulario</a:t>
            </a:r>
            <a:r>
              <a:rPr lang="pt-BR" sz="1600" dirty="0">
                <a:solidFill>
                  <a:srgbClr val="FFFF00"/>
                </a:solidFill>
              </a:rPr>
              <a:t>-de-contato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7B031A5-45EB-3B41-DE6F-A9E81F1EED29}"/>
              </a:ext>
            </a:extLst>
          </p:cNvPr>
          <p:cNvSpPr/>
          <p:nvPr/>
        </p:nvSpPr>
        <p:spPr>
          <a:xfrm>
            <a:off x="5939689" y="3276384"/>
            <a:ext cx="5509232" cy="35293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600" dirty="0">
                <a:solidFill>
                  <a:srgbClr val="FFFF00"/>
                </a:solidFill>
              </a:rPr>
              <a:t>$ </a:t>
            </a:r>
            <a:r>
              <a:rPr lang="pt-BR" sz="1600" err="1">
                <a:solidFill>
                  <a:srgbClr val="FFFF00"/>
                </a:solidFill>
              </a:rPr>
              <a:t>git</a:t>
            </a:r>
            <a:r>
              <a:rPr lang="pt-BR" sz="1600" dirty="0">
                <a:solidFill>
                  <a:srgbClr val="FFFF00"/>
                </a:solidFill>
              </a:rPr>
              <a:t> </a:t>
            </a:r>
            <a:r>
              <a:rPr lang="pt-BR" sz="1600" err="1">
                <a:solidFill>
                  <a:srgbClr val="FFFF00"/>
                </a:solidFill>
              </a:rPr>
              <a:t>push</a:t>
            </a:r>
            <a:r>
              <a:rPr lang="pt-BR" sz="1600" dirty="0">
                <a:solidFill>
                  <a:srgbClr val="FFFF00"/>
                </a:solidFill>
              </a:rPr>
              <a:t> </a:t>
            </a:r>
            <a:r>
              <a:rPr lang="pt-BR" sz="1600" err="1">
                <a:solidFill>
                  <a:srgbClr val="FFFF00"/>
                </a:solidFill>
              </a:rPr>
              <a:t>origin</a:t>
            </a:r>
            <a:r>
              <a:rPr lang="pt-BR" sz="1600" dirty="0">
                <a:solidFill>
                  <a:srgbClr val="FFFF00"/>
                </a:solidFill>
              </a:rPr>
              <a:t> feature/</a:t>
            </a:r>
            <a:r>
              <a:rPr lang="pt-BR" sz="1600" err="1">
                <a:solidFill>
                  <a:srgbClr val="FFFF00"/>
                </a:solidFill>
              </a:rPr>
              <a:t>formulario</a:t>
            </a:r>
            <a:r>
              <a:rPr lang="pt-BR" sz="1600" dirty="0">
                <a:solidFill>
                  <a:srgbClr val="FFFF00"/>
                </a:solidFill>
              </a:rPr>
              <a:t>-de-contato</a:t>
            </a:r>
          </a:p>
        </p:txBody>
      </p:sp>
    </p:spTree>
    <p:extLst>
      <p:ext uri="{BB962C8B-B14F-4D97-AF65-F5344CB8AC3E}">
        <p14:creationId xmlns:p14="http://schemas.microsoft.com/office/powerpoint/2010/main" val="2619297206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42CD1-3C2A-9BFA-B7CE-56C298DA6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354B480C-E9E2-E019-98F5-00F339F72172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6F3ED4E-1A05-A37C-0EFD-8CEAEB7CCC1B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  <a:cs typeface="Segoe UI"/>
              </a:rPr>
              <a:t>Exemplo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089F6E1-E894-7EB0-2B26-F7759693200D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>
                <a:solidFill>
                  <a:schemeClr val="accent5"/>
                </a:solidFill>
              </a:rPr>
              <a:t>Fluxo completo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DFBBABC-37A1-38DF-2F35-8CE4579AB481}"/>
              </a:ext>
            </a:extLst>
          </p:cNvPr>
          <p:cNvSpPr txBox="1"/>
          <p:nvPr/>
        </p:nvSpPr>
        <p:spPr>
          <a:xfrm>
            <a:off x="450847" y="1484154"/>
            <a:ext cx="11334942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5"/>
                </a:solidFill>
              </a:rPr>
              <a:t>Conflitos de merge</a:t>
            </a:r>
          </a:p>
          <a:p>
            <a:endParaRPr lang="pt-BR" b="1" dirty="0">
              <a:solidFill>
                <a:schemeClr val="accent5"/>
              </a:solidFill>
            </a:endParaRPr>
          </a:p>
          <a:p>
            <a:r>
              <a:rPr lang="pt-BR" dirty="0">
                <a:solidFill>
                  <a:schemeClr val="accent5"/>
                </a:solidFill>
              </a:rPr>
              <a:t>Um conflito de merge acontece quando duas </a:t>
            </a:r>
            <a:r>
              <a:rPr lang="pt-BR" dirty="0" err="1">
                <a:solidFill>
                  <a:schemeClr val="accent5"/>
                </a:solidFill>
              </a:rPr>
              <a:t>branches</a:t>
            </a:r>
            <a:r>
              <a:rPr lang="pt-BR" dirty="0">
                <a:solidFill>
                  <a:schemeClr val="accent5"/>
                </a:solidFill>
              </a:rPr>
              <a:t> modificaram a mesma linha do mesmo arquivo. </a:t>
            </a:r>
          </a:p>
          <a:p>
            <a:r>
              <a:rPr lang="pt-BR" dirty="0">
                <a:solidFill>
                  <a:schemeClr val="accent5"/>
                </a:solidFill>
              </a:rPr>
              <a:t>O </a:t>
            </a:r>
            <a:r>
              <a:rPr lang="pt-BR" dirty="0" err="1">
                <a:solidFill>
                  <a:schemeClr val="accent5"/>
                </a:solidFill>
              </a:rPr>
              <a:t>Git</a:t>
            </a:r>
            <a:r>
              <a:rPr lang="pt-BR" dirty="0">
                <a:solidFill>
                  <a:schemeClr val="accent5"/>
                </a:solidFill>
              </a:rPr>
              <a:t> não sabe qual versão manter e pede que você resolva manualmente. </a:t>
            </a:r>
          </a:p>
          <a:p>
            <a:r>
              <a:rPr lang="pt-BR" dirty="0">
                <a:solidFill>
                  <a:schemeClr val="accent5"/>
                </a:solidFill>
              </a:rPr>
              <a:t>Isso é normal e acontece com frequência no trabalho em equipe.</a:t>
            </a:r>
          </a:p>
          <a:p>
            <a:r>
              <a:rPr lang="pt-BR" dirty="0">
                <a:solidFill>
                  <a:schemeClr val="accent5"/>
                </a:solidFill>
              </a:rPr>
              <a:t> </a:t>
            </a:r>
          </a:p>
          <a:p>
            <a:r>
              <a:rPr lang="pt-BR" dirty="0">
                <a:solidFill>
                  <a:schemeClr val="accent5"/>
                </a:solidFill>
              </a:rPr>
              <a:t>Quando há um conflito, o </a:t>
            </a:r>
            <a:r>
              <a:rPr lang="pt-BR" dirty="0" err="1">
                <a:solidFill>
                  <a:schemeClr val="accent5"/>
                </a:solidFill>
              </a:rPr>
              <a:t>Git</a:t>
            </a:r>
            <a:r>
              <a:rPr lang="pt-BR" dirty="0">
                <a:solidFill>
                  <a:schemeClr val="accent5"/>
                </a:solidFill>
              </a:rPr>
              <a:t> modifica o arquivo e marca as regiões conflitantes assim:</a:t>
            </a:r>
          </a:p>
          <a:p>
            <a:r>
              <a:rPr lang="pt-BR" dirty="0">
                <a:solidFill>
                  <a:schemeClr val="accent5"/>
                </a:solidFill>
              </a:rPr>
              <a:t> </a:t>
            </a:r>
          </a:p>
          <a:p>
            <a:endParaRPr lang="pt-BR" dirty="0">
              <a:solidFill>
                <a:schemeClr val="accent5"/>
              </a:solidFill>
            </a:endParaRPr>
          </a:p>
          <a:p>
            <a:endParaRPr lang="pt-BR" dirty="0">
              <a:solidFill>
                <a:schemeClr val="accent5"/>
              </a:solidFill>
            </a:endParaRPr>
          </a:p>
          <a:p>
            <a:endParaRPr lang="pt-BR" dirty="0">
              <a:solidFill>
                <a:schemeClr val="accent5"/>
              </a:solidFill>
            </a:endParaRPr>
          </a:p>
          <a:p>
            <a:endParaRPr lang="pt-BR" dirty="0">
              <a:solidFill>
                <a:schemeClr val="accent5"/>
              </a:solidFill>
            </a:endParaRPr>
          </a:p>
          <a:p>
            <a:endParaRPr lang="pt-BR" dirty="0">
              <a:solidFill>
                <a:schemeClr val="accent5"/>
              </a:solidFill>
            </a:endParaRPr>
          </a:p>
          <a:p>
            <a:endParaRPr lang="pt-BR" dirty="0">
              <a:solidFill>
                <a:schemeClr val="accent5"/>
              </a:solidFill>
            </a:endParaRPr>
          </a:p>
          <a:p>
            <a:endParaRPr lang="pt-BR" dirty="0">
              <a:solidFill>
                <a:schemeClr val="accent5"/>
              </a:solidFill>
            </a:endParaRPr>
          </a:p>
          <a:p>
            <a:endParaRPr lang="pt-BR" dirty="0">
              <a:solidFill>
                <a:schemeClr val="accent5"/>
              </a:solidFill>
            </a:endParaRPr>
          </a:p>
          <a:p>
            <a:r>
              <a:rPr lang="pt-BR" b="1" dirty="0">
                <a:solidFill>
                  <a:srgbClr val="C00000"/>
                </a:solidFill>
              </a:rPr>
              <a:t>Para resolver o conflito, você deve editar o arquivo manualmente e escolher qual versão manter </a:t>
            </a:r>
          </a:p>
          <a:p>
            <a:r>
              <a:rPr lang="pt-BR" b="1" dirty="0">
                <a:solidFill>
                  <a:srgbClr val="C00000"/>
                </a:solidFill>
              </a:rPr>
              <a:t>(ou combinar as duas). Depois, remova as marcações do </a:t>
            </a:r>
            <a:r>
              <a:rPr lang="pt-BR" b="1" dirty="0" err="1">
                <a:solidFill>
                  <a:srgbClr val="C00000"/>
                </a:solidFill>
              </a:rPr>
              <a:t>Git</a:t>
            </a:r>
            <a:r>
              <a:rPr lang="pt-BR" b="1" dirty="0">
                <a:solidFill>
                  <a:srgbClr val="C00000"/>
                </a:solidFill>
              </a:rPr>
              <a:t>, salve o arquivo, faça </a:t>
            </a:r>
            <a:r>
              <a:rPr lang="pt-BR" b="1" dirty="0" err="1">
                <a:solidFill>
                  <a:srgbClr val="C00000"/>
                </a:solidFill>
              </a:rPr>
              <a:t>git</a:t>
            </a:r>
            <a:r>
              <a:rPr lang="pt-BR" b="1" dirty="0">
                <a:solidFill>
                  <a:srgbClr val="C00000"/>
                </a:solidFill>
              </a:rPr>
              <a:t> </a:t>
            </a:r>
            <a:r>
              <a:rPr lang="pt-BR" b="1" dirty="0" err="1">
                <a:solidFill>
                  <a:srgbClr val="C00000"/>
                </a:solidFill>
              </a:rPr>
              <a:t>add</a:t>
            </a:r>
            <a:r>
              <a:rPr lang="pt-BR" b="1" dirty="0">
                <a:solidFill>
                  <a:srgbClr val="C00000"/>
                </a:solidFill>
              </a:rPr>
              <a:t> e um novo </a:t>
            </a:r>
            <a:r>
              <a:rPr lang="pt-BR" b="1" dirty="0" err="1">
                <a:solidFill>
                  <a:srgbClr val="C00000"/>
                </a:solidFill>
              </a:rPr>
              <a:t>commit</a:t>
            </a:r>
            <a:r>
              <a:rPr lang="pt-BR" b="1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2B966FF-E56A-DE0C-BBFF-C9BD32573D77}"/>
              </a:ext>
            </a:extLst>
          </p:cNvPr>
          <p:cNvSpPr/>
          <p:nvPr/>
        </p:nvSpPr>
        <p:spPr>
          <a:xfrm>
            <a:off x="549586" y="3683211"/>
            <a:ext cx="5005717" cy="210484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200" dirty="0">
                <a:solidFill>
                  <a:srgbClr val="FFFF00"/>
                </a:solidFill>
              </a:rPr>
              <a:t>&lt;&lt;&lt;&lt;&lt;&lt;&lt; HEAD</a:t>
            </a:r>
            <a:endParaRPr lang="pt-BR" sz="1200" dirty="0">
              <a:solidFill>
                <a:srgbClr val="FFFF00"/>
              </a:solidFill>
              <a:cs typeface="Segoe UI"/>
            </a:endParaRPr>
          </a:p>
          <a:p>
            <a:r>
              <a:rPr lang="pt-BR" sz="1200" dirty="0">
                <a:solidFill>
                  <a:srgbClr val="FFFF00"/>
                </a:solidFill>
              </a:rPr>
              <a:t>// Esta é a versão da sua </a:t>
            </a:r>
            <a:r>
              <a:rPr lang="pt-BR" sz="1200" dirty="0" err="1">
                <a:solidFill>
                  <a:srgbClr val="FFFF00"/>
                </a:solidFill>
              </a:rPr>
              <a:t>branch</a:t>
            </a:r>
            <a:r>
              <a:rPr lang="pt-BR" sz="1200" dirty="0">
                <a:solidFill>
                  <a:srgbClr val="FFFF00"/>
                </a:solidFill>
              </a:rPr>
              <a:t> atual (</a:t>
            </a:r>
            <a:r>
              <a:rPr lang="pt-BR" sz="1200" dirty="0" err="1">
                <a:solidFill>
                  <a:srgbClr val="FFFF00"/>
                </a:solidFill>
              </a:rPr>
              <a:t>main</a:t>
            </a:r>
            <a:r>
              <a:rPr lang="pt-BR" sz="1200" dirty="0">
                <a:solidFill>
                  <a:srgbClr val="FFFF00"/>
                </a:solidFill>
              </a:rPr>
              <a:t>)</a:t>
            </a:r>
            <a:endParaRPr lang="pt-BR" sz="1200" dirty="0">
              <a:solidFill>
                <a:srgbClr val="FFFF00"/>
              </a:solidFill>
              <a:cs typeface="Segoe UI"/>
            </a:endParaRPr>
          </a:p>
          <a:p>
            <a:r>
              <a:rPr lang="pt-BR" sz="1200" dirty="0" err="1">
                <a:solidFill>
                  <a:srgbClr val="FFFF00"/>
                </a:solidFill>
              </a:rPr>
              <a:t>const</a:t>
            </a:r>
            <a:r>
              <a:rPr lang="pt-BR" sz="1200" dirty="0">
                <a:solidFill>
                  <a:srgbClr val="FFFF00"/>
                </a:solidFill>
              </a:rPr>
              <a:t> porta = 3000;</a:t>
            </a:r>
            <a:endParaRPr lang="pt-BR" sz="1200" dirty="0">
              <a:solidFill>
                <a:srgbClr val="FFFF00"/>
              </a:solidFill>
              <a:cs typeface="Segoe UI"/>
            </a:endParaRPr>
          </a:p>
          <a:p>
            <a:r>
              <a:rPr lang="pt-BR" sz="1200" dirty="0">
                <a:solidFill>
                  <a:srgbClr val="FFFF00"/>
                </a:solidFill>
              </a:rPr>
              <a:t>=======</a:t>
            </a:r>
            <a:endParaRPr lang="pt-BR" sz="1200" dirty="0">
              <a:solidFill>
                <a:srgbClr val="FFFF00"/>
              </a:solidFill>
              <a:cs typeface="Segoe UI"/>
            </a:endParaRPr>
          </a:p>
          <a:p>
            <a:endParaRPr lang="pt-BR" sz="1200" dirty="0">
              <a:solidFill>
                <a:srgbClr val="FFFF00"/>
              </a:solidFill>
              <a:cs typeface="Segoe UI"/>
            </a:endParaRPr>
          </a:p>
          <a:p>
            <a:endParaRPr lang="pt-BR" sz="1200" dirty="0">
              <a:solidFill>
                <a:srgbClr val="FFFF00"/>
              </a:solidFill>
              <a:cs typeface="Segoe UI"/>
            </a:endParaRPr>
          </a:p>
          <a:p>
            <a:r>
              <a:rPr lang="pt-BR" sz="1200" dirty="0">
                <a:solidFill>
                  <a:srgbClr val="FFFF00"/>
                </a:solidFill>
              </a:rPr>
              <a:t>// Esta é a versão da </a:t>
            </a:r>
            <a:r>
              <a:rPr lang="pt-BR" sz="1200" dirty="0" err="1">
                <a:solidFill>
                  <a:srgbClr val="FFFF00"/>
                </a:solidFill>
              </a:rPr>
              <a:t>branch</a:t>
            </a:r>
            <a:r>
              <a:rPr lang="pt-BR" sz="1200" dirty="0">
                <a:solidFill>
                  <a:srgbClr val="FFFF00"/>
                </a:solidFill>
              </a:rPr>
              <a:t> que você está mesclando</a:t>
            </a:r>
            <a:endParaRPr lang="pt-BR" sz="1200" dirty="0">
              <a:solidFill>
                <a:srgbClr val="FFFF00"/>
              </a:solidFill>
              <a:cs typeface="Segoe UI"/>
            </a:endParaRPr>
          </a:p>
          <a:p>
            <a:r>
              <a:rPr lang="pt-BR" sz="1200" dirty="0" err="1">
                <a:solidFill>
                  <a:srgbClr val="FFFF00"/>
                </a:solidFill>
              </a:rPr>
              <a:t>const</a:t>
            </a:r>
            <a:r>
              <a:rPr lang="pt-BR" sz="1200" dirty="0">
                <a:solidFill>
                  <a:srgbClr val="FFFF00"/>
                </a:solidFill>
              </a:rPr>
              <a:t> porta = 8080;</a:t>
            </a:r>
            <a:endParaRPr lang="pt-BR" sz="1200" dirty="0">
              <a:solidFill>
                <a:srgbClr val="FFFF00"/>
              </a:solidFill>
              <a:cs typeface="Segoe UI"/>
            </a:endParaRPr>
          </a:p>
          <a:p>
            <a:r>
              <a:rPr lang="pt-BR" sz="1200" dirty="0">
                <a:solidFill>
                  <a:srgbClr val="FFFF00"/>
                </a:solidFill>
              </a:rPr>
              <a:t>&gt;&gt;&gt;&gt;&gt;&gt;&gt; feature/</a:t>
            </a:r>
            <a:r>
              <a:rPr lang="pt-BR" sz="1200" dirty="0" err="1">
                <a:solidFill>
                  <a:srgbClr val="FFFF00"/>
                </a:solidFill>
              </a:rPr>
              <a:t>configuracao</a:t>
            </a:r>
            <a:r>
              <a:rPr lang="pt-BR" sz="1200" dirty="0">
                <a:solidFill>
                  <a:srgbClr val="FFFF00"/>
                </a:solidFill>
              </a:rPr>
              <a:t>-porta</a:t>
            </a:r>
            <a:endParaRPr lang="pt-BR" sz="1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684256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085BE-DA82-F682-4132-31AA622CD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891E2F47-D314-7F1C-F918-9BC8FF20D9F6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9470120-9183-A706-66CA-B769DABAF09E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  <a:cs typeface="Segoe UI"/>
              </a:rPr>
              <a:t>Desfazer mudanças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C2F1B0D-E83A-F52B-0A60-8D5C5E4BD96C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 err="1">
                <a:solidFill>
                  <a:schemeClr val="accent5"/>
                </a:solidFill>
              </a:rPr>
              <a:t>Git</a:t>
            </a:r>
            <a:r>
              <a:rPr lang="pt-BR" sz="3200" b="1" dirty="0">
                <a:solidFill>
                  <a:schemeClr val="accent5"/>
                </a:solidFill>
              </a:rPr>
              <a:t> </a:t>
            </a:r>
            <a:r>
              <a:rPr lang="pt-BR" sz="3200" b="1" dirty="0" err="1">
                <a:solidFill>
                  <a:schemeClr val="accent5"/>
                </a:solidFill>
              </a:rPr>
              <a:t>restore</a:t>
            </a:r>
            <a:r>
              <a:rPr lang="pt-BR" sz="3200" b="1" dirty="0">
                <a:solidFill>
                  <a:schemeClr val="accent5"/>
                </a:solidFill>
              </a:rPr>
              <a:t> e </a:t>
            </a:r>
            <a:r>
              <a:rPr lang="pt-BR" sz="3200" b="1" dirty="0" err="1">
                <a:solidFill>
                  <a:schemeClr val="accent5"/>
                </a:solidFill>
              </a:rPr>
              <a:t>revert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BD824EB2-A4CE-50C8-8382-56E152D7C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368077"/>
              </p:ext>
            </p:extLst>
          </p:nvPr>
        </p:nvGraphicFramePr>
        <p:xfrm>
          <a:off x="450847" y="1725105"/>
          <a:ext cx="11285523" cy="4794219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2348914">
                  <a:extLst>
                    <a:ext uri="{9D8B030D-6E8A-4147-A177-3AD203B41FA5}">
                      <a16:colId xmlns:a16="http://schemas.microsoft.com/office/drawing/2014/main" val="3082798849"/>
                    </a:ext>
                  </a:extLst>
                </a:gridCol>
                <a:gridCol w="8936609">
                  <a:extLst>
                    <a:ext uri="{9D8B030D-6E8A-4147-A177-3AD203B41FA5}">
                      <a16:colId xmlns:a16="http://schemas.microsoft.com/office/drawing/2014/main" val="3290592082"/>
                    </a:ext>
                  </a:extLst>
                </a:gridCol>
              </a:tblGrid>
              <a:tr h="2447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effectLst/>
                        </a:rPr>
                        <a:t>Comando</a:t>
                      </a:r>
                      <a:endParaRPr lang="pt-BR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7341" marB="2734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effectLst/>
                        </a:rPr>
                        <a:t>O que faz</a:t>
                      </a:r>
                      <a:endParaRPr lang="pt-BR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3745" marR="43745" marT="27341" marB="27341"/>
                </a:tc>
                <a:extLst>
                  <a:ext uri="{0D108BD9-81ED-4DB2-BD59-A6C34878D82A}">
                    <a16:rowId xmlns:a16="http://schemas.microsoft.com/office/drawing/2014/main" val="3868508300"/>
                  </a:ext>
                </a:extLst>
              </a:tr>
              <a:tr h="232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solidFill>
                            <a:schemeClr val="accent5"/>
                          </a:solidFill>
                          <a:effectLst/>
                          <a:latin typeface="+mn-lt"/>
                          <a:ea typeface="Courier New" panose="02070309020205020404" pitchFamily="49" charset="0"/>
                        </a:rPr>
                        <a:t>git branch</a:t>
                      </a:r>
                      <a:endParaRPr lang="pt-BR" sz="1400">
                        <a:solidFill>
                          <a:schemeClr val="accent5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Lista todas as branches. A branch atual aparece marcada com *</a:t>
                      </a:r>
                      <a:endParaRPr lang="pt-BR" sz="140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764340635"/>
                  </a:ext>
                </a:extLst>
              </a:tr>
              <a:tr h="4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solidFill>
                            <a:schemeClr val="accent5"/>
                          </a:solidFill>
                          <a:effectLst/>
                          <a:latin typeface="+mn-lt"/>
                          <a:ea typeface="Courier New" panose="02070309020205020404" pitchFamily="49" charset="0"/>
                        </a:rPr>
                        <a:t>git branch &lt;nome&gt;</a:t>
                      </a:r>
                      <a:endParaRPr lang="pt-BR" sz="1400">
                        <a:solidFill>
                          <a:schemeClr val="accent5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Cria uma nova branch a partir da branch atual</a:t>
                      </a:r>
                      <a:endParaRPr lang="pt-BR" sz="140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32345946"/>
                  </a:ext>
                </a:extLst>
              </a:tr>
              <a:tr h="232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solidFill>
                            <a:schemeClr val="accent5"/>
                          </a:solidFill>
                          <a:effectLst/>
                          <a:latin typeface="+mn-lt"/>
                          <a:ea typeface="Courier New" panose="02070309020205020404" pitchFamily="49" charset="0"/>
                        </a:rPr>
                        <a:t>git checkout &lt;branch&gt;</a:t>
                      </a:r>
                      <a:endParaRPr lang="pt-BR" sz="1400">
                        <a:solidFill>
                          <a:schemeClr val="accent5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Muda para a branch informada</a:t>
                      </a:r>
                      <a:endParaRPr lang="pt-BR" sz="140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3844230"/>
                  </a:ext>
                </a:extLst>
              </a:tr>
              <a:tr h="232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solidFill>
                            <a:schemeClr val="accent5"/>
                          </a:solidFill>
                          <a:effectLst/>
                          <a:latin typeface="+mn-lt"/>
                          <a:ea typeface="Courier New" panose="02070309020205020404" pitchFamily="49" charset="0"/>
                        </a:rPr>
                        <a:t>git checkout -b &lt;nome&gt;</a:t>
                      </a:r>
                      <a:endParaRPr lang="pt-BR" sz="1400">
                        <a:solidFill>
                          <a:schemeClr val="accent5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Atalho: cria uma nova branch e já muda para ela</a:t>
                      </a:r>
                      <a:endParaRPr lang="pt-BR" sz="140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513847676"/>
                  </a:ext>
                </a:extLst>
              </a:tr>
              <a:tr h="4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solidFill>
                            <a:schemeClr val="accent5"/>
                          </a:solidFill>
                          <a:effectLst/>
                          <a:latin typeface="+mn-lt"/>
                          <a:ea typeface="Courier New" panose="02070309020205020404" pitchFamily="49" charset="0"/>
                        </a:rPr>
                        <a:t>git merge &lt;branch&gt;</a:t>
                      </a:r>
                      <a:endParaRPr lang="pt-BR" sz="1400">
                        <a:solidFill>
                          <a:schemeClr val="accent5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Integra as mudanças da branch informada na branch atual</a:t>
                      </a:r>
                      <a:endParaRPr lang="pt-BR" sz="140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623572962"/>
                  </a:ext>
                </a:extLst>
              </a:tr>
              <a:tr h="211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solidFill>
                            <a:schemeClr val="accent5"/>
                          </a:solidFill>
                          <a:effectLst/>
                          <a:latin typeface="+mn-lt"/>
                          <a:ea typeface="Courier New" panose="02070309020205020404" pitchFamily="49" charset="0"/>
                        </a:rPr>
                        <a:t>git branch -d &lt;nome&gt;</a:t>
                      </a:r>
                      <a:endParaRPr lang="pt-BR" sz="1400">
                        <a:solidFill>
                          <a:schemeClr val="accent5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Deleta uma branch que já foi integrada (merge feito)</a:t>
                      </a:r>
                      <a:endParaRPr lang="pt-BR" sz="140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4246389240"/>
                  </a:ext>
                </a:extLst>
              </a:tr>
              <a:tr h="4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solidFill>
                            <a:schemeClr val="accent5"/>
                          </a:solidFill>
                          <a:effectLst/>
                          <a:latin typeface="+mn-lt"/>
                          <a:ea typeface="Courier New" panose="02070309020205020404" pitchFamily="49" charset="0"/>
                        </a:rPr>
                        <a:t>git push origin &lt;branch&gt;</a:t>
                      </a:r>
                      <a:endParaRPr lang="pt-BR" sz="1400">
                        <a:solidFill>
                          <a:schemeClr val="accent5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Envia a branch para o GitHub</a:t>
                      </a:r>
                      <a:endParaRPr lang="pt-BR" sz="140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4117603179"/>
                  </a:ext>
                </a:extLst>
              </a:tr>
              <a:tr h="4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solidFill>
                            <a:schemeClr val="accent5"/>
                          </a:solidFill>
                          <a:effectLst/>
                          <a:latin typeface="+mn-lt"/>
                          <a:ea typeface="Courier New" panose="02070309020205020404" pitchFamily="49" charset="0"/>
                        </a:rPr>
                        <a:t>git branch</a:t>
                      </a:r>
                      <a:endParaRPr lang="pt-BR" sz="1400">
                        <a:solidFill>
                          <a:schemeClr val="accent5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Lista todas as branches. A branch atual aparece marcada com *</a:t>
                      </a:r>
                      <a:endParaRPr lang="pt-BR" sz="140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960092801"/>
                  </a:ext>
                </a:extLst>
              </a:tr>
              <a:tr h="232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solidFill>
                            <a:schemeClr val="accent5"/>
                          </a:solidFill>
                          <a:effectLst/>
                          <a:latin typeface="+mn-lt"/>
                          <a:ea typeface="Courier New" panose="02070309020205020404" pitchFamily="49" charset="0"/>
                        </a:rPr>
                        <a:t>git branch &lt;nome&gt;</a:t>
                      </a:r>
                      <a:endParaRPr lang="pt-BR" sz="1400">
                        <a:solidFill>
                          <a:schemeClr val="accent5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Cria uma nova branch a partir da branch atual</a:t>
                      </a:r>
                      <a:endParaRPr lang="pt-BR" sz="140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4192231538"/>
                  </a:ext>
                </a:extLst>
              </a:tr>
              <a:tr h="4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solidFill>
                            <a:schemeClr val="accent5"/>
                          </a:solidFill>
                          <a:effectLst/>
                          <a:latin typeface="+mn-lt"/>
                          <a:ea typeface="Courier New" panose="02070309020205020404" pitchFamily="49" charset="0"/>
                        </a:rPr>
                        <a:t>git checkout &lt;branch&gt;</a:t>
                      </a:r>
                      <a:endParaRPr lang="pt-BR" sz="1400">
                        <a:solidFill>
                          <a:schemeClr val="accent5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Muda para a branch informada</a:t>
                      </a:r>
                      <a:endParaRPr lang="pt-BR" sz="140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247992115"/>
                  </a:ext>
                </a:extLst>
              </a:tr>
              <a:tr h="4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solidFill>
                            <a:schemeClr val="accent5"/>
                          </a:solidFill>
                          <a:effectLst/>
                          <a:latin typeface="+mn-lt"/>
                          <a:ea typeface="Courier New" panose="02070309020205020404" pitchFamily="49" charset="0"/>
                        </a:rPr>
                        <a:t>git checkout -b &lt;nome&gt;</a:t>
                      </a:r>
                      <a:endParaRPr lang="pt-BR" sz="1400">
                        <a:solidFill>
                          <a:schemeClr val="accent5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Atalho: cria uma nova branch e já muda para ela</a:t>
                      </a:r>
                      <a:endParaRPr lang="pt-BR" sz="140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4128148166"/>
                  </a:ext>
                </a:extLst>
              </a:tr>
              <a:tr h="4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 dirty="0" err="1">
                          <a:solidFill>
                            <a:schemeClr val="accent5"/>
                          </a:solidFill>
                          <a:effectLst/>
                          <a:latin typeface="+mn-lt"/>
                          <a:ea typeface="Courier New" panose="02070309020205020404" pitchFamily="49" charset="0"/>
                        </a:rPr>
                        <a:t>git</a:t>
                      </a:r>
                      <a:r>
                        <a:rPr lang="pt-BR" sz="1400" b="1" dirty="0">
                          <a:solidFill>
                            <a:schemeClr val="accent5"/>
                          </a:solidFill>
                          <a:effectLst/>
                          <a:latin typeface="+mn-lt"/>
                          <a:ea typeface="Courier New" panose="02070309020205020404" pitchFamily="49" charset="0"/>
                        </a:rPr>
                        <a:t> merge &lt;</a:t>
                      </a:r>
                      <a:r>
                        <a:rPr lang="pt-BR" sz="1400" b="1" dirty="0" err="1">
                          <a:solidFill>
                            <a:schemeClr val="accent5"/>
                          </a:solidFill>
                          <a:effectLst/>
                          <a:latin typeface="+mn-lt"/>
                          <a:ea typeface="Courier New" panose="02070309020205020404" pitchFamily="49" charset="0"/>
                        </a:rPr>
                        <a:t>branch</a:t>
                      </a:r>
                      <a:r>
                        <a:rPr lang="pt-BR" sz="1400" b="1" dirty="0">
                          <a:solidFill>
                            <a:schemeClr val="accent5"/>
                          </a:solidFill>
                          <a:effectLst/>
                          <a:latin typeface="+mn-lt"/>
                          <a:ea typeface="Courier New" panose="02070309020205020404" pitchFamily="49" charset="0"/>
                        </a:rPr>
                        <a:t>&gt;</a:t>
                      </a:r>
                      <a:endParaRPr lang="pt-BR" sz="1400" dirty="0">
                        <a:solidFill>
                          <a:schemeClr val="accent5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Integra as mudanças da </a:t>
                      </a:r>
                      <a:r>
                        <a:rPr lang="pt-BR" sz="14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branch</a:t>
                      </a:r>
                      <a:r>
                        <a:rPr lang="pt-BR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 informada na </a:t>
                      </a:r>
                      <a:r>
                        <a:rPr lang="pt-BR" sz="14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branch</a:t>
                      </a:r>
                      <a:r>
                        <a:rPr lang="pt-BR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 atual</a:t>
                      </a:r>
                      <a:endParaRPr lang="pt-BR" sz="14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17209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6926430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BAC76D-60CF-E77B-1D4D-DACA7D60A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AD585E4-2F6E-4E02-141D-892209CAFDBA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0ADB946-C9B3-3F73-151D-128AA9397D8C}"/>
              </a:ext>
            </a:extLst>
          </p:cNvPr>
          <p:cNvSpPr txBox="1"/>
          <p:nvPr/>
        </p:nvSpPr>
        <p:spPr>
          <a:xfrm>
            <a:off x="450848" y="269680"/>
            <a:ext cx="11873808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latin typeface="Segoe UI"/>
                <a:cs typeface="Segoe UI Semibold"/>
              </a:rPr>
              <a:t>GitHub</a:t>
            </a:r>
            <a:endParaRPr lang="pt-BR" sz="3600" b="1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79D4E63-2AF1-CA9C-6B02-F3212D8010EE}"/>
              </a:ext>
            </a:extLst>
          </p:cNvPr>
          <p:cNvSpPr txBox="1"/>
          <p:nvPr/>
        </p:nvSpPr>
        <p:spPr>
          <a:xfrm>
            <a:off x="424872" y="853848"/>
            <a:ext cx="6160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dirty="0">
                <a:solidFill>
                  <a:schemeClr val="accent4">
                    <a:lumMod val="75000"/>
                  </a:schemeClr>
                </a:solidFill>
                <a:latin typeface="Segoe UI Semibold"/>
                <a:cs typeface="Segoe UI Semibold"/>
              </a:rPr>
              <a:t> </a:t>
            </a:r>
            <a:r>
              <a:rPr lang="pt-BR" sz="2000" dirty="0" err="1">
                <a:solidFill>
                  <a:schemeClr val="accent4">
                    <a:lumMod val="75000"/>
                  </a:schemeClr>
                </a:solidFill>
                <a:latin typeface="Segoe UI Semibold"/>
                <a:cs typeface="Segoe UI Semibold"/>
              </a:rPr>
              <a:t>Traducao</a:t>
            </a:r>
            <a:endParaRPr lang="pt-BR" sz="2000" dirty="0">
              <a:solidFill>
                <a:schemeClr val="accent4">
                  <a:lumMod val="75000"/>
                </a:schemeClr>
              </a:solidFill>
              <a:latin typeface="Segoe UI Semibold"/>
              <a:cs typeface="Segoe UI Semibold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1A79E57-1993-7942-E598-CFD4CFB3F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437" y="1566659"/>
            <a:ext cx="4175125" cy="417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8867685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E549B-22E3-9600-B8CC-1322E76BF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172DF3D8-B597-31E4-0B74-751CB473BC2A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20B180A-938C-EBD1-CC45-72D58E2211F5}"/>
              </a:ext>
            </a:extLst>
          </p:cNvPr>
          <p:cNvSpPr txBox="1"/>
          <p:nvPr/>
        </p:nvSpPr>
        <p:spPr>
          <a:xfrm>
            <a:off x="450848" y="1604130"/>
            <a:ext cx="11349873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5"/>
                </a:solidFill>
              </a:rPr>
              <a:t>GitHub é uma plataforma usada por milhões de desenvolvedores para </a:t>
            </a:r>
            <a:r>
              <a:rPr lang="pt-BR" b="1" dirty="0">
                <a:solidFill>
                  <a:schemeClr val="accent5"/>
                </a:solidFill>
              </a:rPr>
              <a:t>hospedar projetos</a:t>
            </a:r>
            <a:r>
              <a:rPr lang="pt-BR" dirty="0">
                <a:solidFill>
                  <a:schemeClr val="accent5"/>
                </a:solidFill>
              </a:rPr>
              <a:t>, </a:t>
            </a:r>
            <a:r>
              <a:rPr lang="pt-BR" b="1" dirty="0">
                <a:solidFill>
                  <a:schemeClr val="accent5"/>
                </a:solidFill>
              </a:rPr>
              <a:t>colaborar em código</a:t>
            </a:r>
            <a:r>
              <a:rPr lang="pt-BR" dirty="0">
                <a:solidFill>
                  <a:schemeClr val="accent5"/>
                </a:solidFill>
              </a:rPr>
              <a:t> e </a:t>
            </a:r>
            <a:r>
              <a:rPr lang="pt-BR" b="1" dirty="0">
                <a:solidFill>
                  <a:schemeClr val="accent5"/>
                </a:solidFill>
              </a:rPr>
              <a:t>controlar versões</a:t>
            </a:r>
            <a:r>
              <a:rPr lang="pt-BR" dirty="0">
                <a:solidFill>
                  <a:schemeClr val="accent5"/>
                </a:solidFill>
              </a:rPr>
              <a:t> utilizando </a:t>
            </a:r>
            <a:r>
              <a:rPr lang="pt-BR" dirty="0" err="1">
                <a:solidFill>
                  <a:schemeClr val="accent5"/>
                </a:solidFill>
              </a:rPr>
              <a:t>Git</a:t>
            </a:r>
            <a:r>
              <a:rPr lang="pt-BR" dirty="0">
                <a:solidFill>
                  <a:schemeClr val="accent5"/>
                </a:solidFill>
              </a:rPr>
              <a:t>. </a:t>
            </a:r>
          </a:p>
          <a:p>
            <a:endParaRPr lang="pt-BR" dirty="0">
              <a:solidFill>
                <a:schemeClr val="accent5"/>
              </a:solidFill>
            </a:endParaRPr>
          </a:p>
          <a:p>
            <a:r>
              <a:rPr lang="pt-BR" dirty="0">
                <a:solidFill>
                  <a:schemeClr val="accent5"/>
                </a:solidFill>
              </a:rPr>
              <a:t>Ele permite que equipes trabalhem juntas de forma organizada, revisem alterações e mantenham todo o histórico de desenvolvimento em um só lugar. </a:t>
            </a:r>
          </a:p>
          <a:p>
            <a:r>
              <a:rPr lang="pt-BR" dirty="0">
                <a:solidFill>
                  <a:schemeClr val="accent5"/>
                </a:solidFill>
              </a:rPr>
              <a:t>Além disso, o GitHub facilita automações, documentação e integração contínua, tornando o fluxo de desenvolvimento mais profissional e eficiente.</a:t>
            </a:r>
          </a:p>
          <a:p>
            <a:endParaRPr lang="pt-BR" dirty="0">
              <a:solidFill>
                <a:schemeClr val="accent5"/>
              </a:solidFill>
            </a:endParaRPr>
          </a:p>
          <a:p>
            <a:endParaRPr lang="pt-BR" dirty="0">
              <a:solidFill>
                <a:schemeClr val="accent5"/>
              </a:solidFill>
            </a:endParaRPr>
          </a:p>
          <a:p>
            <a:r>
              <a:rPr lang="pt-BR" sz="2000" b="1" dirty="0">
                <a:solidFill>
                  <a:schemeClr val="accent5"/>
                </a:solidFill>
              </a:rPr>
              <a:t>Em resumo ele faz o seguinte: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5"/>
                </a:solidFill>
              </a:rPr>
              <a:t>Repositórios na nuvem: seu código fica acessível de qualquer lugar, em qualquer dispositivo.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5"/>
                </a:solidFill>
              </a:rPr>
              <a:t>Colaboração em equipe: múltiplos desenvolvedores podem contribuir para o mesmo projeto.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chemeClr val="accent5"/>
                </a:solidFill>
              </a:rPr>
              <a:t>Code</a:t>
            </a:r>
            <a:r>
              <a:rPr lang="pt-BR" dirty="0">
                <a:solidFill>
                  <a:schemeClr val="accent5"/>
                </a:solidFill>
              </a:rPr>
              <a:t> Review: antes de integrar código ao projeto principal, outros desenvolvedores revisam e aprovam.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chemeClr val="accent5"/>
                </a:solidFill>
              </a:rPr>
              <a:t>Issues</a:t>
            </a:r>
            <a:r>
              <a:rPr lang="pt-BR" dirty="0">
                <a:solidFill>
                  <a:schemeClr val="accent5"/>
                </a:solidFill>
              </a:rPr>
              <a:t>: sistema de rastreamento de tarefas e bugs.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5"/>
                </a:solidFill>
              </a:rPr>
              <a:t>GitHub </a:t>
            </a:r>
            <a:r>
              <a:rPr lang="pt-BR" dirty="0" err="1">
                <a:solidFill>
                  <a:schemeClr val="accent5"/>
                </a:solidFill>
              </a:rPr>
              <a:t>Actions</a:t>
            </a:r>
            <a:r>
              <a:rPr lang="pt-BR" dirty="0">
                <a:solidFill>
                  <a:schemeClr val="accent5"/>
                </a:solidFill>
              </a:rPr>
              <a:t>: automação de testes e </a:t>
            </a:r>
            <a:r>
              <a:rPr lang="pt-BR" dirty="0" err="1">
                <a:solidFill>
                  <a:schemeClr val="accent5"/>
                </a:solidFill>
              </a:rPr>
              <a:t>deploy</a:t>
            </a:r>
            <a:r>
              <a:rPr lang="pt-BR" dirty="0">
                <a:solidFill>
                  <a:schemeClr val="accent5"/>
                </a:solidFill>
              </a:rPr>
              <a:t> a cada </a:t>
            </a:r>
            <a:r>
              <a:rPr lang="pt-BR" dirty="0" err="1">
                <a:solidFill>
                  <a:schemeClr val="accent5"/>
                </a:solidFill>
              </a:rPr>
              <a:t>commit</a:t>
            </a:r>
            <a:r>
              <a:rPr lang="pt-BR" dirty="0">
                <a:solidFill>
                  <a:schemeClr val="accent5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5"/>
                </a:solidFill>
              </a:rPr>
              <a:t>Portfólio público: recrutadores verificam repositórios GitHub para avaliar candidatos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/>
              </a:solidFill>
            </a:endParaRPr>
          </a:p>
          <a:p>
            <a:r>
              <a:rPr lang="pt-BR" b="1" dirty="0">
                <a:solidFill>
                  <a:srgbClr val="C00000"/>
                </a:solidFill>
              </a:rPr>
              <a:t>Acesse: </a:t>
            </a:r>
            <a:r>
              <a:rPr lang="pt-BR" b="1" dirty="0">
                <a:solidFill>
                  <a:srgbClr val="C00000"/>
                </a:solidFill>
                <a:hlinkClick r:id="rId3"/>
              </a:rPr>
              <a:t>https://github.com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2FE798F-D6C3-1F3A-C5A8-6F01C74154C9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>
                <a:solidFill>
                  <a:schemeClr val="accent5"/>
                </a:solidFill>
              </a:rPr>
              <a:t>Github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120CB08-DE29-5B89-D7AB-9E6A2523B3E8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  <a:cs typeface="Segoe UI"/>
              </a:rPr>
              <a:t>Explicação</a:t>
            </a:r>
          </a:p>
        </p:txBody>
      </p:sp>
    </p:spTree>
    <p:extLst>
      <p:ext uri="{BB962C8B-B14F-4D97-AF65-F5344CB8AC3E}">
        <p14:creationId xmlns:p14="http://schemas.microsoft.com/office/powerpoint/2010/main" val="3856606105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8D7FD-D396-4C9E-5ED2-6B4444146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67CB3E6-C915-40B2-D8F8-93969D3119C1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8243208-B031-DEFA-493A-7CE958508D9E}"/>
              </a:ext>
            </a:extLst>
          </p:cNvPr>
          <p:cNvSpPr txBox="1"/>
          <p:nvPr/>
        </p:nvSpPr>
        <p:spPr>
          <a:xfrm>
            <a:off x="450848" y="1604130"/>
            <a:ext cx="1134987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accent5"/>
                </a:solidFill>
              </a:rPr>
              <a:t>Configurar usuário</a:t>
            </a:r>
          </a:p>
          <a:p>
            <a:r>
              <a:rPr lang="pt-BR" sz="2000" dirty="0">
                <a:solidFill>
                  <a:schemeClr val="accent5"/>
                </a:solidFill>
              </a:rPr>
              <a:t>Para que o </a:t>
            </a:r>
            <a:r>
              <a:rPr lang="pt-BR" sz="2000" dirty="0" err="1">
                <a:solidFill>
                  <a:schemeClr val="accent5"/>
                </a:solidFill>
              </a:rPr>
              <a:t>Git</a:t>
            </a:r>
            <a:r>
              <a:rPr lang="pt-BR" sz="2000" dirty="0">
                <a:solidFill>
                  <a:schemeClr val="accent5"/>
                </a:solidFill>
              </a:rPr>
              <a:t> consiga se comunicar com o GitHub, você precisa </a:t>
            </a:r>
            <a:r>
              <a:rPr lang="pt-BR" sz="2000" b="1" dirty="0">
                <a:solidFill>
                  <a:schemeClr val="accent5"/>
                </a:solidFill>
              </a:rPr>
              <a:t>autenticar sua conta</a:t>
            </a:r>
            <a:r>
              <a:rPr lang="pt-BR" sz="2000" dirty="0">
                <a:solidFill>
                  <a:schemeClr val="accent5"/>
                </a:solidFill>
              </a:rPr>
              <a:t>. </a:t>
            </a:r>
          </a:p>
          <a:p>
            <a:endParaRPr lang="pt-BR" sz="2000" dirty="0">
              <a:solidFill>
                <a:schemeClr val="accent5"/>
              </a:solidFill>
              <a:effectLst/>
            </a:endParaRPr>
          </a:p>
          <a:p>
            <a:endParaRPr lang="pt-BR" sz="2000" dirty="0">
              <a:solidFill>
                <a:schemeClr val="accent5"/>
              </a:solidFill>
            </a:endParaRPr>
          </a:p>
          <a:p>
            <a:pPr marL="342900" indent="-342900">
              <a:buAutoNum type="arabicPeriod"/>
            </a:pPr>
            <a:r>
              <a:rPr lang="pt-BR" sz="2000" dirty="0">
                <a:solidFill>
                  <a:schemeClr val="accent5"/>
                </a:solidFill>
              </a:rPr>
              <a:t>Abrir o terminal</a:t>
            </a:r>
          </a:p>
          <a:p>
            <a:pPr marL="342900" indent="-342900">
              <a:buAutoNum type="arabicPeriod"/>
            </a:pPr>
            <a:r>
              <a:rPr lang="pt-BR" sz="2000" dirty="0">
                <a:solidFill>
                  <a:schemeClr val="accent5"/>
                </a:solidFill>
              </a:rPr>
              <a:t>Configurar o nome de usuário do Github</a:t>
            </a:r>
          </a:p>
          <a:p>
            <a:pPr marL="342900" indent="-342900">
              <a:buAutoNum type="arabicPeriod"/>
            </a:pPr>
            <a:endParaRPr lang="pt-BR" sz="2000" dirty="0">
              <a:solidFill>
                <a:schemeClr val="accent5"/>
              </a:solidFill>
            </a:endParaRPr>
          </a:p>
          <a:p>
            <a:pPr marL="342900" indent="-342900">
              <a:buAutoNum type="arabicPeriod"/>
            </a:pPr>
            <a:endParaRPr lang="pt-BR" sz="2000" dirty="0">
              <a:solidFill>
                <a:schemeClr val="accent5"/>
              </a:solidFill>
            </a:endParaRPr>
          </a:p>
          <a:p>
            <a:pPr marL="342900" indent="-342900">
              <a:buAutoNum type="arabicPeriod"/>
            </a:pPr>
            <a:r>
              <a:rPr lang="pt-BR" sz="2000" dirty="0">
                <a:solidFill>
                  <a:schemeClr val="accent5"/>
                </a:solidFill>
              </a:rPr>
              <a:t>Configurar o e‑mail do Github</a:t>
            </a:r>
          </a:p>
          <a:p>
            <a:pPr marL="342900" indent="-342900">
              <a:buAutoNum type="arabicPeriod"/>
            </a:pPr>
            <a:endParaRPr lang="pt-BR" sz="2000" dirty="0">
              <a:solidFill>
                <a:schemeClr val="accent5"/>
              </a:solidFill>
            </a:endParaRPr>
          </a:p>
          <a:p>
            <a:pPr marL="342900" indent="-342900">
              <a:buAutoNum type="arabicPeriod"/>
            </a:pPr>
            <a:endParaRPr lang="pt-BR" sz="2000" dirty="0">
              <a:solidFill>
                <a:schemeClr val="accent5"/>
              </a:solidFill>
            </a:endParaRPr>
          </a:p>
          <a:p>
            <a:pPr marL="342900" indent="-342900">
              <a:buAutoNum type="arabicPeriod"/>
            </a:pPr>
            <a:r>
              <a:rPr lang="pt-BR" sz="2000" dirty="0">
                <a:solidFill>
                  <a:schemeClr val="accent5"/>
                </a:solidFill>
              </a:rPr>
              <a:t>Confirmar que o “login” foi configurado</a:t>
            </a:r>
            <a:endParaRPr lang="pt-BR" sz="2000" dirty="0">
              <a:solidFill>
                <a:schemeClr val="accent5"/>
              </a:solidFill>
              <a:effectLst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C88FF9F-14D4-2A68-9D09-AA796B6C3E22}"/>
              </a:ext>
            </a:extLst>
          </p:cNvPr>
          <p:cNvSpPr/>
          <p:nvPr/>
        </p:nvSpPr>
        <p:spPr>
          <a:xfrm>
            <a:off x="889227" y="3597558"/>
            <a:ext cx="4691441" cy="3348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400" dirty="0" err="1">
                <a:solidFill>
                  <a:srgbClr val="FFFF00"/>
                </a:solidFill>
              </a:rPr>
              <a:t>git</a:t>
            </a:r>
            <a:r>
              <a:rPr lang="pt-BR" sz="1400" dirty="0">
                <a:solidFill>
                  <a:srgbClr val="FFFF00"/>
                </a:solidFill>
              </a:rPr>
              <a:t> </a:t>
            </a:r>
            <a:r>
              <a:rPr lang="pt-BR" sz="1400" dirty="0" err="1">
                <a:solidFill>
                  <a:srgbClr val="FFFF00"/>
                </a:solidFill>
              </a:rPr>
              <a:t>config</a:t>
            </a:r>
            <a:r>
              <a:rPr lang="pt-BR" sz="1400" dirty="0">
                <a:solidFill>
                  <a:srgbClr val="FFFF00"/>
                </a:solidFill>
              </a:rPr>
              <a:t> --global user.name "Seu Nome"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D513B87-1724-90F2-98A8-0710F40417AA}"/>
              </a:ext>
            </a:extLst>
          </p:cNvPr>
          <p:cNvSpPr/>
          <p:nvPr/>
        </p:nvSpPr>
        <p:spPr>
          <a:xfrm>
            <a:off x="889226" y="4484781"/>
            <a:ext cx="4691441" cy="3348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400" err="1">
                <a:solidFill>
                  <a:srgbClr val="FFFF00"/>
                </a:solidFill>
              </a:rPr>
              <a:t>git</a:t>
            </a:r>
            <a:r>
              <a:rPr lang="pt-BR" sz="1400" dirty="0">
                <a:solidFill>
                  <a:srgbClr val="FFFF00"/>
                </a:solidFill>
              </a:rPr>
              <a:t> </a:t>
            </a:r>
            <a:r>
              <a:rPr lang="pt-BR" sz="1400" err="1">
                <a:solidFill>
                  <a:srgbClr val="FFFF00"/>
                </a:solidFill>
              </a:rPr>
              <a:t>config</a:t>
            </a:r>
            <a:r>
              <a:rPr lang="pt-BR" sz="1400" dirty="0">
                <a:solidFill>
                  <a:srgbClr val="FFFF00"/>
                </a:solidFill>
              </a:rPr>
              <a:t> --global </a:t>
            </a:r>
            <a:r>
              <a:rPr lang="pt-BR" sz="1400" err="1">
                <a:solidFill>
                  <a:srgbClr val="FFFF00"/>
                </a:solidFill>
              </a:rPr>
              <a:t>user.email</a:t>
            </a:r>
            <a:r>
              <a:rPr lang="pt-BR" sz="1400" dirty="0">
                <a:solidFill>
                  <a:srgbClr val="FFFF00"/>
                </a:solidFill>
              </a:rPr>
              <a:t> "seuemail@exemplo.com"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011E5AB-978D-C87D-B8F1-28B38E5D6548}"/>
              </a:ext>
            </a:extLst>
          </p:cNvPr>
          <p:cNvSpPr/>
          <p:nvPr/>
        </p:nvSpPr>
        <p:spPr>
          <a:xfrm>
            <a:off x="889226" y="5362276"/>
            <a:ext cx="4691441" cy="60735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dirty="0">
                <a:solidFill>
                  <a:srgbClr val="FFFF00"/>
                </a:solidFill>
              </a:rPr>
              <a:t>git config --global user.name</a:t>
            </a:r>
            <a:endParaRPr lang="en-US" sz="1400">
              <a:solidFill>
                <a:srgbClr val="FFFF00"/>
              </a:solidFill>
              <a:cs typeface="Segoe UI"/>
            </a:endParaRPr>
          </a:p>
          <a:p>
            <a:r>
              <a:rPr lang="en-US" sz="1400" dirty="0">
                <a:solidFill>
                  <a:srgbClr val="FFFF00"/>
                </a:solidFill>
              </a:rPr>
              <a:t>git config --global </a:t>
            </a:r>
            <a:r>
              <a:rPr lang="en-US" sz="1400" dirty="0" err="1">
                <a:solidFill>
                  <a:srgbClr val="FFFF00"/>
                </a:solidFill>
              </a:rPr>
              <a:t>user.email</a:t>
            </a:r>
            <a:endParaRPr lang="en-US" sz="1400" dirty="0">
              <a:solidFill>
                <a:srgbClr val="FFFF00"/>
              </a:solidFill>
              <a:cs typeface="Segoe UI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24C09F1-CB1D-4D15-83F6-9F3EDBEDFA53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>
                <a:solidFill>
                  <a:schemeClr val="accent5"/>
                </a:solidFill>
              </a:rPr>
              <a:t>Logar </a:t>
            </a:r>
            <a:r>
              <a:rPr lang="pt-BR" sz="3200" b="1" dirty="0" err="1">
                <a:solidFill>
                  <a:schemeClr val="accent5"/>
                </a:solidFill>
              </a:rPr>
              <a:t>Git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8E88501-9A75-E60F-F182-2395265B7284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  <a:cs typeface="Segoe UI"/>
              </a:rPr>
              <a:t>Login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3E762FB-E59A-E0F1-A765-A0D721E33B55}"/>
              </a:ext>
            </a:extLst>
          </p:cNvPr>
          <p:cNvSpPr txBox="1"/>
          <p:nvPr/>
        </p:nvSpPr>
        <p:spPr>
          <a:xfrm>
            <a:off x="5807895" y="2882885"/>
            <a:ext cx="610856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>
                <a:solidFill>
                  <a:schemeClr val="accent5"/>
                </a:solidFill>
                <a:effectLst/>
              </a:rPr>
              <a:t>5. Criar seu Token GitHub</a:t>
            </a:r>
            <a:r>
              <a:rPr lang="pt-BR" dirty="0">
                <a:solidFill>
                  <a:schemeClr val="accent5"/>
                </a:solidFill>
              </a:rPr>
              <a:t>/</a:t>
            </a:r>
            <a:r>
              <a:rPr lang="pt-BR" dirty="0">
                <a:solidFill>
                  <a:schemeClr val="accent5"/>
                </a:solidFill>
                <a:effectLst/>
              </a:rPr>
              <a:t>Personal Access Token (PAT).</a:t>
            </a:r>
          </a:p>
          <a:p>
            <a:pPr>
              <a:buNone/>
            </a:pPr>
            <a:endParaRPr lang="pt-BR" dirty="0">
              <a:solidFill>
                <a:schemeClr val="accent5"/>
              </a:solidFill>
              <a:effectLst/>
            </a:endParaRPr>
          </a:p>
          <a:p>
            <a:pPr>
              <a:buNone/>
            </a:pPr>
            <a:endParaRPr lang="pt-BR" dirty="0">
              <a:solidFill>
                <a:schemeClr val="accent5"/>
              </a:solidFill>
              <a:effectLst/>
            </a:endParaRPr>
          </a:p>
          <a:p>
            <a:pPr>
              <a:buNone/>
            </a:pPr>
            <a:r>
              <a:rPr lang="pt-BR" dirty="0">
                <a:solidFill>
                  <a:schemeClr val="accent5"/>
                </a:solidFill>
                <a:effectLst/>
              </a:rPr>
              <a:t>No GitHub: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5"/>
                </a:solidFill>
              </a:rPr>
              <a:t>Settings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chemeClr val="accent5"/>
                </a:solidFill>
              </a:rPr>
              <a:t>Developer</a:t>
            </a:r>
            <a:r>
              <a:rPr lang="pt-BR" dirty="0">
                <a:solidFill>
                  <a:schemeClr val="accent5"/>
                </a:solidFill>
              </a:rPr>
              <a:t> settings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5"/>
                </a:solidFill>
              </a:rPr>
              <a:t>Personal </a:t>
            </a:r>
            <a:r>
              <a:rPr lang="pt-BR" dirty="0" err="1">
                <a:solidFill>
                  <a:schemeClr val="accent5"/>
                </a:solidFill>
              </a:rPr>
              <a:t>access</a:t>
            </a:r>
            <a:r>
              <a:rPr lang="pt-BR" dirty="0">
                <a:solidFill>
                  <a:schemeClr val="accent5"/>
                </a:solidFill>
              </a:rPr>
              <a:t> tokens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chemeClr val="accent5"/>
                </a:solidFill>
              </a:rPr>
              <a:t>Generate</a:t>
            </a:r>
            <a:r>
              <a:rPr lang="pt-BR" dirty="0">
                <a:solidFill>
                  <a:schemeClr val="accent5"/>
                </a:solidFill>
              </a:rPr>
              <a:t> new token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5"/>
                </a:solidFill>
              </a:rPr>
              <a:t>Marque a permissão </a:t>
            </a:r>
            <a:r>
              <a:rPr lang="pt-BR" b="1" dirty="0" err="1">
                <a:solidFill>
                  <a:schemeClr val="accent5"/>
                </a:solidFill>
              </a:rPr>
              <a:t>repo</a:t>
            </a:r>
            <a:endParaRPr lang="pt-BR" dirty="0">
              <a:solidFill>
                <a:schemeClr val="accent5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5"/>
                </a:solidFill>
              </a:rPr>
              <a:t>Copie o token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5"/>
                </a:solidFill>
              </a:rPr>
              <a:t>Esse token </a:t>
            </a:r>
            <a:r>
              <a:rPr lang="pt-BR" b="1" dirty="0">
                <a:solidFill>
                  <a:schemeClr val="accent5"/>
                </a:solidFill>
              </a:rPr>
              <a:t>é sua senha do GitHub para o </a:t>
            </a:r>
            <a:r>
              <a:rPr lang="pt-BR" b="1" dirty="0" err="1">
                <a:solidFill>
                  <a:schemeClr val="accent5"/>
                </a:solidFill>
              </a:rPr>
              <a:t>Git</a:t>
            </a:r>
            <a:r>
              <a:rPr lang="pt-BR" dirty="0">
                <a:solidFill>
                  <a:schemeClr val="accent5"/>
                </a:solidFill>
              </a:rPr>
              <a:t>.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4F9D2FAA-B07A-E1C6-77C5-BD4083442334}"/>
              </a:ext>
            </a:extLst>
          </p:cNvPr>
          <p:cNvCxnSpPr>
            <a:cxnSpLocks/>
          </p:cNvCxnSpPr>
          <p:nvPr/>
        </p:nvCxnSpPr>
        <p:spPr>
          <a:xfrm>
            <a:off x="5759777" y="2957870"/>
            <a:ext cx="0" cy="3197833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067846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6FE06-CEEB-B716-63EB-D0140CAC4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81BEA6B-FAE2-7402-56B0-ADBC1F8A2C6E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CF71CDF-5E5D-06B5-AC98-D3B6DFBA09BD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  <a:cs typeface="Segoe UI"/>
              </a:rPr>
              <a:t>Como iniciar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91F25EA-EF22-9E19-CF99-28C566125097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>
                <a:solidFill>
                  <a:schemeClr val="accent5"/>
                </a:solidFill>
              </a:rPr>
              <a:t>Criar repositório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B1004A8-C799-17F8-9704-28141ECF964B}"/>
              </a:ext>
            </a:extLst>
          </p:cNvPr>
          <p:cNvSpPr txBox="1"/>
          <p:nvPr/>
        </p:nvSpPr>
        <p:spPr>
          <a:xfrm>
            <a:off x="450848" y="1420569"/>
            <a:ext cx="1134987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accent5"/>
                </a:solidFill>
              </a:rPr>
              <a:t>Criando e conectando um repositório</a:t>
            </a:r>
          </a:p>
          <a:p>
            <a:r>
              <a:rPr lang="pt-BR" sz="2000" dirty="0">
                <a:solidFill>
                  <a:schemeClr val="accent5"/>
                </a:solidFill>
              </a:rPr>
              <a:t>O fluxo para conectar um projeto local ao GitHub é:</a:t>
            </a:r>
          </a:p>
          <a:p>
            <a:endParaRPr lang="pt-BR" sz="2000" dirty="0">
              <a:solidFill>
                <a:schemeClr val="accent5"/>
              </a:solidFill>
            </a:endParaRPr>
          </a:p>
          <a:p>
            <a:r>
              <a:rPr lang="pt-BR" sz="2000" b="1" dirty="0">
                <a:solidFill>
                  <a:schemeClr val="accent5"/>
                </a:solidFill>
              </a:rPr>
              <a:t>1. No GitHub, crie um novo repositório</a:t>
            </a:r>
          </a:p>
          <a:p>
            <a:r>
              <a:rPr lang="pt-BR" sz="2000" dirty="0">
                <a:solidFill>
                  <a:schemeClr val="accent5"/>
                </a:solidFill>
              </a:rPr>
              <a:t>(Botão verde 'New' &gt; escolha um nome &gt; </a:t>
            </a:r>
            <a:r>
              <a:rPr lang="pt-BR" sz="2000" dirty="0" err="1">
                <a:solidFill>
                  <a:schemeClr val="accent5"/>
                </a:solidFill>
              </a:rPr>
              <a:t>Create</a:t>
            </a:r>
            <a:r>
              <a:rPr lang="pt-BR" sz="2000" dirty="0">
                <a:solidFill>
                  <a:schemeClr val="accent5"/>
                </a:solidFill>
              </a:rPr>
              <a:t> </a:t>
            </a:r>
            <a:r>
              <a:rPr lang="pt-BR" sz="2000" dirty="0" err="1">
                <a:solidFill>
                  <a:schemeClr val="accent5"/>
                </a:solidFill>
              </a:rPr>
              <a:t>repository</a:t>
            </a:r>
            <a:r>
              <a:rPr lang="pt-BR" sz="2000" dirty="0">
                <a:solidFill>
                  <a:schemeClr val="accent5"/>
                </a:solidFill>
              </a:rPr>
              <a:t>)</a:t>
            </a:r>
          </a:p>
          <a:p>
            <a:r>
              <a:rPr lang="pt-BR" sz="2000" b="1" dirty="0">
                <a:solidFill>
                  <a:schemeClr val="accent5"/>
                </a:solidFill>
              </a:rPr>
              <a:t> </a:t>
            </a:r>
          </a:p>
          <a:p>
            <a:r>
              <a:rPr lang="pt-BR" sz="2000" b="1" dirty="0">
                <a:solidFill>
                  <a:schemeClr val="accent5"/>
                </a:solidFill>
              </a:rPr>
              <a:t>2. No terminal, conecte seu repositório local ao remoto</a:t>
            </a:r>
          </a:p>
          <a:p>
            <a:endParaRPr lang="pt-BR" sz="2000" dirty="0">
              <a:solidFill>
                <a:schemeClr val="accent5"/>
              </a:solidFill>
            </a:endParaRPr>
          </a:p>
          <a:p>
            <a:r>
              <a:rPr lang="pt-BR" sz="2000" dirty="0">
                <a:solidFill>
                  <a:schemeClr val="accent5"/>
                </a:solidFill>
              </a:rPr>
              <a:t> </a:t>
            </a:r>
          </a:p>
          <a:p>
            <a:r>
              <a:rPr lang="pt-BR" sz="2000" b="1" dirty="0">
                <a:solidFill>
                  <a:schemeClr val="accent5"/>
                </a:solidFill>
              </a:rPr>
              <a:t>3. Envie o código pela primeira vez</a:t>
            </a:r>
          </a:p>
          <a:p>
            <a:endParaRPr lang="pt-BR" sz="2000" dirty="0">
              <a:solidFill>
                <a:schemeClr val="accent5"/>
              </a:solidFill>
            </a:endParaRPr>
          </a:p>
          <a:p>
            <a:endParaRPr lang="pt-BR" sz="2000" dirty="0">
              <a:solidFill>
                <a:schemeClr val="accent5"/>
              </a:solidFill>
            </a:endParaRPr>
          </a:p>
          <a:p>
            <a:r>
              <a:rPr lang="pt-BR" sz="2000" dirty="0">
                <a:solidFill>
                  <a:schemeClr val="accent5"/>
                </a:solidFill>
              </a:rPr>
              <a:t>A flag -u define o remoto padrão, nas próximas vezes você só precisará digitar: </a:t>
            </a:r>
            <a:r>
              <a:rPr lang="pt-BR" sz="2000" dirty="0" err="1">
                <a:solidFill>
                  <a:schemeClr val="accent5"/>
                </a:solidFill>
              </a:rPr>
              <a:t>git</a:t>
            </a:r>
            <a:r>
              <a:rPr lang="pt-BR" sz="2000" dirty="0">
                <a:solidFill>
                  <a:schemeClr val="accent5"/>
                </a:solidFill>
              </a:rPr>
              <a:t> </a:t>
            </a:r>
            <a:r>
              <a:rPr lang="pt-BR" sz="2000" dirty="0" err="1">
                <a:solidFill>
                  <a:schemeClr val="accent5"/>
                </a:solidFill>
              </a:rPr>
              <a:t>push</a:t>
            </a:r>
            <a:endParaRPr lang="pt-BR" sz="2000" dirty="0">
              <a:solidFill>
                <a:schemeClr val="accent5"/>
              </a:solidFill>
            </a:endParaRPr>
          </a:p>
          <a:p>
            <a:r>
              <a:rPr lang="pt-BR" sz="2000" dirty="0">
                <a:solidFill>
                  <a:schemeClr val="accent5"/>
                </a:solidFill>
              </a:rPr>
              <a:t> </a:t>
            </a:r>
          </a:p>
          <a:p>
            <a:endParaRPr lang="pt-BR" sz="2000" dirty="0">
              <a:solidFill>
                <a:schemeClr val="accent5"/>
              </a:solidFill>
            </a:endParaRPr>
          </a:p>
          <a:p>
            <a:r>
              <a:rPr lang="pt-BR" sz="2000" b="1" dirty="0">
                <a:solidFill>
                  <a:srgbClr val="C00000"/>
                </a:solidFill>
              </a:rPr>
              <a:t>Para verificar se a conexão está configurada: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369BF42-C91C-2C17-08B3-809127ED867A}"/>
              </a:ext>
            </a:extLst>
          </p:cNvPr>
          <p:cNvSpPr/>
          <p:nvPr/>
        </p:nvSpPr>
        <p:spPr>
          <a:xfrm>
            <a:off x="813813" y="3658840"/>
            <a:ext cx="5005717" cy="3348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200" dirty="0">
                <a:solidFill>
                  <a:srgbClr val="FFFF00"/>
                </a:solidFill>
              </a:rPr>
              <a:t>$ </a:t>
            </a:r>
            <a:r>
              <a:rPr lang="pt-BR" sz="1200" err="1">
                <a:solidFill>
                  <a:srgbClr val="FFFF00"/>
                </a:solidFill>
              </a:rPr>
              <a:t>git</a:t>
            </a:r>
            <a:r>
              <a:rPr lang="pt-BR" sz="1200" dirty="0">
                <a:solidFill>
                  <a:srgbClr val="FFFF00"/>
                </a:solidFill>
              </a:rPr>
              <a:t> </a:t>
            </a:r>
            <a:r>
              <a:rPr lang="pt-BR" sz="1200" err="1">
                <a:solidFill>
                  <a:srgbClr val="FFFF00"/>
                </a:solidFill>
              </a:rPr>
              <a:t>remote</a:t>
            </a:r>
            <a:r>
              <a:rPr lang="pt-BR" sz="1200" dirty="0">
                <a:solidFill>
                  <a:srgbClr val="FFFF00"/>
                </a:solidFill>
              </a:rPr>
              <a:t> </a:t>
            </a:r>
            <a:r>
              <a:rPr lang="pt-BR" sz="1200" err="1">
                <a:solidFill>
                  <a:srgbClr val="FFFF00"/>
                </a:solidFill>
              </a:rPr>
              <a:t>add</a:t>
            </a:r>
            <a:r>
              <a:rPr lang="pt-BR" sz="1200" dirty="0">
                <a:solidFill>
                  <a:srgbClr val="FFFF00"/>
                </a:solidFill>
              </a:rPr>
              <a:t> </a:t>
            </a:r>
            <a:r>
              <a:rPr lang="pt-BR" sz="1200" err="1">
                <a:solidFill>
                  <a:srgbClr val="FFFF00"/>
                </a:solidFill>
              </a:rPr>
              <a:t>origin</a:t>
            </a:r>
            <a:r>
              <a:rPr lang="pt-BR" sz="1200" dirty="0">
                <a:solidFill>
                  <a:srgbClr val="FFFF00"/>
                </a:solidFill>
              </a:rPr>
              <a:t> https://github.com/seu-usuario/seu-repo.git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1F058D4-404C-781D-4516-2E1C20BFD6BD}"/>
              </a:ext>
            </a:extLst>
          </p:cNvPr>
          <p:cNvSpPr/>
          <p:nvPr/>
        </p:nvSpPr>
        <p:spPr>
          <a:xfrm>
            <a:off x="813813" y="4534295"/>
            <a:ext cx="5005717" cy="3348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400" dirty="0">
                <a:solidFill>
                  <a:srgbClr val="FFFF00"/>
                </a:solidFill>
              </a:rPr>
              <a:t>$ </a:t>
            </a:r>
            <a:r>
              <a:rPr lang="pt-BR" sz="1400" dirty="0" err="1">
                <a:solidFill>
                  <a:srgbClr val="FFFF00"/>
                </a:solidFill>
              </a:rPr>
              <a:t>git</a:t>
            </a:r>
            <a:r>
              <a:rPr lang="pt-BR" sz="1400" dirty="0">
                <a:solidFill>
                  <a:srgbClr val="FFFF00"/>
                </a:solidFill>
              </a:rPr>
              <a:t> </a:t>
            </a:r>
            <a:r>
              <a:rPr lang="pt-BR" sz="1400" dirty="0" err="1">
                <a:solidFill>
                  <a:srgbClr val="FFFF00"/>
                </a:solidFill>
              </a:rPr>
              <a:t>push</a:t>
            </a:r>
            <a:r>
              <a:rPr lang="pt-BR" sz="1400" dirty="0">
                <a:solidFill>
                  <a:srgbClr val="FFFF00"/>
                </a:solidFill>
              </a:rPr>
              <a:t> -u </a:t>
            </a:r>
            <a:r>
              <a:rPr lang="pt-BR" sz="1400" dirty="0" err="1">
                <a:solidFill>
                  <a:srgbClr val="FFFF00"/>
                </a:solidFill>
              </a:rPr>
              <a:t>origin</a:t>
            </a:r>
            <a:r>
              <a:rPr lang="pt-BR" sz="1400" dirty="0">
                <a:solidFill>
                  <a:srgbClr val="FFFF00"/>
                </a:solidFill>
              </a:rPr>
              <a:t> </a:t>
            </a:r>
            <a:r>
              <a:rPr lang="pt-BR" sz="1400" dirty="0" err="1">
                <a:solidFill>
                  <a:srgbClr val="FFFF00"/>
                </a:solidFill>
              </a:rPr>
              <a:t>main</a:t>
            </a:r>
            <a:endParaRPr lang="pt-BR" sz="1400">
              <a:solidFill>
                <a:schemeClr val="bg1"/>
              </a:solidFill>
              <a:cs typeface="Segoe UI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C374A64-9487-6E78-B2E2-2B9586F79D9B}"/>
              </a:ext>
            </a:extLst>
          </p:cNvPr>
          <p:cNvSpPr/>
          <p:nvPr/>
        </p:nvSpPr>
        <p:spPr>
          <a:xfrm>
            <a:off x="813813" y="6392670"/>
            <a:ext cx="5005717" cy="3348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400" dirty="0">
                <a:solidFill>
                  <a:srgbClr val="FFFF00"/>
                </a:solidFill>
              </a:rPr>
              <a:t>$ </a:t>
            </a:r>
            <a:r>
              <a:rPr lang="pt-BR" sz="1400" err="1">
                <a:solidFill>
                  <a:srgbClr val="FFFF00"/>
                </a:solidFill>
              </a:rPr>
              <a:t>git</a:t>
            </a:r>
            <a:r>
              <a:rPr lang="pt-BR" sz="1400" dirty="0">
                <a:solidFill>
                  <a:srgbClr val="FFFF00"/>
                </a:solidFill>
              </a:rPr>
              <a:t> </a:t>
            </a:r>
            <a:r>
              <a:rPr lang="pt-BR" sz="1400" err="1">
                <a:solidFill>
                  <a:srgbClr val="FFFF00"/>
                </a:solidFill>
              </a:rPr>
              <a:t>remote</a:t>
            </a:r>
            <a:r>
              <a:rPr lang="pt-BR" sz="1400" dirty="0">
                <a:solidFill>
                  <a:srgbClr val="FFFF00"/>
                </a:solidFill>
              </a:rPr>
              <a:t> -v</a:t>
            </a:r>
          </a:p>
        </p:txBody>
      </p:sp>
    </p:spTree>
    <p:extLst>
      <p:ext uri="{BB962C8B-B14F-4D97-AF65-F5344CB8AC3E}">
        <p14:creationId xmlns:p14="http://schemas.microsoft.com/office/powerpoint/2010/main" val="2779454575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7936C-9B46-F9EB-E8CC-A2F3A9B63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11B94544-9E57-A0D4-21CF-B0E65CDA21CD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AF8ABA6-9AC3-A425-1A90-351C129BA60A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 err="1">
                <a:solidFill>
                  <a:schemeClr val="accent5"/>
                </a:solidFill>
              </a:rPr>
              <a:t>Pull</a:t>
            </a:r>
            <a:r>
              <a:rPr lang="pt-BR" sz="3200" b="1" dirty="0">
                <a:solidFill>
                  <a:schemeClr val="accent5"/>
                </a:solidFill>
              </a:rPr>
              <a:t> </a:t>
            </a:r>
            <a:r>
              <a:rPr lang="pt-BR" sz="3200" b="1" dirty="0" err="1">
                <a:solidFill>
                  <a:schemeClr val="accent5"/>
                </a:solidFill>
              </a:rPr>
              <a:t>request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151122F-C882-C6E5-7DD1-D30EC03DB8B1}"/>
              </a:ext>
            </a:extLst>
          </p:cNvPr>
          <p:cNvSpPr txBox="1"/>
          <p:nvPr/>
        </p:nvSpPr>
        <p:spPr>
          <a:xfrm>
            <a:off x="450848" y="1547569"/>
            <a:ext cx="1134987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chemeClr val="accent5"/>
                </a:solidFill>
              </a:rPr>
              <a:t>Pull</a:t>
            </a:r>
            <a:r>
              <a:rPr lang="pt-BR" b="1" dirty="0">
                <a:solidFill>
                  <a:schemeClr val="accent5"/>
                </a:solidFill>
              </a:rPr>
              <a:t> </a:t>
            </a:r>
            <a:r>
              <a:rPr lang="pt-BR" b="1" dirty="0" err="1">
                <a:solidFill>
                  <a:schemeClr val="accent5"/>
                </a:solidFill>
              </a:rPr>
              <a:t>Request</a:t>
            </a:r>
            <a:r>
              <a:rPr lang="pt-BR" b="1" dirty="0">
                <a:solidFill>
                  <a:schemeClr val="accent5"/>
                </a:solidFill>
              </a:rPr>
              <a:t> (PR) — A peça central da colaboração</a:t>
            </a:r>
          </a:p>
          <a:p>
            <a:endParaRPr lang="pt-BR" b="1" dirty="0">
              <a:solidFill>
                <a:schemeClr val="accent5"/>
              </a:solidFill>
            </a:endParaRPr>
          </a:p>
          <a:p>
            <a:r>
              <a:rPr lang="pt-BR" dirty="0">
                <a:solidFill>
                  <a:schemeClr val="accent5"/>
                </a:solidFill>
              </a:rPr>
              <a:t>Um </a:t>
            </a:r>
            <a:r>
              <a:rPr lang="pt-BR" dirty="0" err="1">
                <a:solidFill>
                  <a:schemeClr val="accent5"/>
                </a:solidFill>
              </a:rPr>
              <a:t>Pull</a:t>
            </a:r>
            <a:r>
              <a:rPr lang="pt-BR" dirty="0">
                <a:solidFill>
                  <a:schemeClr val="accent5"/>
                </a:solidFill>
              </a:rPr>
              <a:t> </a:t>
            </a:r>
            <a:r>
              <a:rPr lang="pt-BR" dirty="0" err="1">
                <a:solidFill>
                  <a:schemeClr val="accent5"/>
                </a:solidFill>
              </a:rPr>
              <a:t>Request</a:t>
            </a:r>
            <a:r>
              <a:rPr lang="pt-BR" dirty="0">
                <a:solidFill>
                  <a:schemeClr val="accent5"/>
                </a:solidFill>
              </a:rPr>
              <a:t> é uma solicitação formal para integrar as mudanças de uma </a:t>
            </a:r>
            <a:r>
              <a:rPr lang="pt-BR" dirty="0" err="1">
                <a:solidFill>
                  <a:schemeClr val="accent5"/>
                </a:solidFill>
              </a:rPr>
              <a:t>branch</a:t>
            </a:r>
            <a:r>
              <a:rPr lang="pt-BR" dirty="0">
                <a:solidFill>
                  <a:schemeClr val="accent5"/>
                </a:solidFill>
              </a:rPr>
              <a:t> ao código principal. </a:t>
            </a:r>
          </a:p>
          <a:p>
            <a:r>
              <a:rPr lang="pt-BR" dirty="0">
                <a:solidFill>
                  <a:schemeClr val="accent5"/>
                </a:solidFill>
              </a:rPr>
              <a:t>Não é um comando do </a:t>
            </a:r>
            <a:r>
              <a:rPr lang="pt-BR" dirty="0" err="1">
                <a:solidFill>
                  <a:schemeClr val="accent5"/>
                </a:solidFill>
              </a:rPr>
              <a:t>Git</a:t>
            </a:r>
            <a:r>
              <a:rPr lang="pt-BR" dirty="0">
                <a:solidFill>
                  <a:schemeClr val="accent5"/>
                </a:solidFill>
              </a:rPr>
              <a:t>. É uma funcionalidade do GitHub. O nome pode confundir: não tem nada a ver com </a:t>
            </a:r>
            <a:r>
              <a:rPr lang="pt-BR" dirty="0" err="1">
                <a:solidFill>
                  <a:schemeClr val="accent5"/>
                </a:solidFill>
              </a:rPr>
              <a:t>git</a:t>
            </a:r>
            <a:r>
              <a:rPr lang="pt-BR" dirty="0">
                <a:solidFill>
                  <a:schemeClr val="accent5"/>
                </a:solidFill>
              </a:rPr>
              <a:t> </a:t>
            </a:r>
            <a:r>
              <a:rPr lang="pt-BR" dirty="0" err="1">
                <a:solidFill>
                  <a:schemeClr val="accent5"/>
                </a:solidFill>
              </a:rPr>
              <a:t>pull</a:t>
            </a:r>
            <a:r>
              <a:rPr lang="pt-BR" dirty="0">
                <a:solidFill>
                  <a:schemeClr val="accent5"/>
                </a:solidFill>
              </a:rPr>
              <a:t>. Um PR é essencialmente: "Ei, terminei essa feature, alguém pode revisar antes de integrar?"</a:t>
            </a:r>
          </a:p>
          <a:p>
            <a:r>
              <a:rPr lang="pt-BR" dirty="0">
                <a:solidFill>
                  <a:schemeClr val="accent5"/>
                </a:solidFill>
              </a:rPr>
              <a:t> </a:t>
            </a:r>
          </a:p>
          <a:p>
            <a:r>
              <a:rPr lang="pt-BR" dirty="0">
                <a:solidFill>
                  <a:schemeClr val="accent5"/>
                </a:solidFill>
              </a:rPr>
              <a:t>O fluxo completo de um </a:t>
            </a:r>
            <a:r>
              <a:rPr lang="pt-BR" dirty="0" err="1">
                <a:solidFill>
                  <a:schemeClr val="accent5"/>
                </a:solidFill>
              </a:rPr>
              <a:t>Pull</a:t>
            </a:r>
            <a:r>
              <a:rPr lang="pt-BR" dirty="0">
                <a:solidFill>
                  <a:schemeClr val="accent5"/>
                </a:solidFill>
              </a:rPr>
              <a:t> </a:t>
            </a:r>
            <a:r>
              <a:rPr lang="pt-BR" dirty="0" err="1">
                <a:solidFill>
                  <a:schemeClr val="accent5"/>
                </a:solidFill>
              </a:rPr>
              <a:t>Request</a:t>
            </a:r>
            <a:r>
              <a:rPr lang="pt-BR" dirty="0">
                <a:solidFill>
                  <a:schemeClr val="accent5"/>
                </a:solidFill>
              </a:rPr>
              <a:t>:</a:t>
            </a:r>
          </a:p>
          <a:p>
            <a:r>
              <a:rPr lang="pt-BR" dirty="0">
                <a:solidFill>
                  <a:schemeClr val="accent5"/>
                </a:solidFill>
              </a:rPr>
              <a:t>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accent5"/>
                </a:solidFill>
              </a:rPr>
              <a:t>Crie uma </a:t>
            </a:r>
            <a:r>
              <a:rPr lang="pt-BR" b="1" dirty="0" err="1">
                <a:solidFill>
                  <a:schemeClr val="accent5"/>
                </a:solidFill>
              </a:rPr>
              <a:t>branch</a:t>
            </a:r>
            <a:r>
              <a:rPr lang="pt-BR" b="1" dirty="0">
                <a:solidFill>
                  <a:schemeClr val="accent5"/>
                </a:solidFill>
              </a:rPr>
              <a:t>:</a:t>
            </a:r>
            <a:r>
              <a:rPr lang="pt-BR" dirty="0">
                <a:solidFill>
                  <a:schemeClr val="accent5"/>
                </a:solidFill>
              </a:rPr>
              <a:t> </a:t>
            </a:r>
            <a:r>
              <a:rPr lang="pt-BR" dirty="0" err="1">
                <a:solidFill>
                  <a:schemeClr val="accent5"/>
                </a:solidFill>
              </a:rPr>
              <a:t>git</a:t>
            </a:r>
            <a:r>
              <a:rPr lang="pt-BR" dirty="0">
                <a:solidFill>
                  <a:schemeClr val="accent5"/>
                </a:solidFill>
              </a:rPr>
              <a:t> checkout -b feature/minha-funcionalidade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accent5"/>
                </a:solidFill>
              </a:rPr>
              <a:t>Desenvolva e </a:t>
            </a:r>
            <a:r>
              <a:rPr lang="pt-BR" b="1" dirty="0" err="1">
                <a:solidFill>
                  <a:schemeClr val="accent5"/>
                </a:solidFill>
              </a:rPr>
              <a:t>commite</a:t>
            </a:r>
            <a:r>
              <a:rPr lang="pt-BR" b="1" dirty="0">
                <a:solidFill>
                  <a:schemeClr val="accent5"/>
                </a:solidFill>
              </a:rPr>
              <a:t> localmente:</a:t>
            </a:r>
            <a:r>
              <a:rPr lang="pt-BR" dirty="0">
                <a:solidFill>
                  <a:schemeClr val="accent5"/>
                </a:solidFill>
              </a:rPr>
              <a:t> faça seus </a:t>
            </a:r>
            <a:r>
              <a:rPr lang="pt-BR" dirty="0" err="1">
                <a:solidFill>
                  <a:schemeClr val="accent5"/>
                </a:solidFill>
              </a:rPr>
              <a:t>commits</a:t>
            </a:r>
            <a:r>
              <a:rPr lang="pt-BR" dirty="0">
                <a:solidFill>
                  <a:schemeClr val="accent5"/>
                </a:solidFill>
              </a:rPr>
              <a:t> normalmente na </a:t>
            </a:r>
            <a:r>
              <a:rPr lang="pt-BR" dirty="0" err="1">
                <a:solidFill>
                  <a:schemeClr val="accent5"/>
                </a:solidFill>
              </a:rPr>
              <a:t>branch</a:t>
            </a:r>
            <a:r>
              <a:rPr lang="pt-BR" dirty="0">
                <a:solidFill>
                  <a:schemeClr val="accent5"/>
                </a:solidFill>
              </a:rPr>
              <a:t>. Lembre-se: os </a:t>
            </a:r>
            <a:r>
              <a:rPr lang="pt-BR" dirty="0" err="1">
                <a:solidFill>
                  <a:schemeClr val="accent5"/>
                </a:solidFill>
              </a:rPr>
              <a:t>commits</a:t>
            </a:r>
            <a:r>
              <a:rPr lang="pt-BR" dirty="0">
                <a:solidFill>
                  <a:schemeClr val="accent5"/>
                </a:solidFill>
              </a:rPr>
              <a:t> ficam na sua máquina até você fazer o </a:t>
            </a:r>
            <a:r>
              <a:rPr lang="pt-BR" dirty="0" err="1">
                <a:solidFill>
                  <a:schemeClr val="accent5"/>
                </a:solidFill>
              </a:rPr>
              <a:t>push</a:t>
            </a:r>
            <a:r>
              <a:rPr lang="pt-BR" dirty="0">
                <a:solidFill>
                  <a:schemeClr val="accent5"/>
                </a:solidFill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accent5"/>
                </a:solidFill>
              </a:rPr>
              <a:t>Envie a </a:t>
            </a:r>
            <a:r>
              <a:rPr lang="pt-BR" b="1" dirty="0" err="1">
                <a:solidFill>
                  <a:schemeClr val="accent5"/>
                </a:solidFill>
              </a:rPr>
              <a:t>branch</a:t>
            </a:r>
            <a:r>
              <a:rPr lang="pt-BR" b="1" dirty="0">
                <a:solidFill>
                  <a:schemeClr val="accent5"/>
                </a:solidFill>
              </a:rPr>
              <a:t> para o GitHub:</a:t>
            </a:r>
            <a:r>
              <a:rPr lang="pt-BR" dirty="0">
                <a:solidFill>
                  <a:schemeClr val="accent5"/>
                </a:solidFill>
              </a:rPr>
              <a:t> </a:t>
            </a:r>
            <a:r>
              <a:rPr lang="pt-BR" dirty="0" err="1">
                <a:solidFill>
                  <a:schemeClr val="accent5"/>
                </a:solidFill>
              </a:rPr>
              <a:t>git</a:t>
            </a:r>
            <a:r>
              <a:rPr lang="pt-BR" dirty="0">
                <a:solidFill>
                  <a:schemeClr val="accent5"/>
                </a:solidFill>
              </a:rPr>
              <a:t> </a:t>
            </a:r>
            <a:r>
              <a:rPr lang="pt-BR" dirty="0" err="1">
                <a:solidFill>
                  <a:schemeClr val="accent5"/>
                </a:solidFill>
              </a:rPr>
              <a:t>push</a:t>
            </a:r>
            <a:r>
              <a:rPr lang="pt-BR" dirty="0">
                <a:solidFill>
                  <a:schemeClr val="accent5"/>
                </a:solidFill>
              </a:rPr>
              <a:t> </a:t>
            </a:r>
            <a:r>
              <a:rPr lang="pt-BR" dirty="0" err="1">
                <a:solidFill>
                  <a:schemeClr val="accent5"/>
                </a:solidFill>
              </a:rPr>
              <a:t>origin</a:t>
            </a:r>
            <a:r>
              <a:rPr lang="pt-BR" dirty="0">
                <a:solidFill>
                  <a:schemeClr val="accent5"/>
                </a:solidFill>
              </a:rPr>
              <a:t> feature/minha-funcionalidade — este é o passo que de fato envia o código ao GitHub.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accent5"/>
                </a:solidFill>
              </a:rPr>
              <a:t>Abra o PR no GitHub:</a:t>
            </a:r>
            <a:r>
              <a:rPr lang="pt-BR" dirty="0">
                <a:solidFill>
                  <a:schemeClr val="accent5"/>
                </a:solidFill>
              </a:rPr>
              <a:t> o GitHub detecta a nova </a:t>
            </a:r>
            <a:r>
              <a:rPr lang="pt-BR" dirty="0" err="1">
                <a:solidFill>
                  <a:schemeClr val="accent5"/>
                </a:solidFill>
              </a:rPr>
              <a:t>branch</a:t>
            </a:r>
            <a:r>
              <a:rPr lang="pt-BR" dirty="0">
                <a:solidFill>
                  <a:schemeClr val="accent5"/>
                </a:solidFill>
              </a:rPr>
              <a:t> e exibe um botão 'Compare &amp; </a:t>
            </a:r>
            <a:r>
              <a:rPr lang="pt-BR" dirty="0" err="1">
                <a:solidFill>
                  <a:schemeClr val="accent5"/>
                </a:solidFill>
              </a:rPr>
              <a:t>pull</a:t>
            </a:r>
            <a:r>
              <a:rPr lang="pt-BR" dirty="0">
                <a:solidFill>
                  <a:schemeClr val="accent5"/>
                </a:solidFill>
              </a:rPr>
              <a:t> </a:t>
            </a:r>
            <a:r>
              <a:rPr lang="pt-BR" dirty="0" err="1">
                <a:solidFill>
                  <a:schemeClr val="accent5"/>
                </a:solidFill>
              </a:rPr>
              <a:t>request</a:t>
            </a:r>
            <a:r>
              <a:rPr lang="pt-BR" dirty="0">
                <a:solidFill>
                  <a:schemeClr val="accent5"/>
                </a:solidFill>
              </a:rPr>
              <a:t>'. Clique nele, escreva uma descrição clara do que foi feito e clique em '</a:t>
            </a:r>
            <a:r>
              <a:rPr lang="pt-BR" dirty="0" err="1">
                <a:solidFill>
                  <a:schemeClr val="accent5"/>
                </a:solidFill>
              </a:rPr>
              <a:t>Create</a:t>
            </a:r>
            <a:r>
              <a:rPr lang="pt-BR" dirty="0">
                <a:solidFill>
                  <a:schemeClr val="accent5"/>
                </a:solidFill>
              </a:rPr>
              <a:t> </a:t>
            </a:r>
            <a:r>
              <a:rPr lang="pt-BR" dirty="0" err="1">
                <a:solidFill>
                  <a:schemeClr val="accent5"/>
                </a:solidFill>
              </a:rPr>
              <a:t>pull</a:t>
            </a:r>
            <a:r>
              <a:rPr lang="pt-BR" dirty="0">
                <a:solidFill>
                  <a:schemeClr val="accent5"/>
                </a:solidFill>
              </a:rPr>
              <a:t> </a:t>
            </a:r>
            <a:r>
              <a:rPr lang="pt-BR" dirty="0" err="1">
                <a:solidFill>
                  <a:schemeClr val="accent5"/>
                </a:solidFill>
              </a:rPr>
              <a:t>request</a:t>
            </a:r>
            <a:r>
              <a:rPr lang="pt-BR" dirty="0">
                <a:solidFill>
                  <a:schemeClr val="accent5"/>
                </a:solidFill>
              </a:rPr>
              <a:t>'.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 err="1">
                <a:solidFill>
                  <a:schemeClr val="accent5"/>
                </a:solidFill>
              </a:rPr>
              <a:t>Code</a:t>
            </a:r>
            <a:r>
              <a:rPr lang="pt-BR" b="1" dirty="0">
                <a:solidFill>
                  <a:schemeClr val="accent5"/>
                </a:solidFill>
              </a:rPr>
              <a:t> Review:</a:t>
            </a:r>
            <a:r>
              <a:rPr lang="pt-BR" dirty="0">
                <a:solidFill>
                  <a:schemeClr val="accent5"/>
                </a:solidFill>
              </a:rPr>
              <a:t> colegas de equipe revisam o código, fazem comentários e podem pedir ajustes.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accent5"/>
                </a:solidFill>
              </a:rPr>
              <a:t>Merge:</a:t>
            </a:r>
            <a:r>
              <a:rPr lang="pt-BR" dirty="0">
                <a:solidFill>
                  <a:schemeClr val="accent5"/>
                </a:solidFill>
              </a:rPr>
              <a:t> após aprovação, o código é integrado à </a:t>
            </a:r>
            <a:r>
              <a:rPr lang="pt-BR" dirty="0" err="1">
                <a:solidFill>
                  <a:schemeClr val="accent5"/>
                </a:solidFill>
              </a:rPr>
              <a:t>main</a:t>
            </a:r>
            <a:r>
              <a:rPr lang="pt-BR" dirty="0">
                <a:solidFill>
                  <a:schemeClr val="accent5"/>
                </a:solidFill>
              </a:rPr>
              <a:t>. O GitHub oferece diferentes estratégias de merge.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852DE3F-8B17-BA15-9545-7921C63B45EE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  <a:cs typeface="Segoe UI"/>
              </a:rPr>
              <a:t>Solicitação de colaborações </a:t>
            </a:r>
          </a:p>
        </p:txBody>
      </p:sp>
    </p:spTree>
    <p:extLst>
      <p:ext uri="{BB962C8B-B14F-4D97-AF65-F5344CB8AC3E}">
        <p14:creationId xmlns:p14="http://schemas.microsoft.com/office/powerpoint/2010/main" val="3682758431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11E97-715C-96A3-A1DE-FA9EAD49C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B535DAD2-2002-6BF9-27E3-9B16AC11DE26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761EBE7-D9E7-B5A5-D614-388E7E1CD2F8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  <a:cs typeface="Segoe UI"/>
              </a:rPr>
              <a:t>Não envia para o github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A3B9E4A-13C4-30EA-E700-B1D9E3BC955A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 err="1">
                <a:solidFill>
                  <a:schemeClr val="accent5"/>
                </a:solidFill>
              </a:rPr>
              <a:t>Gitignore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C5D8451-9278-2B62-3160-8EB1127CDCC9}"/>
              </a:ext>
            </a:extLst>
          </p:cNvPr>
          <p:cNvSpPr txBox="1"/>
          <p:nvPr/>
        </p:nvSpPr>
        <p:spPr>
          <a:xfrm>
            <a:off x="450848" y="1547569"/>
            <a:ext cx="1134987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5"/>
                </a:solidFill>
              </a:rPr>
              <a:t>O arquivo .</a:t>
            </a:r>
            <a:r>
              <a:rPr lang="pt-BR" sz="2400" b="1" dirty="0" err="1">
                <a:solidFill>
                  <a:schemeClr val="accent5"/>
                </a:solidFill>
              </a:rPr>
              <a:t>gitignore</a:t>
            </a:r>
            <a:r>
              <a:rPr lang="pt-BR" sz="2400" b="1" dirty="0">
                <a:solidFill>
                  <a:schemeClr val="accent5"/>
                </a:solidFill>
              </a:rPr>
              <a:t> — O que não </a:t>
            </a:r>
            <a:r>
              <a:rPr lang="pt-BR" sz="2400" b="1" dirty="0" err="1">
                <a:solidFill>
                  <a:schemeClr val="accent5"/>
                </a:solidFill>
              </a:rPr>
              <a:t>versionar</a:t>
            </a:r>
            <a:endParaRPr lang="pt-BR" sz="2400" b="1" dirty="0">
              <a:solidFill>
                <a:schemeClr val="accent5"/>
              </a:solidFill>
            </a:endParaRPr>
          </a:p>
          <a:p>
            <a:r>
              <a:rPr lang="pt-BR" sz="2000" dirty="0">
                <a:solidFill>
                  <a:schemeClr val="accent5"/>
                </a:solidFill>
              </a:rPr>
              <a:t>O .</a:t>
            </a:r>
            <a:r>
              <a:rPr lang="pt-BR" sz="2000" dirty="0" err="1">
                <a:solidFill>
                  <a:schemeClr val="accent5"/>
                </a:solidFill>
              </a:rPr>
              <a:t>gitignore</a:t>
            </a:r>
            <a:r>
              <a:rPr lang="pt-BR" sz="2000" dirty="0">
                <a:solidFill>
                  <a:schemeClr val="accent5"/>
                </a:solidFill>
              </a:rPr>
              <a:t> é um arquivo de texto simples na raiz do projeto que lista os arquivos e pastas que o </a:t>
            </a:r>
            <a:r>
              <a:rPr lang="pt-BR" sz="2000" dirty="0" err="1">
                <a:solidFill>
                  <a:schemeClr val="accent5"/>
                </a:solidFill>
              </a:rPr>
              <a:t>Git</a:t>
            </a:r>
            <a:r>
              <a:rPr lang="pt-BR" sz="2000" dirty="0">
                <a:solidFill>
                  <a:schemeClr val="accent5"/>
                </a:solidFill>
              </a:rPr>
              <a:t> deve ignorar completamente. </a:t>
            </a:r>
          </a:p>
          <a:p>
            <a:r>
              <a:rPr lang="pt-BR" sz="2000" dirty="0">
                <a:solidFill>
                  <a:schemeClr val="accent5"/>
                </a:solidFill>
              </a:rPr>
              <a:t>Ele é essencial para evitar que arquivos desnecessários ou sensíveis sejam </a:t>
            </a:r>
            <a:r>
              <a:rPr lang="pt-BR" sz="2000" dirty="0" err="1">
                <a:solidFill>
                  <a:schemeClr val="accent5"/>
                </a:solidFill>
              </a:rPr>
              <a:t>versionados</a:t>
            </a:r>
            <a:r>
              <a:rPr lang="pt-BR" sz="2000" dirty="0">
                <a:solidFill>
                  <a:schemeClr val="accent5"/>
                </a:solidFill>
              </a:rPr>
              <a:t>.</a:t>
            </a:r>
          </a:p>
          <a:p>
            <a:r>
              <a:rPr lang="pt-BR" sz="2000" dirty="0">
                <a:solidFill>
                  <a:schemeClr val="accent5"/>
                </a:solidFill>
              </a:rPr>
              <a:t> </a:t>
            </a:r>
          </a:p>
          <a:p>
            <a:endParaRPr lang="pt-BR" sz="2000" dirty="0">
              <a:solidFill>
                <a:schemeClr val="accent5"/>
              </a:solidFill>
            </a:endParaRPr>
          </a:p>
          <a:p>
            <a:r>
              <a:rPr lang="pt-BR" sz="2400" b="1" dirty="0">
                <a:solidFill>
                  <a:schemeClr val="accent5"/>
                </a:solidFill>
              </a:rPr>
              <a:t>Os principais tipos de arquivo que não devem ir para o repositório: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accent5"/>
                </a:solidFill>
              </a:rPr>
              <a:t>node_modules</a:t>
            </a:r>
            <a:r>
              <a:rPr lang="pt-BR" sz="2000" dirty="0">
                <a:solidFill>
                  <a:schemeClr val="accent5"/>
                </a:solidFill>
              </a:rPr>
              <a:t>/ — a pasta com todas as dependências </a:t>
            </a:r>
            <a:r>
              <a:rPr lang="pt-BR" sz="2000" dirty="0" err="1">
                <a:solidFill>
                  <a:schemeClr val="accent5"/>
                </a:solidFill>
              </a:rPr>
              <a:t>npm</a:t>
            </a:r>
            <a:r>
              <a:rPr lang="pt-BR" sz="2000" dirty="0">
                <a:solidFill>
                  <a:schemeClr val="accent5"/>
                </a:solidFill>
              </a:rPr>
              <a:t>. Pode ter centenas de megabytes.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5"/>
                </a:solidFill>
              </a:rPr>
              <a:t>.</a:t>
            </a:r>
            <a:r>
              <a:rPr lang="pt-BR" sz="2000" dirty="0" err="1">
                <a:solidFill>
                  <a:schemeClr val="accent5"/>
                </a:solidFill>
              </a:rPr>
              <a:t>env</a:t>
            </a:r>
            <a:r>
              <a:rPr lang="pt-BR" sz="2000" dirty="0">
                <a:solidFill>
                  <a:schemeClr val="accent5"/>
                </a:solidFill>
              </a:rPr>
              <a:t> — arquivo com variáveis de ambiente que contém senhas, tokens de API e configurações sensíveis.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5"/>
                </a:solidFill>
              </a:rPr>
              <a:t>Arquivos de build gerados automaticamente (</a:t>
            </a:r>
            <a:r>
              <a:rPr lang="pt-BR" sz="2000" dirty="0" err="1">
                <a:solidFill>
                  <a:schemeClr val="accent5"/>
                </a:solidFill>
              </a:rPr>
              <a:t>dist</a:t>
            </a:r>
            <a:r>
              <a:rPr lang="pt-BR" sz="2000" dirty="0">
                <a:solidFill>
                  <a:schemeClr val="accent5"/>
                </a:solidFill>
              </a:rPr>
              <a:t>/, build/) — são gerados por ferramentas e não devem ser mantidos manualmente.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5"/>
                </a:solidFill>
              </a:rPr>
              <a:t>Arquivos de configuração do editor (.</a:t>
            </a:r>
            <a:r>
              <a:rPr lang="pt-BR" sz="2000" dirty="0" err="1">
                <a:solidFill>
                  <a:schemeClr val="accent5"/>
                </a:solidFill>
              </a:rPr>
              <a:t>vscode</a:t>
            </a:r>
            <a:r>
              <a:rPr lang="pt-BR" sz="2000" dirty="0">
                <a:solidFill>
                  <a:schemeClr val="accent5"/>
                </a:solidFill>
              </a:rPr>
              <a:t>/, .</a:t>
            </a:r>
            <a:r>
              <a:rPr lang="pt-BR" sz="2000" dirty="0" err="1">
                <a:solidFill>
                  <a:schemeClr val="accent5"/>
                </a:solidFill>
              </a:rPr>
              <a:t>idea</a:t>
            </a:r>
            <a:r>
              <a:rPr lang="pt-BR" sz="2000" dirty="0">
                <a:solidFill>
                  <a:schemeClr val="accent5"/>
                </a:solidFill>
              </a:rPr>
              <a:t>/) — são pessoais e variam por desenvolvedor.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5"/>
                </a:solidFill>
              </a:rPr>
              <a:t>Arquivos de sistema operacional (.</a:t>
            </a:r>
            <a:r>
              <a:rPr lang="pt-BR" sz="2000" dirty="0" err="1">
                <a:solidFill>
                  <a:schemeClr val="accent5"/>
                </a:solidFill>
              </a:rPr>
              <a:t>DS_Store</a:t>
            </a:r>
            <a:r>
              <a:rPr lang="pt-BR" sz="2000" dirty="0">
                <a:solidFill>
                  <a:schemeClr val="accent5"/>
                </a:solidFill>
              </a:rPr>
              <a:t> no Mac, </a:t>
            </a:r>
            <a:r>
              <a:rPr lang="pt-BR" sz="2000" dirty="0" err="1">
                <a:solidFill>
                  <a:schemeClr val="accent5"/>
                </a:solidFill>
              </a:rPr>
              <a:t>Thumbs.db</a:t>
            </a:r>
            <a:r>
              <a:rPr lang="pt-BR" sz="2000" dirty="0">
                <a:solidFill>
                  <a:schemeClr val="accent5"/>
                </a:solidFill>
              </a:rPr>
              <a:t> no Windows).</a:t>
            </a:r>
          </a:p>
        </p:txBody>
      </p:sp>
    </p:spTree>
    <p:extLst>
      <p:ext uri="{BB962C8B-B14F-4D97-AF65-F5344CB8AC3E}">
        <p14:creationId xmlns:p14="http://schemas.microsoft.com/office/powerpoint/2010/main" val="1177727613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6BF2E-C170-B877-712F-671E4B8C4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1AD3DD67-E81F-6459-B518-CB00AB65DBDF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B626143-6855-0C14-5571-02B7C0B0CFBE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  <a:cs typeface="Segoe UI"/>
              </a:rPr>
              <a:t>Arquivo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D61665A-6A41-0953-8963-9ECA35B1A936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>
                <a:solidFill>
                  <a:schemeClr val="accent5"/>
                </a:solidFill>
              </a:rPr>
              <a:t>Github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A1782FD-3934-0728-3099-F839828E599B}"/>
              </a:ext>
            </a:extLst>
          </p:cNvPr>
          <p:cNvSpPr txBox="1"/>
          <p:nvPr/>
        </p:nvSpPr>
        <p:spPr>
          <a:xfrm>
            <a:off x="450848" y="1547569"/>
            <a:ext cx="1134987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5"/>
                </a:solidFill>
              </a:rPr>
              <a:t>Exemplo de </a:t>
            </a:r>
            <a:r>
              <a:rPr lang="pt-BR" sz="2400" b="1" dirty="0" err="1">
                <a:solidFill>
                  <a:schemeClr val="accent5"/>
                </a:solidFill>
              </a:rPr>
              <a:t>gitignore</a:t>
            </a:r>
            <a:endParaRPr lang="pt-BR" sz="2400" b="1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/>
                </a:solidFill>
              </a:rPr>
              <a:t>Dependências </a:t>
            </a:r>
            <a:r>
              <a:rPr lang="pt-BR" sz="2400" dirty="0" err="1">
                <a:solidFill>
                  <a:schemeClr val="accent5"/>
                </a:solidFill>
              </a:rPr>
              <a:t>npm</a:t>
            </a:r>
            <a:endParaRPr lang="pt-BR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/>
                </a:solidFill>
              </a:rPr>
              <a:t>Variáveis de ambiente e senhas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/>
                </a:solidFill>
              </a:rPr>
              <a:t>Arquivos de build gerados automaticamente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/>
                </a:solidFill>
              </a:rPr>
              <a:t>Arquivos de sistema operacional </a:t>
            </a:r>
            <a:endParaRPr lang="pt-BR" sz="2000" dirty="0">
              <a:solidFill>
                <a:schemeClr val="accent5"/>
              </a:solidFill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ED56864-54B0-8941-C2CD-9920FAC93091}"/>
              </a:ext>
            </a:extLst>
          </p:cNvPr>
          <p:cNvSpPr/>
          <p:nvPr/>
        </p:nvSpPr>
        <p:spPr>
          <a:xfrm>
            <a:off x="565148" y="3632094"/>
            <a:ext cx="8914387" cy="30975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200" dirty="0">
                <a:solidFill>
                  <a:srgbClr val="FFFF00"/>
                </a:solidFill>
              </a:rPr>
              <a:t># Dependências </a:t>
            </a:r>
            <a:r>
              <a:rPr lang="pt-BR" sz="1200" err="1">
                <a:solidFill>
                  <a:srgbClr val="FFFF00"/>
                </a:solidFill>
              </a:rPr>
              <a:t>npm</a:t>
            </a:r>
            <a:r>
              <a:rPr lang="pt-BR" sz="1200" dirty="0">
                <a:solidFill>
                  <a:srgbClr val="FFFF00"/>
                </a:solidFill>
              </a:rPr>
              <a:t> — sempre ignorar</a:t>
            </a:r>
            <a:endParaRPr lang="pt-BR" sz="1200" dirty="0">
              <a:solidFill>
                <a:srgbClr val="FFFF00"/>
              </a:solidFill>
              <a:cs typeface="Segoe UI"/>
            </a:endParaRPr>
          </a:p>
          <a:p>
            <a:r>
              <a:rPr lang="pt-BR" sz="1200" err="1">
                <a:solidFill>
                  <a:srgbClr val="FFFF00"/>
                </a:solidFill>
              </a:rPr>
              <a:t>node_modules</a:t>
            </a:r>
            <a:r>
              <a:rPr lang="pt-BR" sz="1200" dirty="0">
                <a:solidFill>
                  <a:srgbClr val="FFFF00"/>
                </a:solidFill>
              </a:rPr>
              <a:t>/</a:t>
            </a:r>
            <a:endParaRPr lang="pt-BR" sz="1200" dirty="0">
              <a:solidFill>
                <a:srgbClr val="FFFF00"/>
              </a:solidFill>
              <a:cs typeface="Segoe UI"/>
            </a:endParaRPr>
          </a:p>
          <a:p>
            <a:endParaRPr lang="pt-BR" sz="1200" dirty="0">
              <a:solidFill>
                <a:srgbClr val="FFFF00"/>
              </a:solidFill>
              <a:cs typeface="Segoe UI"/>
            </a:endParaRPr>
          </a:p>
          <a:p>
            <a:r>
              <a:rPr lang="pt-BR" sz="1200" dirty="0">
                <a:solidFill>
                  <a:srgbClr val="FFFF00"/>
                </a:solidFill>
              </a:rPr>
              <a:t># Variáveis de ambiente e senhas — NUNCA </a:t>
            </a:r>
            <a:r>
              <a:rPr lang="pt-BR" sz="1200" err="1">
                <a:solidFill>
                  <a:srgbClr val="FFFF00"/>
                </a:solidFill>
              </a:rPr>
              <a:t>versionar</a:t>
            </a:r>
            <a:endParaRPr lang="pt-BR" sz="1200">
              <a:solidFill>
                <a:srgbClr val="FFFF00"/>
              </a:solidFill>
              <a:cs typeface="Segoe UI"/>
            </a:endParaRPr>
          </a:p>
          <a:p>
            <a:r>
              <a:rPr lang="pt-BR" sz="1200" dirty="0">
                <a:solidFill>
                  <a:srgbClr val="FFFF00"/>
                </a:solidFill>
              </a:rPr>
              <a:t>.</a:t>
            </a:r>
            <a:r>
              <a:rPr lang="pt-BR" sz="1200" err="1">
                <a:solidFill>
                  <a:srgbClr val="FFFF00"/>
                </a:solidFill>
              </a:rPr>
              <a:t>env</a:t>
            </a:r>
            <a:endParaRPr lang="pt-BR" sz="1200">
              <a:solidFill>
                <a:srgbClr val="FFFF00"/>
              </a:solidFill>
              <a:cs typeface="Segoe UI"/>
            </a:endParaRPr>
          </a:p>
          <a:p>
            <a:r>
              <a:rPr lang="pt-BR" sz="1200" dirty="0">
                <a:solidFill>
                  <a:srgbClr val="FFFF00"/>
                </a:solidFill>
              </a:rPr>
              <a:t>.</a:t>
            </a:r>
            <a:r>
              <a:rPr lang="pt-BR" sz="1200" err="1">
                <a:solidFill>
                  <a:srgbClr val="FFFF00"/>
                </a:solidFill>
              </a:rPr>
              <a:t>env.local</a:t>
            </a:r>
            <a:endParaRPr lang="pt-BR" sz="1200">
              <a:solidFill>
                <a:srgbClr val="FFFF00"/>
              </a:solidFill>
              <a:cs typeface="Segoe UI"/>
            </a:endParaRPr>
          </a:p>
          <a:p>
            <a:r>
              <a:rPr lang="pt-BR" sz="1200" dirty="0">
                <a:solidFill>
                  <a:srgbClr val="FFFF00"/>
                </a:solidFill>
              </a:rPr>
              <a:t>.</a:t>
            </a:r>
            <a:r>
              <a:rPr lang="pt-BR" sz="1200" err="1">
                <a:solidFill>
                  <a:srgbClr val="FFFF00"/>
                </a:solidFill>
              </a:rPr>
              <a:t>env.production</a:t>
            </a:r>
            <a:endParaRPr lang="pt-BR" sz="1200" dirty="0">
              <a:solidFill>
                <a:srgbClr val="FFFF00"/>
              </a:solidFill>
              <a:cs typeface="Segoe UI"/>
            </a:endParaRPr>
          </a:p>
          <a:p>
            <a:endParaRPr lang="pt-BR" sz="1200" dirty="0">
              <a:solidFill>
                <a:srgbClr val="FFFF00"/>
              </a:solidFill>
              <a:cs typeface="Segoe UI"/>
            </a:endParaRPr>
          </a:p>
          <a:p>
            <a:r>
              <a:rPr lang="pt-BR" sz="1200" dirty="0">
                <a:solidFill>
                  <a:srgbClr val="FFFF00"/>
                </a:solidFill>
              </a:rPr>
              <a:t># Arquivos de build gerados automaticamente</a:t>
            </a:r>
            <a:endParaRPr lang="pt-BR" sz="1200" dirty="0">
              <a:solidFill>
                <a:srgbClr val="FFFF00"/>
              </a:solidFill>
              <a:cs typeface="Segoe UI"/>
            </a:endParaRPr>
          </a:p>
          <a:p>
            <a:r>
              <a:rPr lang="pt-BR" sz="1200" err="1">
                <a:solidFill>
                  <a:srgbClr val="FFFF00"/>
                </a:solidFill>
              </a:rPr>
              <a:t>dist</a:t>
            </a:r>
            <a:r>
              <a:rPr lang="pt-BR" sz="1200" dirty="0">
                <a:solidFill>
                  <a:srgbClr val="FFFF00"/>
                </a:solidFill>
              </a:rPr>
              <a:t>/</a:t>
            </a:r>
            <a:endParaRPr lang="pt-BR" sz="1200" dirty="0">
              <a:solidFill>
                <a:srgbClr val="FFFF00"/>
              </a:solidFill>
              <a:cs typeface="Segoe UI"/>
            </a:endParaRPr>
          </a:p>
          <a:p>
            <a:r>
              <a:rPr lang="pt-BR" sz="1200" dirty="0">
                <a:solidFill>
                  <a:srgbClr val="FFFF00"/>
                </a:solidFill>
              </a:rPr>
              <a:t>build/</a:t>
            </a:r>
            <a:endParaRPr lang="pt-BR" sz="1200" dirty="0">
              <a:solidFill>
                <a:srgbClr val="FFFF00"/>
              </a:solidFill>
              <a:cs typeface="Segoe UI"/>
            </a:endParaRPr>
          </a:p>
          <a:p>
            <a:endParaRPr lang="pt-BR" sz="1200" dirty="0">
              <a:solidFill>
                <a:srgbClr val="FFFF00"/>
              </a:solidFill>
              <a:cs typeface="Segoe UI"/>
            </a:endParaRPr>
          </a:p>
          <a:p>
            <a:r>
              <a:rPr lang="pt-BR" sz="1200" dirty="0">
                <a:solidFill>
                  <a:srgbClr val="FFFF00"/>
                </a:solidFill>
              </a:rPr>
              <a:t># Arquivos de sistema operacional</a:t>
            </a:r>
            <a:endParaRPr lang="pt-BR" sz="1200" dirty="0">
              <a:solidFill>
                <a:srgbClr val="FFFF00"/>
              </a:solidFill>
              <a:cs typeface="Segoe UI"/>
            </a:endParaRPr>
          </a:p>
          <a:p>
            <a:r>
              <a:rPr lang="pt-BR" sz="1200" dirty="0">
                <a:solidFill>
                  <a:srgbClr val="FFFF00"/>
                </a:solidFill>
              </a:rPr>
              <a:t>.</a:t>
            </a:r>
            <a:r>
              <a:rPr lang="pt-BR" sz="1200" err="1">
                <a:solidFill>
                  <a:srgbClr val="FFFF00"/>
                </a:solidFill>
              </a:rPr>
              <a:t>DS_Store</a:t>
            </a:r>
            <a:endParaRPr lang="pt-BR" sz="1200" dirty="0">
              <a:solidFill>
                <a:srgbClr val="FFFF00"/>
              </a:solidFill>
              <a:cs typeface="Segoe UI"/>
            </a:endParaRPr>
          </a:p>
          <a:p>
            <a:r>
              <a:rPr lang="pt-BR" sz="1200" dirty="0" err="1">
                <a:solidFill>
                  <a:srgbClr val="FFFF00"/>
                </a:solidFill>
              </a:rPr>
              <a:t>Thumbs.db</a:t>
            </a:r>
            <a:endParaRPr lang="pt-BR" sz="1200" dirty="0">
              <a:solidFill>
                <a:srgbClr val="FFFF00"/>
              </a:solidFill>
              <a:cs typeface="Segoe UI"/>
            </a:endParaRPr>
          </a:p>
          <a:p>
            <a:r>
              <a:rPr lang="pt-BR" sz="1200" dirty="0">
                <a:solidFill>
                  <a:srgbClr val="FFFF00"/>
                </a:solidFill>
              </a:rPr>
              <a:t>*.log</a:t>
            </a:r>
            <a:endParaRPr lang="pt-BR" sz="1200" dirty="0">
              <a:solidFill>
                <a:srgbClr val="FFFF00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510353496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BCFDC-2FE9-4D67-0003-0518A80C1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E362E9C0-6F8C-AAEA-F1D9-49FC470D961C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0A5E97A-AA88-C5E4-E51B-CA7A14BC15AC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 err="1">
                <a:solidFill>
                  <a:schemeClr val="accent3">
                    <a:lumMod val="49000"/>
                  </a:schemeClr>
                </a:solidFill>
                <a:cs typeface="Segoe UI"/>
              </a:rPr>
              <a:t>Gitignore</a:t>
            </a:r>
            <a:endParaRPr lang="pt-BR" sz="2000" dirty="0">
              <a:solidFill>
                <a:schemeClr val="accent3">
                  <a:lumMod val="49000"/>
                </a:schemeClr>
              </a:solidFill>
              <a:cs typeface="Segoe U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6BFBD17-DF76-DE05-7F1D-449B13D2A290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>
                <a:solidFill>
                  <a:schemeClr val="accent5"/>
                </a:solidFill>
              </a:rPr>
              <a:t>IMPORTANTE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54C1BAE-8380-A9BD-A8D2-D2DC9E7A97AF}"/>
              </a:ext>
            </a:extLst>
          </p:cNvPr>
          <p:cNvSpPr txBox="1"/>
          <p:nvPr/>
        </p:nvSpPr>
        <p:spPr>
          <a:xfrm>
            <a:off x="469033" y="2743200"/>
            <a:ext cx="11253933" cy="160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None/>
            </a:pPr>
            <a:r>
              <a:rPr lang="pt-BR" sz="2400" b="1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💡 Dica importante</a:t>
            </a:r>
          </a:p>
          <a:p>
            <a:pPr>
              <a:buNone/>
            </a:pPr>
            <a:r>
              <a:rPr lang="pt-BR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Configure o .</a:t>
            </a:r>
            <a:r>
              <a:rPr lang="pt-BR" sz="2400" b="1" dirty="0" err="1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gitignore</a:t>
            </a:r>
            <a:r>
              <a:rPr lang="pt-BR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ANTES do primeiro </a:t>
            </a:r>
            <a:r>
              <a:rPr lang="pt-BR" sz="2400" b="1" dirty="0" err="1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git</a:t>
            </a:r>
            <a:r>
              <a:rPr lang="pt-BR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pt-BR" sz="2400" b="1" dirty="0" err="1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add</a:t>
            </a:r>
            <a:r>
              <a:rPr lang="pt-BR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e </a:t>
            </a:r>
            <a:r>
              <a:rPr lang="pt-BR" sz="2400" b="1" dirty="0" err="1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git</a:t>
            </a:r>
            <a:r>
              <a:rPr lang="pt-BR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pt-BR" sz="2400" b="1" dirty="0" err="1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commit</a:t>
            </a:r>
            <a:r>
              <a:rPr lang="pt-BR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. Se você </a:t>
            </a:r>
            <a:r>
              <a:rPr lang="pt-BR" sz="2400" b="1" dirty="0" err="1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commitar</a:t>
            </a:r>
            <a:r>
              <a:rPr lang="pt-BR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 </a:t>
            </a:r>
            <a:r>
              <a:rPr lang="pt-BR" sz="2400" b="1" dirty="0" err="1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node_modules</a:t>
            </a:r>
            <a:r>
              <a:rPr lang="pt-BR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por acidente, removê-lo do histórico do </a:t>
            </a:r>
            <a:r>
              <a:rPr lang="pt-BR" sz="2400" b="1" dirty="0" err="1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Git</a:t>
            </a:r>
            <a:r>
              <a:rPr lang="pt-BR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é um processo trabalhoso. Crie o .</a:t>
            </a:r>
            <a:r>
              <a:rPr lang="pt-BR" sz="2400" b="1" dirty="0" err="1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gitignore</a:t>
            </a:r>
            <a:r>
              <a:rPr lang="pt-BR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como primeiro arquivo do projeto.</a:t>
            </a:r>
            <a:endParaRPr lang="pt-BR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672262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8D68CB-4A0F-5378-0EE6-BB2528EE1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962A1F2-D650-C84D-1438-118D0B0F4769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8185375-C272-2896-7EB8-D101AF3C55B2}"/>
              </a:ext>
            </a:extLst>
          </p:cNvPr>
          <p:cNvSpPr txBox="1"/>
          <p:nvPr/>
        </p:nvSpPr>
        <p:spPr>
          <a:xfrm>
            <a:off x="450848" y="269680"/>
            <a:ext cx="11873808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600" b="1" dirty="0" err="1">
                <a:solidFill>
                  <a:schemeClr val="bg1"/>
                </a:solidFill>
                <a:latin typeface="Segoe UI"/>
                <a:cs typeface="Segoe UI Semibold"/>
              </a:rPr>
              <a:t>Conventional</a:t>
            </a:r>
            <a:r>
              <a:rPr lang="pt-BR" sz="3600" b="1" dirty="0">
                <a:solidFill>
                  <a:schemeClr val="bg1"/>
                </a:solidFill>
                <a:latin typeface="Segoe UI"/>
                <a:cs typeface="Segoe UI Semibold"/>
              </a:rPr>
              <a:t> </a:t>
            </a:r>
            <a:r>
              <a:rPr lang="pt-BR" sz="3600" b="1" dirty="0" err="1">
                <a:solidFill>
                  <a:schemeClr val="bg1"/>
                </a:solidFill>
                <a:latin typeface="Segoe UI"/>
                <a:cs typeface="Segoe UI Semibold"/>
              </a:rPr>
              <a:t>commits</a:t>
            </a:r>
            <a:endParaRPr lang="pt-BR" sz="3600" b="1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5B022D7-93E5-6348-0292-44F2A2C2E15A}"/>
              </a:ext>
            </a:extLst>
          </p:cNvPr>
          <p:cNvSpPr txBox="1"/>
          <p:nvPr/>
        </p:nvSpPr>
        <p:spPr>
          <a:xfrm>
            <a:off x="424872" y="853848"/>
            <a:ext cx="6160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dirty="0">
                <a:solidFill>
                  <a:schemeClr val="accent4">
                    <a:lumMod val="75000"/>
                  </a:schemeClr>
                </a:solidFill>
                <a:latin typeface="Segoe UI Semibold"/>
                <a:cs typeface="Segoe UI Semibold"/>
              </a:rPr>
              <a:t> </a:t>
            </a:r>
            <a:r>
              <a:rPr lang="pt-BR" sz="2000" dirty="0" err="1">
                <a:solidFill>
                  <a:schemeClr val="accent4">
                    <a:lumMod val="75000"/>
                  </a:schemeClr>
                </a:solidFill>
                <a:latin typeface="Segoe UI Semibold"/>
                <a:cs typeface="Segoe UI Semibold"/>
              </a:rPr>
              <a:t>Traducao</a:t>
            </a:r>
            <a:endParaRPr lang="pt-BR" sz="2000" dirty="0">
              <a:solidFill>
                <a:schemeClr val="accent4">
                  <a:lumMod val="75000"/>
                </a:schemeClr>
              </a:solidFill>
              <a:latin typeface="Segoe UI Semibold"/>
              <a:cs typeface="Segoe UI Semibold"/>
            </a:endParaRPr>
          </a:p>
        </p:txBody>
      </p:sp>
      <p:pic>
        <p:nvPicPr>
          <p:cNvPr id="4" name="Gráfico 3" descr="Ábaco com preenchimento sólido">
            <a:extLst>
              <a:ext uri="{FF2B5EF4-FFF2-40B4-BE49-F238E27FC236}">
                <a16:creationId xmlns:a16="http://schemas.microsoft.com/office/drawing/2014/main" id="{D33F5754-2A2A-6D73-AB2A-B3C8FFAA8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0100" y="1253958"/>
            <a:ext cx="5041900" cy="504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206007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8B472-8418-C6A4-3DEC-B531553E3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1EC0F789-2ABB-482F-59BA-A7BAE34A3FC6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8940485-C5CE-7D14-D598-B6AEB6E1C167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  <a:cs typeface="Segoe UI"/>
              </a:rPr>
              <a:t>Padrão de mensagens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E52FE45-BC7B-C6F2-6524-F1767ADD71E9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 err="1">
                <a:solidFill>
                  <a:schemeClr val="accent5"/>
                </a:solidFill>
              </a:rPr>
              <a:t>Conventional</a:t>
            </a:r>
            <a:r>
              <a:rPr lang="pt-BR" sz="3200" b="1" dirty="0">
                <a:solidFill>
                  <a:schemeClr val="accent5"/>
                </a:solidFill>
              </a:rPr>
              <a:t> </a:t>
            </a:r>
            <a:r>
              <a:rPr lang="pt-BR" sz="3200" b="1" dirty="0" err="1">
                <a:solidFill>
                  <a:schemeClr val="accent5"/>
                </a:solidFill>
              </a:rPr>
              <a:t>Commits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F4B53DF-40DA-8504-BCBE-9EB61A4A6B5A}"/>
              </a:ext>
            </a:extLst>
          </p:cNvPr>
          <p:cNvSpPr txBox="1"/>
          <p:nvPr/>
        </p:nvSpPr>
        <p:spPr>
          <a:xfrm>
            <a:off x="450848" y="2112172"/>
            <a:ext cx="108960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 err="1">
                <a:solidFill>
                  <a:schemeClr val="accent5"/>
                </a:solidFill>
              </a:rPr>
              <a:t>Conventional</a:t>
            </a:r>
            <a:r>
              <a:rPr lang="pt-BR" sz="2400" b="1" dirty="0">
                <a:solidFill>
                  <a:schemeClr val="accent5"/>
                </a:solidFill>
              </a:rPr>
              <a:t> </a:t>
            </a:r>
            <a:r>
              <a:rPr lang="pt-BR" sz="2400" b="1" dirty="0" err="1">
                <a:solidFill>
                  <a:schemeClr val="accent5"/>
                </a:solidFill>
              </a:rPr>
              <a:t>Commits</a:t>
            </a:r>
            <a:r>
              <a:rPr lang="pt-BR" sz="2400" dirty="0">
                <a:solidFill>
                  <a:schemeClr val="accent5"/>
                </a:solidFill>
              </a:rPr>
              <a:t> são um padrão para escrever mensagens de </a:t>
            </a:r>
            <a:r>
              <a:rPr lang="pt-BR" sz="2400" dirty="0" err="1">
                <a:solidFill>
                  <a:schemeClr val="accent5"/>
                </a:solidFill>
              </a:rPr>
              <a:t>commit</a:t>
            </a:r>
            <a:r>
              <a:rPr lang="pt-BR" sz="2400" dirty="0">
                <a:solidFill>
                  <a:schemeClr val="accent5"/>
                </a:solidFill>
              </a:rPr>
              <a:t> de forma consistente, clara e padronizada. </a:t>
            </a:r>
          </a:p>
          <a:p>
            <a:endParaRPr lang="pt-BR" sz="2400" dirty="0">
              <a:solidFill>
                <a:schemeClr val="accent5"/>
              </a:solidFill>
            </a:endParaRPr>
          </a:p>
          <a:p>
            <a:r>
              <a:rPr lang="pt-BR" sz="2400" dirty="0">
                <a:solidFill>
                  <a:schemeClr val="accent5"/>
                </a:solidFill>
              </a:rPr>
              <a:t>Eles ajudam 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/>
                </a:solidFill>
              </a:rPr>
              <a:t>Entender rapidamente o que mudou no código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/>
                </a:solidFill>
              </a:rPr>
              <a:t>Automatizar versionamento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/>
                </a:solidFill>
              </a:rPr>
              <a:t>Facilitar revisão de código (</a:t>
            </a:r>
            <a:r>
              <a:rPr lang="pt-BR" sz="2400" dirty="0" err="1">
                <a:solidFill>
                  <a:schemeClr val="accent5"/>
                </a:solidFill>
              </a:rPr>
              <a:t>code</a:t>
            </a:r>
            <a:r>
              <a:rPr lang="pt-BR" sz="2400" dirty="0">
                <a:solidFill>
                  <a:schemeClr val="accent5"/>
                </a:solidFill>
              </a:rPr>
              <a:t> review)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/>
                </a:solidFill>
              </a:rPr>
              <a:t>Manter o histórico limpo e organizado</a:t>
            </a:r>
          </a:p>
        </p:txBody>
      </p:sp>
    </p:spTree>
    <p:extLst>
      <p:ext uri="{BB962C8B-B14F-4D97-AF65-F5344CB8AC3E}">
        <p14:creationId xmlns:p14="http://schemas.microsoft.com/office/powerpoint/2010/main" val="1562199342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611EE-4711-2198-5600-93A676685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B8122FBE-511A-6940-0DA3-DE49873FBECB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CBD7BC9-8FFC-52BE-0E0C-7F9EB3474C5A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  <a:cs typeface="Segoe UI"/>
              </a:rPr>
              <a:t>Formato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37CFC52-7557-6981-C43A-2766C838B086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 err="1">
                <a:solidFill>
                  <a:schemeClr val="accent5"/>
                </a:solidFill>
              </a:rPr>
              <a:t>Conventional</a:t>
            </a:r>
            <a:r>
              <a:rPr lang="pt-BR" sz="3200" b="1" dirty="0">
                <a:solidFill>
                  <a:schemeClr val="accent5"/>
                </a:solidFill>
              </a:rPr>
              <a:t> </a:t>
            </a:r>
            <a:r>
              <a:rPr lang="pt-BR" sz="3200" b="1" dirty="0" err="1">
                <a:solidFill>
                  <a:schemeClr val="accent5"/>
                </a:solidFill>
              </a:rPr>
              <a:t>Commits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BA62815-74C2-B39A-B4AC-E35B5F8301BF}"/>
              </a:ext>
            </a:extLst>
          </p:cNvPr>
          <p:cNvSpPr txBox="1"/>
          <p:nvPr/>
        </p:nvSpPr>
        <p:spPr>
          <a:xfrm>
            <a:off x="450848" y="1547569"/>
            <a:ext cx="1134987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5"/>
                </a:solidFill>
              </a:rPr>
              <a:t>A estrutura básica é:</a:t>
            </a:r>
          </a:p>
          <a:p>
            <a:r>
              <a:rPr lang="pt-BR" sz="2400" i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&lt;tipo&gt;(escopo opcional): &lt;descrição curta&gt;</a:t>
            </a:r>
          </a:p>
          <a:p>
            <a:endParaRPr lang="pt-BR" sz="2400" b="1" dirty="0">
              <a:solidFill>
                <a:schemeClr val="accent5"/>
              </a:solidFill>
            </a:endParaRPr>
          </a:p>
          <a:p>
            <a:r>
              <a:rPr lang="pt-BR" sz="2400" b="1" dirty="0">
                <a:solidFill>
                  <a:schemeClr val="accent5"/>
                </a:solidFill>
              </a:rPr>
              <a:t>Ao invés de escrever :</a:t>
            </a:r>
            <a:endParaRPr lang="pt-BR" sz="2400" dirty="0">
              <a:solidFill>
                <a:schemeClr val="accent5"/>
              </a:solidFill>
              <a:ea typeface="Arial" panose="020B0604020202020204" pitchFamily="34" charset="0"/>
            </a:endParaRPr>
          </a:p>
          <a:p>
            <a:endParaRPr lang="pt-BR" sz="2400" dirty="0">
              <a:solidFill>
                <a:schemeClr val="accent5"/>
              </a:solidFill>
            </a:endParaRPr>
          </a:p>
          <a:p>
            <a:endParaRPr lang="pt-BR" sz="2400" dirty="0">
              <a:solidFill>
                <a:schemeClr val="accent5"/>
              </a:solidFill>
            </a:endParaRPr>
          </a:p>
          <a:p>
            <a:r>
              <a:rPr lang="pt-BR" sz="2400" b="1" dirty="0">
                <a:solidFill>
                  <a:schemeClr val="accent5"/>
                </a:solidFill>
              </a:rPr>
              <a:t>Escrevemos :</a:t>
            </a:r>
          </a:p>
          <a:p>
            <a:endParaRPr lang="pt-BR" sz="2400" b="1" dirty="0">
              <a:solidFill>
                <a:schemeClr val="accent5"/>
              </a:solidFill>
            </a:endParaRPr>
          </a:p>
          <a:p>
            <a:endParaRPr lang="pt-BR" sz="2400" b="1" dirty="0">
              <a:solidFill>
                <a:schemeClr val="accent5"/>
              </a:solidFill>
            </a:endParaRPr>
          </a:p>
          <a:p>
            <a:endParaRPr lang="pt-BR" sz="2400" b="1" dirty="0">
              <a:solidFill>
                <a:schemeClr val="accent5"/>
              </a:solidFill>
            </a:endParaRPr>
          </a:p>
          <a:p>
            <a:endParaRPr lang="pt-BR" sz="2400" b="1" dirty="0">
              <a:solidFill>
                <a:schemeClr val="accent5"/>
              </a:solidFill>
            </a:endParaRPr>
          </a:p>
          <a:p>
            <a:r>
              <a:rPr lang="pt-BR" sz="2400" b="1" dirty="0">
                <a:solidFill>
                  <a:schemeClr val="accent5"/>
                </a:solidFill>
              </a:rPr>
              <a:t>Outros exemplos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/>
                </a:solidFill>
              </a:rPr>
              <a:t>feat: adiciona cálculo de juros compostos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err="1">
                <a:solidFill>
                  <a:schemeClr val="accent5"/>
                </a:solidFill>
              </a:rPr>
              <a:t>docs</a:t>
            </a:r>
            <a:r>
              <a:rPr lang="pt-BR" sz="2400" dirty="0">
                <a:solidFill>
                  <a:schemeClr val="accent5"/>
                </a:solidFill>
              </a:rPr>
              <a:t>: atualiza documentação da API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2134554-FDCA-C1B1-E364-6509020448F7}"/>
              </a:ext>
            </a:extLst>
          </p:cNvPr>
          <p:cNvSpPr/>
          <p:nvPr/>
        </p:nvSpPr>
        <p:spPr>
          <a:xfrm>
            <a:off x="536384" y="3261558"/>
            <a:ext cx="5005717" cy="3348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600" dirty="0">
                <a:solidFill>
                  <a:srgbClr val="FFFF00"/>
                </a:solidFill>
              </a:rPr>
              <a:t>$ </a:t>
            </a:r>
            <a:r>
              <a:rPr lang="pt-BR" sz="1600" dirty="0" err="1">
                <a:solidFill>
                  <a:srgbClr val="FFFF00"/>
                </a:solidFill>
              </a:rPr>
              <a:t>git</a:t>
            </a:r>
            <a:r>
              <a:rPr lang="pt-BR" sz="1600" dirty="0">
                <a:solidFill>
                  <a:srgbClr val="FFFF00"/>
                </a:solidFill>
              </a:rPr>
              <a:t> </a:t>
            </a:r>
            <a:r>
              <a:rPr lang="pt-BR" sz="1600" dirty="0" err="1">
                <a:solidFill>
                  <a:srgbClr val="FFFF00"/>
                </a:solidFill>
              </a:rPr>
              <a:t>commit</a:t>
            </a:r>
            <a:r>
              <a:rPr lang="pt-BR" sz="1600" dirty="0">
                <a:solidFill>
                  <a:srgbClr val="FFFF00"/>
                </a:solidFill>
              </a:rPr>
              <a:t> -m "</a:t>
            </a:r>
            <a:r>
              <a:rPr lang="pt-BR" sz="1600" dirty="0">
                <a:solidFill>
                  <a:srgbClr val="FFFF00"/>
                </a:solidFill>
                <a:ea typeface="Arial" panose="020B0604020202020204" pitchFamily="34" charset="0"/>
              </a:rPr>
              <a:t> Corrige bug de login </a:t>
            </a:r>
            <a:r>
              <a:rPr lang="pt-BR" sz="1600" dirty="0">
                <a:solidFill>
                  <a:srgbClr val="FFFF00"/>
                </a:solidFill>
              </a:rPr>
              <a:t>"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85D8D50-E1DF-20D8-B29E-AAF334C39015}"/>
              </a:ext>
            </a:extLst>
          </p:cNvPr>
          <p:cNvSpPr/>
          <p:nvPr/>
        </p:nvSpPr>
        <p:spPr>
          <a:xfrm>
            <a:off x="536382" y="4179058"/>
            <a:ext cx="5005717" cy="3348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600" dirty="0">
                <a:solidFill>
                  <a:srgbClr val="FFFF00"/>
                </a:solidFill>
              </a:rPr>
              <a:t>$ </a:t>
            </a:r>
            <a:r>
              <a:rPr lang="pt-BR" sz="1600" dirty="0" err="1">
                <a:solidFill>
                  <a:srgbClr val="FFFF00"/>
                </a:solidFill>
              </a:rPr>
              <a:t>git</a:t>
            </a:r>
            <a:r>
              <a:rPr lang="pt-BR" sz="1600" dirty="0">
                <a:solidFill>
                  <a:srgbClr val="FFFF00"/>
                </a:solidFill>
              </a:rPr>
              <a:t> </a:t>
            </a:r>
            <a:r>
              <a:rPr lang="pt-BR" sz="1600" dirty="0" err="1">
                <a:solidFill>
                  <a:srgbClr val="FFFF00"/>
                </a:solidFill>
              </a:rPr>
              <a:t>commit</a:t>
            </a:r>
            <a:r>
              <a:rPr lang="pt-BR" sz="1600" dirty="0">
                <a:solidFill>
                  <a:srgbClr val="FFFF00"/>
                </a:solidFill>
              </a:rPr>
              <a:t> -m “</a:t>
            </a:r>
            <a:r>
              <a:rPr lang="pt-BR" sz="1600" dirty="0" err="1">
                <a:solidFill>
                  <a:srgbClr val="FFFF00"/>
                </a:solidFill>
              </a:rPr>
              <a:t>fix</a:t>
            </a:r>
            <a:r>
              <a:rPr lang="pt-BR" sz="1600" dirty="0">
                <a:solidFill>
                  <a:srgbClr val="FFFF00"/>
                </a:solidFill>
              </a:rPr>
              <a:t>: </a:t>
            </a:r>
            <a:r>
              <a:rPr lang="pt-BR" sz="1600" dirty="0">
                <a:solidFill>
                  <a:srgbClr val="FFFF00"/>
                </a:solidFill>
                <a:ea typeface="Arial" panose="020B0604020202020204" pitchFamily="34" charset="0"/>
              </a:rPr>
              <a:t>Corrige bug de login </a:t>
            </a:r>
            <a:r>
              <a:rPr lang="pt-BR" sz="1600" dirty="0">
                <a:solidFill>
                  <a:srgbClr val="FFFF00"/>
                </a:solidFill>
              </a:rPr>
              <a:t>"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17D7548-1FD2-4319-B4D7-60DDA7896E78}"/>
              </a:ext>
            </a:extLst>
          </p:cNvPr>
          <p:cNvSpPr/>
          <p:nvPr/>
        </p:nvSpPr>
        <p:spPr>
          <a:xfrm>
            <a:off x="536381" y="4577303"/>
            <a:ext cx="5005717" cy="3348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600" dirty="0">
                <a:solidFill>
                  <a:srgbClr val="FFFF00"/>
                </a:solidFill>
              </a:rPr>
              <a:t>$ </a:t>
            </a:r>
            <a:r>
              <a:rPr lang="pt-BR" sz="1600" dirty="0" err="1">
                <a:solidFill>
                  <a:srgbClr val="FFFF00"/>
                </a:solidFill>
              </a:rPr>
              <a:t>git</a:t>
            </a:r>
            <a:r>
              <a:rPr lang="pt-BR" sz="1600" dirty="0">
                <a:solidFill>
                  <a:srgbClr val="FFFF00"/>
                </a:solidFill>
              </a:rPr>
              <a:t> </a:t>
            </a:r>
            <a:r>
              <a:rPr lang="pt-BR" sz="1600" dirty="0" err="1">
                <a:solidFill>
                  <a:srgbClr val="FFFF00"/>
                </a:solidFill>
              </a:rPr>
              <a:t>commit</a:t>
            </a:r>
            <a:r>
              <a:rPr lang="pt-BR" sz="1600" dirty="0">
                <a:solidFill>
                  <a:srgbClr val="FFFF00"/>
                </a:solidFill>
              </a:rPr>
              <a:t> -m “</a:t>
            </a:r>
            <a:r>
              <a:rPr lang="pt-BR" sz="1600" dirty="0" err="1">
                <a:solidFill>
                  <a:srgbClr val="FFFF00"/>
                </a:solidFill>
              </a:rPr>
              <a:t>fix</a:t>
            </a:r>
            <a:r>
              <a:rPr lang="pt-BR" sz="1600" dirty="0">
                <a:solidFill>
                  <a:srgbClr val="FFFF00"/>
                </a:solidFill>
              </a:rPr>
              <a:t>(login.js): </a:t>
            </a:r>
            <a:r>
              <a:rPr lang="pt-BR" sz="1600" dirty="0">
                <a:solidFill>
                  <a:srgbClr val="FFFF00"/>
                </a:solidFill>
                <a:ea typeface="Arial" panose="020B0604020202020204" pitchFamily="34" charset="0"/>
              </a:rPr>
              <a:t>Corrige bug de login </a:t>
            </a:r>
            <a:r>
              <a:rPr lang="pt-BR" sz="1600" dirty="0">
                <a:solidFill>
                  <a:srgbClr val="FFFF00"/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490447518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4C00E-B249-5AB3-EB62-5C24AF44B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FBFC8BD-3D86-1BF9-C318-2F0E0880ECFD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4F3B3D7-7367-DC84-36EA-97E0AD6F2EE1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  <a:cs typeface="Segoe UI"/>
              </a:rPr>
              <a:t>Formato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264BDEC-FDB8-471E-5A5F-027D9A6E5400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 err="1">
                <a:solidFill>
                  <a:schemeClr val="accent5"/>
                </a:solidFill>
              </a:rPr>
              <a:t>Conventional</a:t>
            </a:r>
            <a:r>
              <a:rPr lang="pt-BR" sz="3200" b="1" dirty="0">
                <a:solidFill>
                  <a:schemeClr val="accent5"/>
                </a:solidFill>
              </a:rPr>
              <a:t> </a:t>
            </a:r>
            <a:r>
              <a:rPr lang="pt-BR" sz="3200" b="1" dirty="0" err="1">
                <a:solidFill>
                  <a:schemeClr val="accent5"/>
                </a:solidFill>
              </a:rPr>
              <a:t>Commits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4D179C74-153E-6879-AD4A-6FE06EBB9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546382"/>
              </p:ext>
            </p:extLst>
          </p:nvPr>
        </p:nvGraphicFramePr>
        <p:xfrm>
          <a:off x="279787" y="1820072"/>
          <a:ext cx="11632426" cy="4549368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1045870">
                  <a:extLst>
                    <a:ext uri="{9D8B030D-6E8A-4147-A177-3AD203B41FA5}">
                      <a16:colId xmlns:a16="http://schemas.microsoft.com/office/drawing/2014/main" val="4170129607"/>
                    </a:ext>
                  </a:extLst>
                </a:gridCol>
                <a:gridCol w="5083611">
                  <a:extLst>
                    <a:ext uri="{9D8B030D-6E8A-4147-A177-3AD203B41FA5}">
                      <a16:colId xmlns:a16="http://schemas.microsoft.com/office/drawing/2014/main" val="4167643843"/>
                    </a:ext>
                  </a:extLst>
                </a:gridCol>
                <a:gridCol w="5502945">
                  <a:extLst>
                    <a:ext uri="{9D8B030D-6E8A-4147-A177-3AD203B41FA5}">
                      <a16:colId xmlns:a16="http://schemas.microsoft.com/office/drawing/2014/main" val="1900819913"/>
                    </a:ext>
                  </a:extLst>
                </a:gridCol>
              </a:tblGrid>
              <a:tr h="1483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pt-BR" sz="1600" b="1" dirty="0">
                          <a:effectLst/>
                        </a:rPr>
                        <a:t>Tipo</a:t>
                      </a:r>
                    </a:p>
                  </a:txBody>
                  <a:tcPr marL="28276" marR="28276" marT="14138" marB="1413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pt-BR" sz="1600" b="1">
                          <a:effectLst/>
                        </a:rPr>
                        <a:t>Quando usar</a:t>
                      </a:r>
                    </a:p>
                  </a:txBody>
                  <a:tcPr marL="28276" marR="28276" marT="14138" marB="1413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pt-BR" sz="1600" b="1" dirty="0">
                          <a:effectLst/>
                        </a:rPr>
                        <a:t>Exemplo</a:t>
                      </a:r>
                    </a:p>
                  </a:txBody>
                  <a:tcPr marL="28276" marR="28276" marT="14138" marB="14138" anchor="ctr"/>
                </a:tc>
                <a:extLst>
                  <a:ext uri="{0D108BD9-81ED-4DB2-BD59-A6C34878D82A}">
                    <a16:rowId xmlns:a16="http://schemas.microsoft.com/office/drawing/2014/main" val="2685048430"/>
                  </a:ext>
                </a:extLst>
              </a:tr>
              <a:tr h="26161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1" dirty="0">
                          <a:solidFill>
                            <a:schemeClr val="accent5"/>
                          </a:solidFill>
                          <a:effectLst/>
                        </a:rPr>
                        <a:t>feat</a:t>
                      </a:r>
                    </a:p>
                  </a:txBody>
                  <a:tcPr marL="28276" marR="28276" marT="14138" marB="141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0" dirty="0">
                          <a:effectLst/>
                        </a:rPr>
                        <a:t>Quando adiciona uma nova funcionalidade</a:t>
                      </a:r>
                    </a:p>
                  </a:txBody>
                  <a:tcPr marL="28276" marR="28276" marT="14138" marB="141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0">
                          <a:effectLst/>
                        </a:rPr>
                        <a:t>feat: adiciona endpoint de criação de usuário</a:t>
                      </a:r>
                    </a:p>
                  </a:txBody>
                  <a:tcPr marL="28276" marR="28276" marT="14138" marB="14138" anchor="ctr"/>
                </a:tc>
                <a:extLst>
                  <a:ext uri="{0D108BD9-81ED-4DB2-BD59-A6C34878D82A}">
                    <a16:rowId xmlns:a16="http://schemas.microsoft.com/office/drawing/2014/main" val="842913863"/>
                  </a:ext>
                </a:extLst>
              </a:tr>
              <a:tr h="26161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1" dirty="0" err="1">
                          <a:solidFill>
                            <a:schemeClr val="accent5"/>
                          </a:solidFill>
                          <a:effectLst/>
                        </a:rPr>
                        <a:t>fix</a:t>
                      </a:r>
                      <a:endParaRPr lang="pt-BR" sz="16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28276" marR="28276" marT="14138" marB="141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0" dirty="0">
                          <a:effectLst/>
                        </a:rPr>
                        <a:t>Quando corrige um bug</a:t>
                      </a:r>
                    </a:p>
                  </a:txBody>
                  <a:tcPr marL="28276" marR="28276" marT="14138" marB="141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0">
                          <a:effectLst/>
                        </a:rPr>
                        <a:t>fix: corrige erro de validação no CPF</a:t>
                      </a:r>
                    </a:p>
                  </a:txBody>
                  <a:tcPr marL="28276" marR="28276" marT="14138" marB="14138" anchor="ctr"/>
                </a:tc>
                <a:extLst>
                  <a:ext uri="{0D108BD9-81ED-4DB2-BD59-A6C34878D82A}">
                    <a16:rowId xmlns:a16="http://schemas.microsoft.com/office/drawing/2014/main" val="220940204"/>
                  </a:ext>
                </a:extLst>
              </a:tr>
              <a:tr h="26161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1" dirty="0" err="1">
                          <a:solidFill>
                            <a:schemeClr val="accent5"/>
                          </a:solidFill>
                          <a:effectLst/>
                        </a:rPr>
                        <a:t>docs</a:t>
                      </a:r>
                      <a:endParaRPr lang="pt-BR" sz="16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28276" marR="28276" marT="14138" marB="141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0" dirty="0">
                          <a:effectLst/>
                        </a:rPr>
                        <a:t>Alterações apenas na documentação</a:t>
                      </a:r>
                    </a:p>
                  </a:txBody>
                  <a:tcPr marL="28276" marR="28276" marT="14138" marB="141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0">
                          <a:effectLst/>
                        </a:rPr>
                        <a:t>docs: atualiza README com instruções de instalação</a:t>
                      </a:r>
                    </a:p>
                  </a:txBody>
                  <a:tcPr marL="28276" marR="28276" marT="14138" marB="14138" anchor="ctr"/>
                </a:tc>
                <a:extLst>
                  <a:ext uri="{0D108BD9-81ED-4DB2-BD59-A6C34878D82A}">
                    <a16:rowId xmlns:a16="http://schemas.microsoft.com/office/drawing/2014/main" val="2654264117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1" dirty="0" err="1">
                          <a:solidFill>
                            <a:schemeClr val="accent5"/>
                          </a:solidFill>
                          <a:effectLst/>
                        </a:rPr>
                        <a:t>style</a:t>
                      </a:r>
                      <a:endParaRPr lang="pt-BR" sz="16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28276" marR="28276" marT="14138" marB="141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0" dirty="0">
                          <a:effectLst/>
                        </a:rPr>
                        <a:t>Mudanças que não alteram lógica (formatação, espaços, ponto e vírgula)</a:t>
                      </a:r>
                    </a:p>
                  </a:txBody>
                  <a:tcPr marL="28276" marR="28276" marT="14138" marB="141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0">
                          <a:effectLst/>
                        </a:rPr>
                        <a:t>style: ajusta indentação do arquivo</a:t>
                      </a:r>
                    </a:p>
                  </a:txBody>
                  <a:tcPr marL="28276" marR="28276" marT="14138" marB="14138" anchor="ctr"/>
                </a:tc>
                <a:extLst>
                  <a:ext uri="{0D108BD9-81ED-4DB2-BD59-A6C34878D82A}">
                    <a16:rowId xmlns:a16="http://schemas.microsoft.com/office/drawing/2014/main" val="1101626070"/>
                  </a:ext>
                </a:extLst>
              </a:tr>
              <a:tr h="26161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1" dirty="0" err="1">
                          <a:solidFill>
                            <a:schemeClr val="accent5"/>
                          </a:solidFill>
                          <a:effectLst/>
                        </a:rPr>
                        <a:t>refactor</a:t>
                      </a:r>
                      <a:endParaRPr lang="pt-BR" sz="16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28276" marR="28276" marT="14138" marB="141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0" dirty="0">
                          <a:effectLst/>
                        </a:rPr>
                        <a:t>Refatoração sem alterar comportamento</a:t>
                      </a:r>
                    </a:p>
                  </a:txBody>
                  <a:tcPr marL="28276" marR="28276" marT="14138" marB="141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0">
                          <a:effectLst/>
                        </a:rPr>
                        <a:t>refactor: simplifica função de cálculo</a:t>
                      </a:r>
                    </a:p>
                  </a:txBody>
                  <a:tcPr marL="28276" marR="28276" marT="14138" marB="14138" anchor="ctr"/>
                </a:tc>
                <a:extLst>
                  <a:ext uri="{0D108BD9-81ED-4DB2-BD59-A6C34878D82A}">
                    <a16:rowId xmlns:a16="http://schemas.microsoft.com/office/drawing/2014/main" val="3694345197"/>
                  </a:ext>
                </a:extLst>
              </a:tr>
              <a:tr h="26161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1" dirty="0" err="1">
                          <a:solidFill>
                            <a:schemeClr val="accent5"/>
                          </a:solidFill>
                          <a:effectLst/>
                        </a:rPr>
                        <a:t>test</a:t>
                      </a:r>
                      <a:endParaRPr lang="pt-BR" sz="16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28276" marR="28276" marT="14138" marB="141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0">
                          <a:effectLst/>
                        </a:rPr>
                        <a:t>Adição ou ajuste de testes</a:t>
                      </a:r>
                    </a:p>
                  </a:txBody>
                  <a:tcPr marL="28276" marR="28276" marT="14138" marB="141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0">
                          <a:effectLst/>
                        </a:rPr>
                        <a:t>test: adiciona testes para serviço de login</a:t>
                      </a:r>
                    </a:p>
                  </a:txBody>
                  <a:tcPr marL="28276" marR="28276" marT="14138" marB="14138" anchor="ctr"/>
                </a:tc>
                <a:extLst>
                  <a:ext uri="{0D108BD9-81ED-4DB2-BD59-A6C34878D82A}">
                    <a16:rowId xmlns:a16="http://schemas.microsoft.com/office/drawing/2014/main" val="3383553734"/>
                  </a:ext>
                </a:extLst>
              </a:tr>
              <a:tr h="26161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1">
                          <a:solidFill>
                            <a:schemeClr val="accent5"/>
                          </a:solidFill>
                          <a:effectLst/>
                        </a:rPr>
                        <a:t>chore</a:t>
                      </a:r>
                    </a:p>
                  </a:txBody>
                  <a:tcPr marL="28276" marR="28276" marT="14138" marB="141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0" dirty="0">
                          <a:effectLst/>
                        </a:rPr>
                        <a:t>Tarefas de manutenção (build, </a:t>
                      </a:r>
                      <a:r>
                        <a:rPr lang="pt-BR" sz="1600" b="0" dirty="0" err="1">
                          <a:effectLst/>
                        </a:rPr>
                        <a:t>configs</a:t>
                      </a:r>
                      <a:r>
                        <a:rPr lang="pt-BR" sz="1600" b="0" dirty="0">
                          <a:effectLst/>
                        </a:rPr>
                        <a:t>, dependências)</a:t>
                      </a:r>
                    </a:p>
                  </a:txBody>
                  <a:tcPr marL="28276" marR="28276" marT="14138" marB="141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0">
                          <a:effectLst/>
                        </a:rPr>
                        <a:t>chore: atualiza dependências do projeto</a:t>
                      </a:r>
                    </a:p>
                  </a:txBody>
                  <a:tcPr marL="28276" marR="28276" marT="14138" marB="14138" anchor="ctr"/>
                </a:tc>
                <a:extLst>
                  <a:ext uri="{0D108BD9-81ED-4DB2-BD59-A6C34878D82A}">
                    <a16:rowId xmlns:a16="http://schemas.microsoft.com/office/drawing/2014/main" val="2056874052"/>
                  </a:ext>
                </a:extLst>
              </a:tr>
              <a:tr h="14832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1" dirty="0" err="1">
                          <a:solidFill>
                            <a:schemeClr val="accent5"/>
                          </a:solidFill>
                          <a:effectLst/>
                        </a:rPr>
                        <a:t>perf</a:t>
                      </a:r>
                      <a:endParaRPr lang="pt-BR" sz="16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28276" marR="28276" marT="14138" marB="141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0">
                          <a:effectLst/>
                        </a:rPr>
                        <a:t>Melhorias de performance</a:t>
                      </a:r>
                    </a:p>
                  </a:txBody>
                  <a:tcPr marL="28276" marR="28276" marT="14138" marB="141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0">
                          <a:effectLst/>
                        </a:rPr>
                        <a:t>perf: otimiza consulta ao banco</a:t>
                      </a:r>
                    </a:p>
                  </a:txBody>
                  <a:tcPr marL="28276" marR="28276" marT="14138" marB="14138" anchor="ctr"/>
                </a:tc>
                <a:extLst>
                  <a:ext uri="{0D108BD9-81ED-4DB2-BD59-A6C34878D82A}">
                    <a16:rowId xmlns:a16="http://schemas.microsoft.com/office/drawing/2014/main" val="3943669334"/>
                  </a:ext>
                </a:extLst>
              </a:tr>
              <a:tr h="26161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1" dirty="0" err="1">
                          <a:solidFill>
                            <a:schemeClr val="accent5"/>
                          </a:solidFill>
                          <a:effectLst/>
                        </a:rPr>
                        <a:t>ci</a:t>
                      </a:r>
                      <a:endParaRPr lang="pt-BR" sz="16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28276" marR="28276" marT="14138" marB="141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0">
                          <a:effectLst/>
                        </a:rPr>
                        <a:t>Alterações em pipelines de CI/CD</a:t>
                      </a:r>
                    </a:p>
                  </a:txBody>
                  <a:tcPr marL="28276" marR="28276" marT="14138" marB="141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ci: </a:t>
                      </a:r>
                      <a:r>
                        <a:rPr lang="en-US" sz="1600" b="0" dirty="0" err="1">
                          <a:effectLst/>
                        </a:rPr>
                        <a:t>ajusta</a:t>
                      </a:r>
                      <a:r>
                        <a:rPr lang="en-US" sz="1600" b="0" dirty="0">
                          <a:effectLst/>
                        </a:rPr>
                        <a:t> workflow do GitHub Actions</a:t>
                      </a:r>
                    </a:p>
                  </a:txBody>
                  <a:tcPr marL="28276" marR="28276" marT="14138" marB="14138" anchor="ctr"/>
                </a:tc>
                <a:extLst>
                  <a:ext uri="{0D108BD9-81ED-4DB2-BD59-A6C34878D82A}">
                    <a16:rowId xmlns:a16="http://schemas.microsoft.com/office/drawing/2014/main" val="4196029932"/>
                  </a:ext>
                </a:extLst>
              </a:tr>
              <a:tr h="26161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1" dirty="0">
                          <a:solidFill>
                            <a:schemeClr val="accent5"/>
                          </a:solidFill>
                          <a:effectLst/>
                        </a:rPr>
                        <a:t>build</a:t>
                      </a:r>
                    </a:p>
                  </a:txBody>
                  <a:tcPr marL="28276" marR="28276" marT="14138" marB="141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0" dirty="0">
                          <a:effectLst/>
                        </a:rPr>
                        <a:t>Mudanças no sistema de build ou dependências</a:t>
                      </a:r>
                    </a:p>
                  </a:txBody>
                  <a:tcPr marL="28276" marR="28276" marT="14138" marB="141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0">
                          <a:effectLst/>
                        </a:rPr>
                        <a:t>build: adiciona webpack ao projeto</a:t>
                      </a:r>
                    </a:p>
                  </a:txBody>
                  <a:tcPr marL="28276" marR="28276" marT="14138" marB="14138" anchor="ctr"/>
                </a:tc>
                <a:extLst>
                  <a:ext uri="{0D108BD9-81ED-4DB2-BD59-A6C34878D82A}">
                    <a16:rowId xmlns:a16="http://schemas.microsoft.com/office/drawing/2014/main" val="979868050"/>
                  </a:ext>
                </a:extLst>
              </a:tr>
              <a:tr h="14832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1" dirty="0" err="1">
                          <a:solidFill>
                            <a:schemeClr val="accent5"/>
                          </a:solidFill>
                          <a:effectLst/>
                        </a:rPr>
                        <a:t>revert</a:t>
                      </a:r>
                      <a:endParaRPr lang="pt-BR" sz="16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28276" marR="28276" marT="14138" marB="141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0">
                          <a:effectLst/>
                        </a:rPr>
                        <a:t>Reversão de um commit anterior</a:t>
                      </a:r>
                    </a:p>
                  </a:txBody>
                  <a:tcPr marL="28276" marR="28276" marT="14138" marB="141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pt-BR" sz="1600" b="0" dirty="0" err="1">
                          <a:effectLst/>
                        </a:rPr>
                        <a:t>revert</a:t>
                      </a:r>
                      <a:r>
                        <a:rPr lang="pt-BR" sz="1600" b="0" dirty="0">
                          <a:effectLst/>
                        </a:rPr>
                        <a:t>: desfaz </a:t>
                      </a:r>
                      <a:r>
                        <a:rPr lang="pt-BR" sz="1600" b="0" dirty="0" err="1">
                          <a:effectLst/>
                        </a:rPr>
                        <a:t>commit</a:t>
                      </a:r>
                      <a:r>
                        <a:rPr lang="pt-BR" sz="1600" b="0" dirty="0">
                          <a:effectLst/>
                        </a:rPr>
                        <a:t> </a:t>
                      </a:r>
                    </a:p>
                  </a:txBody>
                  <a:tcPr marL="28276" marR="28276" marT="14138" marB="14138" anchor="ctr"/>
                </a:tc>
                <a:extLst>
                  <a:ext uri="{0D108BD9-81ED-4DB2-BD59-A6C34878D82A}">
                    <a16:rowId xmlns:a16="http://schemas.microsoft.com/office/drawing/2014/main" val="4282353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40950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3A91FA-FB85-3B1D-4123-FF9451D96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06A7792-70FB-2F7E-B77B-C9B383EC9E16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C3BFEB2-7FF9-1D54-DE21-19EB57169BCF}"/>
              </a:ext>
            </a:extLst>
          </p:cNvPr>
          <p:cNvSpPr txBox="1"/>
          <p:nvPr/>
        </p:nvSpPr>
        <p:spPr>
          <a:xfrm>
            <a:off x="450848" y="269680"/>
            <a:ext cx="11873808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latin typeface="Segoe UI"/>
                <a:cs typeface="Segoe UI Semibold"/>
              </a:rPr>
              <a:t>Erros comuns</a:t>
            </a:r>
            <a:endParaRPr lang="pt-BR" sz="3600" b="1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348CC67-2FC2-2D0C-12FB-6775899D2062}"/>
              </a:ext>
            </a:extLst>
          </p:cNvPr>
          <p:cNvSpPr txBox="1"/>
          <p:nvPr/>
        </p:nvSpPr>
        <p:spPr>
          <a:xfrm>
            <a:off x="424872" y="853848"/>
            <a:ext cx="6160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dirty="0">
                <a:solidFill>
                  <a:schemeClr val="accent4">
                    <a:lumMod val="75000"/>
                  </a:schemeClr>
                </a:solidFill>
                <a:latin typeface="Segoe UI Semibold"/>
                <a:cs typeface="Segoe UI Semibold"/>
              </a:rPr>
              <a:t> </a:t>
            </a:r>
            <a:r>
              <a:rPr lang="pt-BR" sz="2000" dirty="0" err="1">
                <a:solidFill>
                  <a:schemeClr val="accent4">
                    <a:lumMod val="75000"/>
                  </a:schemeClr>
                </a:solidFill>
                <a:latin typeface="Segoe UI Semibold"/>
                <a:cs typeface="Segoe UI Semibold"/>
              </a:rPr>
              <a:t>Traducao</a:t>
            </a:r>
            <a:endParaRPr lang="pt-BR" sz="2000" dirty="0">
              <a:solidFill>
                <a:schemeClr val="accent4">
                  <a:lumMod val="75000"/>
                </a:schemeClr>
              </a:solidFill>
              <a:latin typeface="Segoe UI Semibold"/>
              <a:cs typeface="Segoe UI Semibold"/>
            </a:endParaRPr>
          </a:p>
        </p:txBody>
      </p:sp>
      <p:pic>
        <p:nvPicPr>
          <p:cNvPr id="11" name="Gráfico 10" descr="Fechar com preenchimento sólido">
            <a:extLst>
              <a:ext uri="{FF2B5EF4-FFF2-40B4-BE49-F238E27FC236}">
                <a16:creationId xmlns:a16="http://schemas.microsoft.com/office/drawing/2014/main" id="{3F182456-B2D3-63E4-8890-543C9A5A1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0" y="1053903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952525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311A4-C99E-BE79-754A-9C09D0E6F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25A0670F-CF0F-D71B-A7CA-81DB36E9DD37}"/>
              </a:ext>
            </a:extLst>
          </p:cNvPr>
          <p:cNvSpPr/>
          <p:nvPr/>
        </p:nvSpPr>
        <p:spPr>
          <a:xfrm>
            <a:off x="397163" y="203200"/>
            <a:ext cx="55419" cy="1050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7DDBD8-3181-BAC1-6E50-A2B42AFA925D}"/>
              </a:ext>
            </a:extLst>
          </p:cNvPr>
          <p:cNvSpPr txBox="1"/>
          <p:nvPr/>
        </p:nvSpPr>
        <p:spPr>
          <a:xfrm>
            <a:off x="450848" y="835794"/>
            <a:ext cx="117698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chemeClr val="accent3">
                    <a:lumMod val="49000"/>
                  </a:schemeClr>
                </a:solidFill>
                <a:cs typeface="Segoe UI"/>
              </a:rPr>
              <a:t>tabela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FA22E53-CF79-54B6-CAB7-373E286DC3AF}"/>
              </a:ext>
            </a:extLst>
          </p:cNvPr>
          <p:cNvSpPr txBox="1"/>
          <p:nvPr/>
        </p:nvSpPr>
        <p:spPr>
          <a:xfrm>
            <a:off x="450848" y="269680"/>
            <a:ext cx="117698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b="1" dirty="0">
                <a:solidFill>
                  <a:schemeClr val="accent5"/>
                </a:solidFill>
              </a:rPr>
              <a:t>Erros comuns</a:t>
            </a:r>
            <a:endParaRPr lang="pt-BR" sz="3200" dirty="0">
              <a:solidFill>
                <a:schemeClr val="accent5"/>
              </a:solidFill>
              <a:latin typeface="Segoe UI Semibold"/>
              <a:cs typeface="Segoe UI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DA3D5923-F6F3-2DE9-E6DF-74CACE46A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918251"/>
              </p:ext>
            </p:extLst>
          </p:nvPr>
        </p:nvGraphicFramePr>
        <p:xfrm>
          <a:off x="211051" y="1802018"/>
          <a:ext cx="11769898" cy="4594546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4315400">
                  <a:extLst>
                    <a:ext uri="{9D8B030D-6E8A-4147-A177-3AD203B41FA5}">
                      <a16:colId xmlns:a16="http://schemas.microsoft.com/office/drawing/2014/main" val="3082798849"/>
                    </a:ext>
                  </a:extLst>
                </a:gridCol>
                <a:gridCol w="7454498">
                  <a:extLst>
                    <a:ext uri="{9D8B030D-6E8A-4147-A177-3AD203B41FA5}">
                      <a16:colId xmlns:a16="http://schemas.microsoft.com/office/drawing/2014/main" val="3290592082"/>
                    </a:ext>
                  </a:extLst>
                </a:gridCol>
              </a:tblGrid>
              <a:tr h="244755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pt-BR" sz="1600" b="1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Erro</a:t>
                      </a:r>
                      <a:endParaRPr lang="pt-BR" sz="1600" b="1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pt-BR" sz="1600" b="1">
                          <a:solidFill>
                            <a:srgbClr val="FFFFFF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Como evitar</a:t>
                      </a:r>
                      <a:endParaRPr lang="pt-BR" sz="1600" b="1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3868508300"/>
                  </a:ext>
                </a:extLst>
              </a:tr>
              <a:tr h="232715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pt-BR" sz="1600" b="1">
                          <a:solidFill>
                            <a:schemeClr val="accent2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Commitar o node_modules no repositório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pt-BR" sz="16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Configure o .gitignore antes do primeiro commit. Adicione node_modules/ nele.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764340635"/>
                  </a:ext>
                </a:extLst>
              </a:tr>
              <a:tr h="417271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pt-BR" sz="1600" b="1">
                          <a:solidFill>
                            <a:schemeClr val="accent2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Subir arquivos .env com senhas no GitHub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pt-BR" sz="16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Sempre adicione .</a:t>
                      </a:r>
                      <a:r>
                        <a:rPr lang="pt-BR" sz="1600" b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env</a:t>
                      </a:r>
                      <a:r>
                        <a:rPr lang="pt-BR" sz="16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 no .</a:t>
                      </a:r>
                      <a:r>
                        <a:rPr lang="pt-BR" sz="1600" b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gitignore</a:t>
                      </a:r>
                      <a:r>
                        <a:rPr lang="pt-BR" sz="16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. Use variáveis de ambiente no servidor.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32345946"/>
                  </a:ext>
                </a:extLst>
              </a:tr>
              <a:tr h="232715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pt-BR" sz="1600" b="1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Fazer </a:t>
                      </a:r>
                      <a:r>
                        <a:rPr lang="pt-BR" sz="1600" b="1" dirty="0" err="1">
                          <a:solidFill>
                            <a:schemeClr val="accent2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commits</a:t>
                      </a:r>
                      <a:r>
                        <a:rPr lang="pt-BR" sz="1600" b="1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 diretamente na </a:t>
                      </a:r>
                      <a:r>
                        <a:rPr lang="pt-BR" sz="1600" b="1" dirty="0" err="1">
                          <a:solidFill>
                            <a:schemeClr val="accent2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main</a:t>
                      </a:r>
                      <a:r>
                        <a:rPr lang="pt-BR" sz="1600" b="1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 em projetos grandes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pt-BR" sz="16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Crie uma branch para cada tarefa. A main deve ser protegida.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3844230"/>
                  </a:ext>
                </a:extLst>
              </a:tr>
              <a:tr h="232715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pt-BR" sz="1600" b="1">
                          <a:solidFill>
                            <a:schemeClr val="accent2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Mensagens de commit vazias ou genéricas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pt-BR" sz="16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Escreva mensagens descritivas. "</a:t>
                      </a:r>
                      <a:r>
                        <a:rPr lang="pt-BR" sz="1600" b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fix</a:t>
                      </a:r>
                      <a:r>
                        <a:rPr lang="pt-BR" sz="16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" não diz nada. “</a:t>
                      </a:r>
                      <a:r>
                        <a:rPr lang="pt-BR" sz="1600" b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fix</a:t>
                      </a:r>
                      <a:r>
                        <a:rPr lang="pt-BR" sz="16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: Corrige bug de login" diz tudo.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513847676"/>
                  </a:ext>
                </a:extLst>
              </a:tr>
              <a:tr h="417271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pt-BR" sz="1600" b="1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Não fazer </a:t>
                      </a:r>
                      <a:r>
                        <a:rPr lang="pt-BR" sz="1600" b="1" dirty="0" err="1">
                          <a:solidFill>
                            <a:schemeClr val="accent2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git</a:t>
                      </a:r>
                      <a:r>
                        <a:rPr lang="pt-BR" sz="1600" b="1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 </a:t>
                      </a:r>
                      <a:r>
                        <a:rPr lang="pt-BR" sz="1600" b="1" dirty="0" err="1">
                          <a:solidFill>
                            <a:schemeClr val="accent2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pull</a:t>
                      </a:r>
                      <a:r>
                        <a:rPr lang="pt-BR" sz="1600" b="1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 antes de trabalhar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pt-BR" sz="16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Sempre atualize sua branch antes de começar. Evita conflitos desnecessários.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623572962"/>
                  </a:ext>
                </a:extLst>
              </a:tr>
              <a:tr h="2117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pt-BR" sz="1600" b="1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Usar </a:t>
                      </a:r>
                      <a:r>
                        <a:rPr lang="pt-BR" sz="1600" b="1" dirty="0" err="1">
                          <a:solidFill>
                            <a:schemeClr val="accent2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git</a:t>
                      </a:r>
                      <a:r>
                        <a:rPr lang="pt-BR" sz="1600" b="1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 </a:t>
                      </a:r>
                      <a:r>
                        <a:rPr lang="pt-BR" sz="1600" b="1" dirty="0" err="1">
                          <a:solidFill>
                            <a:schemeClr val="accent2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add</a:t>
                      </a:r>
                      <a:r>
                        <a:rPr lang="pt-BR" sz="1600" b="1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 . sem revisar os arquivos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pt-BR" sz="16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Use </a:t>
                      </a:r>
                      <a:r>
                        <a:rPr lang="pt-BR" sz="1600" b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git</a:t>
                      </a:r>
                      <a:r>
                        <a:rPr lang="pt-BR" sz="16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 status e </a:t>
                      </a:r>
                      <a:r>
                        <a:rPr lang="pt-BR" sz="1600" b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git</a:t>
                      </a:r>
                      <a:r>
                        <a:rPr lang="pt-BR" sz="16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 </a:t>
                      </a:r>
                      <a:r>
                        <a:rPr lang="pt-BR" sz="1600" b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diff</a:t>
                      </a:r>
                      <a:r>
                        <a:rPr lang="pt-BR" sz="16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 antes de adicionar. Evita </a:t>
                      </a:r>
                      <a:r>
                        <a:rPr lang="pt-BR" sz="1600" b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commitar</a:t>
                      </a:r>
                      <a:r>
                        <a:rPr lang="pt-BR" sz="16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 arquivos indesejados.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4246389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132557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EBCEBD-55E2-C6EB-7188-38DF0DD44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A6B2E24-82C3-E5AE-B0B3-BEE02AD51CA8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 rtlCol="0"/>
          <a:lstStyle/>
          <a:p>
            <a:pPr rtl="0"/>
            <a:r>
              <a:rPr lang="pt-BR"/>
              <a:t>Finalizando slide</a:t>
            </a:r>
          </a:p>
        </p:txBody>
      </p:sp>
      <p:sp>
        <p:nvSpPr>
          <p:cNvPr id="2" name="Caixa de texto 1">
            <a:extLst>
              <a:ext uri="{FF2B5EF4-FFF2-40B4-BE49-F238E27FC236}">
                <a16:creationId xmlns:a16="http://schemas.microsoft.com/office/drawing/2014/main" id="{D0C37DCD-1484-89FB-6F2E-203C3F5C4945}"/>
              </a:ext>
            </a:extLst>
          </p:cNvPr>
          <p:cNvSpPr txBox="1"/>
          <p:nvPr/>
        </p:nvSpPr>
        <p:spPr>
          <a:xfrm>
            <a:off x="1523280" y="1789004"/>
            <a:ext cx="5198276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4800" b="1" i="0" u="none" strike="noStrike" kern="1200" cap="none" spc="-20" normalizeH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Muito obrigado!</a:t>
            </a:r>
          </a:p>
        </p:txBody>
      </p:sp>
      <p:sp>
        <p:nvSpPr>
          <p:cNvPr id="32" name="Caixa de texto 31">
            <a:hlinkClick r:id="rId3"/>
            <a:extLst>
              <a:ext uri="{FF2B5EF4-FFF2-40B4-BE49-F238E27FC236}">
                <a16:creationId xmlns:a16="http://schemas.microsoft.com/office/drawing/2014/main" id="{AEB4A27B-2382-5A56-A908-A9FD8DDCAF6A}"/>
              </a:ext>
            </a:extLst>
          </p:cNvPr>
          <p:cNvSpPr txBox="1"/>
          <p:nvPr/>
        </p:nvSpPr>
        <p:spPr>
          <a:xfrm>
            <a:off x="5343526" y="4176650"/>
            <a:ext cx="5924550" cy="223367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9050">
            <a:solidFill>
              <a:schemeClr val="tx1"/>
            </a:solidFill>
          </a:ln>
        </p:spPr>
        <p:txBody>
          <a:bodyPr wrap="square" lIns="0" r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b="1" i="0" u="none" strike="noStrike" kern="0" cap="none" spc="0" normalizeH="0">
                <a:ln>
                  <a:noFill/>
                </a:ln>
                <a:effectLst/>
                <a:uLnTx/>
                <a:uFillTx/>
              </a:rPr>
              <a:t>Prof. M. Sc. Felipe Ivo da Silva</a:t>
            </a:r>
            <a:br>
              <a:rPr lang="pt-BR" sz="2800" b="1" i="0" u="none" strike="noStrike" kern="0" cap="none" spc="0" normalizeH="0">
                <a:ln>
                  <a:noFill/>
                </a:ln>
                <a:effectLst/>
                <a:uLnTx/>
                <a:uFillTx/>
              </a:rPr>
            </a:br>
            <a:r>
              <a:rPr lang="pt-BR" sz="2800" b="1" i="0" u="none" strike="noStrike" kern="0" cap="none" spc="0" normalizeH="0">
                <a:ln>
                  <a:noFill/>
                </a:ln>
                <a:effectLst/>
                <a:uLnTx/>
                <a:uFillTx/>
                <a:hlinkClick r:id="rId4"/>
              </a:rPr>
              <a:t>felipe_ivodasilva@hotmail.com</a:t>
            </a:r>
            <a:endParaRPr lang="pt-BR" sz="2800" b="1" i="0" u="none" strike="noStrike" kern="0" cap="none" spc="0" normalizeH="0">
              <a:ln>
                <a:noFill/>
              </a:ln>
              <a:effectLst/>
              <a:uLnTx/>
              <a:uFillTx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b="1" i="0" u="none" strike="noStrike" kern="0" cap="none" spc="0" normalizeH="0">
                <a:ln>
                  <a:noFill/>
                </a:ln>
                <a:effectLst/>
                <a:uLnTx/>
                <a:uFillTx/>
              </a:rPr>
              <a:t>(16</a:t>
            </a:r>
            <a:r>
              <a:rPr lang="pt-BR" sz="2800" b="1" kern="0"/>
              <a:t>) 98805-0832</a:t>
            </a:r>
            <a:endParaRPr lang="pt-BR" sz="2800" b="1" i="0" u="none" strike="noStrike" kern="0" cap="none" spc="0" normalizeH="0">
              <a:ln>
                <a:noFill/>
              </a:ln>
              <a:effectLst/>
              <a:uLnTx/>
              <a:uFillTx/>
            </a:endParaRPr>
          </a:p>
        </p:txBody>
      </p:sp>
      <p:grpSp>
        <p:nvGrpSpPr>
          <p:cNvPr id="24" name="Gráfico de Porcentagem" descr="Gráfico de pizza">
            <a:extLst>
              <a:ext uri="{FF2B5EF4-FFF2-40B4-BE49-F238E27FC236}">
                <a16:creationId xmlns:a16="http://schemas.microsoft.com/office/drawing/2014/main" id="{FAB6705B-4FB4-A52D-B18E-B7961FDA928C}"/>
              </a:ext>
            </a:extLst>
          </p:cNvPr>
          <p:cNvGrpSpPr/>
          <p:nvPr/>
        </p:nvGrpSpPr>
        <p:grpSpPr>
          <a:xfrm>
            <a:off x="2623644" y="5790410"/>
            <a:ext cx="1138132" cy="1138169"/>
            <a:chOff x="4547093" y="1223945"/>
            <a:chExt cx="1645920" cy="1645973"/>
          </a:xfrm>
        </p:grpSpPr>
        <p:sp>
          <p:nvSpPr>
            <p:cNvPr id="25" name="Oval Externa">
              <a:extLst>
                <a:ext uri="{FF2B5EF4-FFF2-40B4-BE49-F238E27FC236}">
                  <a16:creationId xmlns:a16="http://schemas.microsoft.com/office/drawing/2014/main" id="{8014DBCD-C9DC-9EE5-BA14-348F7DAC1C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46290" y="1323168"/>
              <a:ext cx="1447527" cy="1447527"/>
            </a:xfrm>
            <a:prstGeom prst="ellipse">
              <a:avLst/>
            </a:prstGeom>
            <a:solidFill>
              <a:schemeClr val="accent5"/>
            </a:solidFill>
            <a:ln w="9525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600" b="1" i="0" u="none" strike="noStrike" kern="0" cap="none" spc="0" normalizeH="0" baseline="0">
                <a:ln>
                  <a:noFill/>
                </a:ln>
                <a:solidFill>
                  <a:srgbClr val="76B14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aphicFrame>
          <p:nvGraphicFramePr>
            <p:cNvPr id="26" name="Gráfico do Excel">
              <a:extLst>
                <a:ext uri="{FF2B5EF4-FFF2-40B4-BE49-F238E27FC236}">
                  <a16:creationId xmlns:a16="http://schemas.microsoft.com/office/drawing/2014/main" id="{1D7477D8-F15A-5C16-85FE-EC48B2D174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47093" y="1223945"/>
            <a:ext cx="1645920" cy="164597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27" name="pontos">
              <a:extLst>
                <a:ext uri="{FF2B5EF4-FFF2-40B4-BE49-F238E27FC236}">
                  <a16:creationId xmlns:a16="http://schemas.microsoft.com/office/drawing/2014/main" id="{EFBB7A44-C245-7567-B5DF-FF646672DF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3558" y="1460436"/>
              <a:ext cx="1172990" cy="1172990"/>
            </a:xfrm>
            <a:prstGeom prst="ellipse">
              <a:avLst/>
            </a:prstGeom>
            <a:noFill/>
            <a:ln w="28575" cap="rnd" cmpd="sng" algn="ctr">
              <a:solidFill>
                <a:schemeClr val="tx1">
                  <a:alpha val="68000"/>
                </a:schemeClr>
              </a:solidFill>
              <a:prstDash val="sysDot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aphicFrame>
        <p:nvGraphicFramePr>
          <p:cNvPr id="29" name="Gráfico 28" descr="Gráfico de linhas">
            <a:extLst>
              <a:ext uri="{FF2B5EF4-FFF2-40B4-BE49-F238E27FC236}">
                <a16:creationId xmlns:a16="http://schemas.microsoft.com/office/drawing/2014/main" id="{0A587371-15D4-6785-B3C9-FC3FA63ED3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669409"/>
              </p:ext>
            </p:extLst>
          </p:nvPr>
        </p:nvGraphicFramePr>
        <p:xfrm>
          <a:off x="360144" y="3293646"/>
          <a:ext cx="3338859" cy="3289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8" name="Forma Livre 127" descr="Estrutura de tópicos do monitor do computador">
            <a:extLst>
              <a:ext uri="{FF2B5EF4-FFF2-40B4-BE49-F238E27FC236}">
                <a16:creationId xmlns:a16="http://schemas.microsoft.com/office/drawing/2014/main" id="{DF6934F7-AF6C-FACF-8C6E-979151BE0E47}"/>
              </a:ext>
            </a:extLst>
          </p:cNvPr>
          <p:cNvSpPr>
            <a:spLocks noChangeAspect="1"/>
          </p:cNvSpPr>
          <p:nvPr/>
        </p:nvSpPr>
        <p:spPr bwMode="black">
          <a:xfrm>
            <a:off x="360144" y="4752089"/>
            <a:ext cx="2326273" cy="1830769"/>
          </a:xfrm>
          <a:custGeom>
            <a:avLst/>
            <a:gdLst>
              <a:gd name="connsiteX0" fmla="*/ 427036 w 1971675"/>
              <a:gd name="connsiteY0" fmla="*/ 1374775 h 1409700"/>
              <a:gd name="connsiteX1" fmla="*/ 1544636 w 1971675"/>
              <a:gd name="connsiteY1" fmla="*/ 1374775 h 1409700"/>
              <a:gd name="connsiteX2" fmla="*/ 1544636 w 1971675"/>
              <a:gd name="connsiteY2" fmla="*/ 1409700 h 1409700"/>
              <a:gd name="connsiteX3" fmla="*/ 427036 w 1971675"/>
              <a:gd name="connsiteY3" fmla="*/ 1409700 h 1409700"/>
              <a:gd name="connsiteX4" fmla="*/ 104775 w 1971675"/>
              <a:gd name="connsiteY4" fmla="*/ 104775 h 1409700"/>
              <a:gd name="connsiteX5" fmla="*/ 104775 w 1971675"/>
              <a:gd name="connsiteY5" fmla="*/ 1028700 h 1409700"/>
              <a:gd name="connsiteX6" fmla="*/ 761999 w 1971675"/>
              <a:gd name="connsiteY6" fmla="*/ 1028700 h 1409700"/>
              <a:gd name="connsiteX7" fmla="*/ 1198562 w 1971675"/>
              <a:gd name="connsiteY7" fmla="*/ 1028700 h 1409700"/>
              <a:gd name="connsiteX8" fmla="*/ 1879600 w 1971675"/>
              <a:gd name="connsiteY8" fmla="*/ 1028700 h 1409700"/>
              <a:gd name="connsiteX9" fmla="*/ 1879600 w 1971675"/>
              <a:gd name="connsiteY9" fmla="*/ 104775 h 1409700"/>
              <a:gd name="connsiteX10" fmla="*/ 985837 w 1971675"/>
              <a:gd name="connsiteY10" fmla="*/ 23812 h 1409700"/>
              <a:gd name="connsiteX11" fmla="*/ 957262 w 1971675"/>
              <a:gd name="connsiteY11" fmla="*/ 46831 h 1409700"/>
              <a:gd name="connsiteX12" fmla="*/ 985837 w 1971675"/>
              <a:gd name="connsiteY12" fmla="*/ 69850 h 1409700"/>
              <a:gd name="connsiteX13" fmla="*/ 1014412 w 1971675"/>
              <a:gd name="connsiteY13" fmla="*/ 46831 h 1409700"/>
              <a:gd name="connsiteX14" fmla="*/ 985837 w 1971675"/>
              <a:gd name="connsiteY14" fmla="*/ 23812 h 1409700"/>
              <a:gd name="connsiteX15" fmla="*/ 103772 w 1971675"/>
              <a:gd name="connsiteY15" fmla="*/ 0 h 1409700"/>
              <a:gd name="connsiteX16" fmla="*/ 1856372 w 1971675"/>
              <a:gd name="connsiteY16" fmla="*/ 0 h 1409700"/>
              <a:gd name="connsiteX17" fmla="*/ 1971675 w 1971675"/>
              <a:gd name="connsiteY17" fmla="*/ 103909 h 1409700"/>
              <a:gd name="connsiteX18" fmla="*/ 1971675 w 1971675"/>
              <a:gd name="connsiteY18" fmla="*/ 1027546 h 1409700"/>
              <a:gd name="connsiteX19" fmla="*/ 1856372 w 1971675"/>
              <a:gd name="connsiteY19" fmla="*/ 1143000 h 1409700"/>
              <a:gd name="connsiteX20" fmla="*/ 1277877 w 1971675"/>
              <a:gd name="connsiteY20" fmla="*/ 1143000 h 1409700"/>
              <a:gd name="connsiteX21" fmla="*/ 1198562 w 1971675"/>
              <a:gd name="connsiteY21" fmla="*/ 1143000 h 1409700"/>
              <a:gd name="connsiteX22" fmla="*/ 1198562 w 1971675"/>
              <a:gd name="connsiteY22" fmla="*/ 1212850 h 1409700"/>
              <a:gd name="connsiteX23" fmla="*/ 1198562 w 1971675"/>
              <a:gd name="connsiteY23" fmla="*/ 1258887 h 1409700"/>
              <a:gd name="connsiteX24" fmla="*/ 1452561 w 1971675"/>
              <a:gd name="connsiteY24" fmla="*/ 1258887 h 1409700"/>
              <a:gd name="connsiteX25" fmla="*/ 1544636 w 1971675"/>
              <a:gd name="connsiteY25" fmla="*/ 1374774 h 1409700"/>
              <a:gd name="connsiteX26" fmla="*/ 427036 w 1971675"/>
              <a:gd name="connsiteY26" fmla="*/ 1374774 h 1409700"/>
              <a:gd name="connsiteX27" fmla="*/ 519111 w 1971675"/>
              <a:gd name="connsiteY27" fmla="*/ 1258887 h 1409700"/>
              <a:gd name="connsiteX28" fmla="*/ 761999 w 1971675"/>
              <a:gd name="connsiteY28" fmla="*/ 1258887 h 1409700"/>
              <a:gd name="connsiteX29" fmla="*/ 761999 w 1971675"/>
              <a:gd name="connsiteY29" fmla="*/ 1212850 h 1409700"/>
              <a:gd name="connsiteX30" fmla="*/ 761999 w 1971675"/>
              <a:gd name="connsiteY30" fmla="*/ 1143000 h 1409700"/>
              <a:gd name="connsiteX31" fmla="*/ 673281 w 1971675"/>
              <a:gd name="connsiteY31" fmla="*/ 1143000 h 1409700"/>
              <a:gd name="connsiteX32" fmla="*/ 103772 w 1971675"/>
              <a:gd name="connsiteY32" fmla="*/ 1143000 h 1409700"/>
              <a:gd name="connsiteX33" fmla="*/ 0 w 1971675"/>
              <a:gd name="connsiteY33" fmla="*/ 1027546 h 1409700"/>
              <a:gd name="connsiteX34" fmla="*/ 0 w 1971675"/>
              <a:gd name="connsiteY34" fmla="*/ 103909 h 1409700"/>
              <a:gd name="connsiteX35" fmla="*/ 103772 w 1971675"/>
              <a:gd name="connsiteY35" fmla="*/ 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971675" h="1409700">
                <a:moveTo>
                  <a:pt x="427036" y="1374775"/>
                </a:moveTo>
                <a:lnTo>
                  <a:pt x="1544636" y="1374775"/>
                </a:lnTo>
                <a:lnTo>
                  <a:pt x="1544636" y="1409700"/>
                </a:lnTo>
                <a:lnTo>
                  <a:pt x="427036" y="1409700"/>
                </a:lnTo>
                <a:close/>
                <a:moveTo>
                  <a:pt x="104775" y="104775"/>
                </a:moveTo>
                <a:lnTo>
                  <a:pt x="104775" y="1028700"/>
                </a:lnTo>
                <a:lnTo>
                  <a:pt x="761999" y="1028700"/>
                </a:lnTo>
                <a:lnTo>
                  <a:pt x="1198562" y="1028700"/>
                </a:lnTo>
                <a:lnTo>
                  <a:pt x="1879600" y="1028700"/>
                </a:lnTo>
                <a:lnTo>
                  <a:pt x="1879600" y="104775"/>
                </a:lnTo>
                <a:close/>
                <a:moveTo>
                  <a:pt x="985837" y="23812"/>
                </a:moveTo>
                <a:cubicBezTo>
                  <a:pt x="970055" y="23812"/>
                  <a:pt x="957262" y="34118"/>
                  <a:pt x="957262" y="46831"/>
                </a:cubicBezTo>
                <a:cubicBezTo>
                  <a:pt x="957262" y="59544"/>
                  <a:pt x="970055" y="69850"/>
                  <a:pt x="985837" y="69850"/>
                </a:cubicBezTo>
                <a:cubicBezTo>
                  <a:pt x="1001619" y="69850"/>
                  <a:pt x="1014412" y="59544"/>
                  <a:pt x="1014412" y="46831"/>
                </a:cubicBezTo>
                <a:cubicBezTo>
                  <a:pt x="1014412" y="34118"/>
                  <a:pt x="1001619" y="23812"/>
                  <a:pt x="985837" y="23812"/>
                </a:cubicBezTo>
                <a:close/>
                <a:moveTo>
                  <a:pt x="103772" y="0"/>
                </a:moveTo>
                <a:cubicBezTo>
                  <a:pt x="1856372" y="0"/>
                  <a:pt x="1856372" y="0"/>
                  <a:pt x="1856372" y="0"/>
                </a:cubicBezTo>
                <a:cubicBezTo>
                  <a:pt x="1925554" y="0"/>
                  <a:pt x="1971675" y="46182"/>
                  <a:pt x="1971675" y="103909"/>
                </a:cubicBezTo>
                <a:lnTo>
                  <a:pt x="1971675" y="1027546"/>
                </a:lnTo>
                <a:cubicBezTo>
                  <a:pt x="1971675" y="1085273"/>
                  <a:pt x="1925554" y="1143000"/>
                  <a:pt x="1856372" y="1143000"/>
                </a:cubicBezTo>
                <a:cubicBezTo>
                  <a:pt x="1637297" y="1143000"/>
                  <a:pt x="1445606" y="1143000"/>
                  <a:pt x="1277877" y="1143000"/>
                </a:cubicBezTo>
                <a:lnTo>
                  <a:pt x="1198562" y="1143000"/>
                </a:lnTo>
                <a:lnTo>
                  <a:pt x="1198562" y="1212850"/>
                </a:lnTo>
                <a:lnTo>
                  <a:pt x="1198562" y="1258887"/>
                </a:lnTo>
                <a:lnTo>
                  <a:pt x="1452561" y="1258887"/>
                </a:lnTo>
                <a:lnTo>
                  <a:pt x="1544636" y="1374774"/>
                </a:lnTo>
                <a:lnTo>
                  <a:pt x="427036" y="1374774"/>
                </a:lnTo>
                <a:lnTo>
                  <a:pt x="519111" y="1258887"/>
                </a:lnTo>
                <a:lnTo>
                  <a:pt x="761999" y="1258887"/>
                </a:lnTo>
                <a:lnTo>
                  <a:pt x="761999" y="1212850"/>
                </a:lnTo>
                <a:lnTo>
                  <a:pt x="761999" y="1143000"/>
                </a:lnTo>
                <a:lnTo>
                  <a:pt x="673281" y="1143000"/>
                </a:lnTo>
                <a:cubicBezTo>
                  <a:pt x="103772" y="1143000"/>
                  <a:pt x="103772" y="1143000"/>
                  <a:pt x="103772" y="1143000"/>
                </a:cubicBezTo>
                <a:cubicBezTo>
                  <a:pt x="46121" y="1143000"/>
                  <a:pt x="0" y="1085273"/>
                  <a:pt x="0" y="1027546"/>
                </a:cubicBezTo>
                <a:cubicBezTo>
                  <a:pt x="0" y="103909"/>
                  <a:pt x="0" y="103909"/>
                  <a:pt x="0" y="103909"/>
                </a:cubicBezTo>
                <a:cubicBezTo>
                  <a:pt x="0" y="46182"/>
                  <a:pt x="46121" y="0"/>
                  <a:pt x="103772" y="0"/>
                </a:cubicBezTo>
                <a:close/>
              </a:path>
            </a:pathLst>
          </a:custGeom>
          <a:solidFill>
            <a:srgbClr val="D9D9D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pt-BR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A86F118-E2C5-454B-B691-917D8AFB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240325"/>
          </a:xfrm>
          <a:prstGeom prst="rect">
            <a:avLst/>
          </a:prstGeom>
          <a:solidFill>
            <a:srgbClr val="0045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907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Amostra de Gráficos Inteligentes Neal Creative">
  <a:themeElements>
    <a:clrScheme name="Neal Analytics 2">
      <a:dk1>
        <a:srgbClr val="000000"/>
      </a:dk1>
      <a:lt1>
        <a:srgbClr val="FFFFFF"/>
      </a:lt1>
      <a:dk2>
        <a:srgbClr val="0074AF"/>
      </a:dk2>
      <a:lt2>
        <a:srgbClr val="00B0F0"/>
      </a:lt2>
      <a:accent1>
        <a:srgbClr val="75D1FF"/>
      </a:accent1>
      <a:accent2>
        <a:srgbClr val="004568"/>
      </a:accent2>
      <a:accent3>
        <a:srgbClr val="92D050"/>
      </a:accent3>
      <a:accent4>
        <a:srgbClr val="FFC000"/>
      </a:accent4>
      <a:accent5>
        <a:srgbClr val="004568"/>
      </a:accent5>
      <a:accent6>
        <a:srgbClr val="0074AF"/>
      </a:accent6>
      <a:hlink>
        <a:srgbClr val="43C0FF"/>
      </a:hlink>
      <a:folHlink>
        <a:srgbClr val="75D1FF"/>
      </a:folHlink>
    </a:clrScheme>
    <a:fontScheme name="MICROSOFT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9255_TF55917490_Win32" id="{FB9B4478-1D94-42BA-AF59-F9EFE88327DB}" vid="{5884DA3C-F5B7-4E0C-8A15-EAB0B603618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629</TotalTime>
  <Words>4198</Words>
  <Application>Microsoft Office PowerPoint</Application>
  <PresentationFormat>Widescreen</PresentationFormat>
  <Paragraphs>728</Paragraphs>
  <Slides>46</Slides>
  <Notes>13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47" baseType="lpstr">
      <vt:lpstr>1_Amostra de Gráficos Inteligentes Neal Creative</vt:lpstr>
      <vt:lpstr>Finalizando slide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Finalizando slide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Finalizando slide</dc:title>
  <dc:subject/>
  <dc:creator>Felipe Ivo da Silva</dc:creator>
  <cp:keywords/>
  <dc:description/>
  <cp:lastModifiedBy>Breno Lopes</cp:lastModifiedBy>
  <cp:revision>58</cp:revision>
  <dcterms:created xsi:type="dcterms:W3CDTF">2025-08-13T01:31:07Z</dcterms:created>
  <dcterms:modified xsi:type="dcterms:W3CDTF">2026-03-03T16:58:42Z</dcterms:modified>
  <cp:category/>
</cp:coreProperties>
</file>